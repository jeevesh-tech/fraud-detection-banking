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Calibri (MS)" charset="1" panose="020F0502020204030204"/>
      <p:regular r:id="rId18"/>
    </p:embeddedFont>
    <p:embeddedFont>
      <p:font typeface="Calibri (MS) Bold" charset="1" panose="020F0702030404030204"/>
      <p:regular r:id="rId19"/>
    </p:embeddedFont>
    <p:embeddedFont>
      <p:font typeface="Aptos Bold" charset="1" panose="020B0004020202020204"/>
      <p:regular r:id="rId20"/>
    </p:embeddedFont>
    <p:embeddedFont>
      <p:font typeface="Times New Roman Bold" charset="1" panose="02020803070505020304"/>
      <p:regular r:id="rId21"/>
    </p:embeddedFont>
    <p:embeddedFont>
      <p:font typeface="Times New Roman" charset="1" panose="02020603050405020304"/>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 Id="rId4" Target="../media/image3.jpe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jpeg" Type="http://schemas.openxmlformats.org/officeDocument/2006/relationships/image"/><Relationship Id="rId4" Target="../media/image9.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 Id="rId4" Target="../media/image3.jpeg" Type="http://schemas.openxmlformats.org/officeDocument/2006/relationships/image"/><Relationship Id="rId5"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 Id="rId4" Target="../media/image3.jpeg" Type="http://schemas.openxmlformats.org/officeDocument/2006/relationships/image"/><Relationship Id="rId5"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 Id="rId4" Target="../media/image3.jpeg" Type="http://schemas.openxmlformats.org/officeDocument/2006/relationships/image"/><Relationship Id="rId5" Target="../media/image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 Id="rId4" Target="../media/image3.jpeg" Type="http://schemas.openxmlformats.org/officeDocument/2006/relationships/image"/><Relationship Id="rId5" Target="../media/image4.png" Type="http://schemas.openxmlformats.org/officeDocument/2006/relationships/image"/><Relationship Id="rId6" Target="../media/image1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 Id="rId4" Target="../media/image3.jpeg" Type="http://schemas.openxmlformats.org/officeDocument/2006/relationships/image"/><Relationship Id="rId5" Target="../media/image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 Id="rId4" Target="../media/image3.jpeg" Type="http://schemas.openxmlformats.org/officeDocument/2006/relationships/image"/><Relationship Id="rId5" Target="../media/image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 Id="rId4" Target="../media/image3.jpeg" Type="http://schemas.openxmlformats.org/officeDocument/2006/relationships/image"/><Relationship Id="rId5" Target="../media/image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 Id="rId4" Target="../media/image3.jpeg" Type="http://schemas.openxmlformats.org/officeDocument/2006/relationships/image"/><Relationship Id="rId5" Target="../media/image4.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 Id="rId4" Target="../media/image3.jpeg" Type="http://schemas.openxmlformats.org/officeDocument/2006/relationships/image"/><Relationship Id="rId5" Target="../media/image4.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 Id="rId4" Target="../media/image3.jpeg" Type="http://schemas.openxmlformats.org/officeDocument/2006/relationships/image"/><Relationship Id="rId5" Target="../media/image4.png" Type="http://schemas.openxmlformats.org/officeDocument/2006/relationships/image"/><Relationship Id="rId6" Target="../media/image11.jpeg" Type="http://schemas.openxmlformats.org/officeDocument/2006/relationships/image"/><Relationship Id="rId7" Target="../media/image1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322803" y="9714938"/>
            <a:ext cx="672560" cy="551593"/>
            <a:chOff x="0" y="0"/>
            <a:chExt cx="896747" cy="735457"/>
          </a:xfrm>
        </p:grpSpPr>
        <p:sp>
          <p:nvSpPr>
            <p:cNvPr name="Freeform 3" id="3"/>
            <p:cNvSpPr/>
            <p:nvPr/>
          </p:nvSpPr>
          <p:spPr>
            <a:xfrm flipH="false" flipV="false" rot="0">
              <a:off x="0" y="0"/>
              <a:ext cx="896747" cy="735457"/>
            </a:xfrm>
            <a:custGeom>
              <a:avLst/>
              <a:gdLst/>
              <a:ahLst/>
              <a:cxnLst/>
              <a:rect r="r" b="b" t="t" l="l"/>
              <a:pathLst>
                <a:path h="735457" w="896747">
                  <a:moveTo>
                    <a:pt x="0" y="0"/>
                  </a:moveTo>
                  <a:lnTo>
                    <a:pt x="896747" y="0"/>
                  </a:lnTo>
                  <a:lnTo>
                    <a:pt x="896747" y="735457"/>
                  </a:lnTo>
                  <a:lnTo>
                    <a:pt x="0" y="735457"/>
                  </a:lnTo>
                  <a:lnTo>
                    <a:pt x="0" y="0"/>
                  </a:lnTo>
                  <a:close/>
                </a:path>
              </a:pathLst>
            </a:custGeom>
            <a:blipFill>
              <a:blip r:embed="rId2"/>
              <a:stretch>
                <a:fillRect l="0" t="-588" r="0" b="-587"/>
              </a:stretch>
            </a:blipFill>
          </p:spPr>
        </p:sp>
      </p:grpSp>
      <p:grpSp>
        <p:nvGrpSpPr>
          <p:cNvPr name="Group 4" id="4"/>
          <p:cNvGrpSpPr/>
          <p:nvPr/>
        </p:nvGrpSpPr>
        <p:grpSpPr>
          <a:xfrm rot="0">
            <a:off x="438912" y="9938776"/>
            <a:ext cx="4811963" cy="230829"/>
            <a:chOff x="0" y="0"/>
            <a:chExt cx="6415951" cy="307772"/>
          </a:xfrm>
        </p:grpSpPr>
        <p:sp>
          <p:nvSpPr>
            <p:cNvPr name="Freeform 5" id="5"/>
            <p:cNvSpPr/>
            <p:nvPr/>
          </p:nvSpPr>
          <p:spPr>
            <a:xfrm flipH="false" flipV="false" rot="0">
              <a:off x="0" y="0"/>
              <a:ext cx="6415913" cy="307721"/>
            </a:xfrm>
            <a:custGeom>
              <a:avLst/>
              <a:gdLst/>
              <a:ahLst/>
              <a:cxnLst/>
              <a:rect r="r" b="b" t="t" l="l"/>
              <a:pathLst>
                <a:path h="307721" w="6415913">
                  <a:moveTo>
                    <a:pt x="0" y="0"/>
                  </a:moveTo>
                  <a:lnTo>
                    <a:pt x="6415913" y="0"/>
                  </a:lnTo>
                  <a:lnTo>
                    <a:pt x="6415913" y="307721"/>
                  </a:lnTo>
                  <a:lnTo>
                    <a:pt x="0" y="307721"/>
                  </a:lnTo>
                  <a:close/>
                </a:path>
              </a:pathLst>
            </a:custGeom>
            <a:blipFill>
              <a:blip r:embed="rId3">
                <a:alphaModFix amt="0"/>
              </a:blip>
              <a:stretch>
                <a:fillRect l="0" t="-355967" r="0" b="-355988"/>
              </a:stretch>
            </a:blipFill>
          </p:spPr>
        </p:sp>
      </p:grpSp>
      <p:grpSp>
        <p:nvGrpSpPr>
          <p:cNvPr name="Group 6" id="6"/>
          <p:cNvGrpSpPr/>
          <p:nvPr/>
        </p:nvGrpSpPr>
        <p:grpSpPr>
          <a:xfrm rot="0">
            <a:off x="438912" y="9910201"/>
            <a:ext cx="4811963" cy="259404"/>
            <a:chOff x="0" y="0"/>
            <a:chExt cx="6415951" cy="345872"/>
          </a:xfrm>
        </p:grpSpPr>
        <p:sp>
          <p:nvSpPr>
            <p:cNvPr name="Freeform 7" id="7"/>
            <p:cNvSpPr/>
            <p:nvPr/>
          </p:nvSpPr>
          <p:spPr>
            <a:xfrm flipH="false" flipV="false" rot="0">
              <a:off x="0" y="0"/>
              <a:ext cx="6415951" cy="345872"/>
            </a:xfrm>
            <a:custGeom>
              <a:avLst/>
              <a:gdLst/>
              <a:ahLst/>
              <a:cxnLst/>
              <a:rect r="r" b="b" t="t" l="l"/>
              <a:pathLst>
                <a:path h="345872" w="6415951">
                  <a:moveTo>
                    <a:pt x="0" y="0"/>
                  </a:moveTo>
                  <a:lnTo>
                    <a:pt x="6415951" y="0"/>
                  </a:lnTo>
                  <a:lnTo>
                    <a:pt x="6415951" y="345872"/>
                  </a:lnTo>
                  <a:lnTo>
                    <a:pt x="0" y="345872"/>
                  </a:lnTo>
                  <a:close/>
                </a:path>
              </a:pathLst>
            </a:custGeom>
            <a:blipFill>
              <a:blip r:embed="rId4">
                <a:alphaModFix amt="0"/>
              </a:blip>
              <a:stretch>
                <a:fillRect l="0" t="-311448" r="0" b="-311448"/>
              </a:stretch>
            </a:blipFill>
          </p:spPr>
        </p:sp>
        <p:sp>
          <p:nvSpPr>
            <p:cNvPr name="TextBox 8" id="8"/>
            <p:cNvSpPr txBox="true"/>
            <p:nvPr/>
          </p:nvSpPr>
          <p:spPr>
            <a:xfrm>
              <a:off x="0" y="-38100"/>
              <a:ext cx="6415951" cy="383972"/>
            </a:xfrm>
            <a:prstGeom prst="rect">
              <a:avLst/>
            </a:prstGeom>
          </p:spPr>
          <p:txBody>
            <a:bodyPr anchor="ctr" rtlCol="false" tIns="0" lIns="0" bIns="0" rIns="0"/>
            <a:lstStyle/>
            <a:p>
              <a:pPr algn="l">
                <a:lnSpc>
                  <a:spcPts val="1800"/>
                </a:lnSpc>
              </a:pPr>
              <a:r>
                <a:rPr lang="en-US" sz="1500">
                  <a:solidFill>
                    <a:srgbClr val="000000"/>
                  </a:solidFill>
                  <a:latin typeface="Calibri (MS)"/>
                  <a:ea typeface="Calibri (MS)"/>
                  <a:cs typeface="Calibri (MS)"/>
                  <a:sym typeface="Calibri (MS)"/>
                </a:rPr>
                <a:t>© Mphasis 2025  Proprietary and confidential information</a:t>
              </a:r>
            </a:p>
          </p:txBody>
        </p:sp>
      </p:grpSp>
      <p:grpSp>
        <p:nvGrpSpPr>
          <p:cNvPr name="Group 9" id="9"/>
          <p:cNvGrpSpPr/>
          <p:nvPr/>
        </p:nvGrpSpPr>
        <p:grpSpPr>
          <a:xfrm rot="0">
            <a:off x="8390830" y="9938776"/>
            <a:ext cx="1506331" cy="230829"/>
            <a:chOff x="0" y="0"/>
            <a:chExt cx="2008442" cy="307772"/>
          </a:xfrm>
        </p:grpSpPr>
        <p:sp>
          <p:nvSpPr>
            <p:cNvPr name="Freeform 10" id="10"/>
            <p:cNvSpPr/>
            <p:nvPr/>
          </p:nvSpPr>
          <p:spPr>
            <a:xfrm flipH="false" flipV="false" rot="0">
              <a:off x="0" y="0"/>
              <a:ext cx="2008505" cy="307721"/>
            </a:xfrm>
            <a:custGeom>
              <a:avLst/>
              <a:gdLst/>
              <a:ahLst/>
              <a:cxnLst/>
              <a:rect r="r" b="b" t="t" l="l"/>
              <a:pathLst>
                <a:path h="307721" w="2008505">
                  <a:moveTo>
                    <a:pt x="0" y="0"/>
                  </a:moveTo>
                  <a:lnTo>
                    <a:pt x="2008505" y="0"/>
                  </a:lnTo>
                  <a:lnTo>
                    <a:pt x="2008505" y="307721"/>
                  </a:lnTo>
                  <a:lnTo>
                    <a:pt x="0" y="307721"/>
                  </a:lnTo>
                  <a:close/>
                </a:path>
              </a:pathLst>
            </a:custGeom>
            <a:blipFill>
              <a:blip r:embed="rId3">
                <a:alphaModFix amt="0"/>
              </a:blip>
              <a:stretch>
                <a:fillRect l="0" t="-77078" r="3" b="-77094"/>
              </a:stretch>
            </a:blipFill>
          </p:spPr>
        </p:sp>
      </p:grpSp>
      <p:grpSp>
        <p:nvGrpSpPr>
          <p:cNvPr name="Group 11" id="11"/>
          <p:cNvGrpSpPr/>
          <p:nvPr/>
        </p:nvGrpSpPr>
        <p:grpSpPr>
          <a:xfrm rot="0">
            <a:off x="8390830" y="9910201"/>
            <a:ext cx="1506331" cy="259404"/>
            <a:chOff x="0" y="0"/>
            <a:chExt cx="2008442" cy="345872"/>
          </a:xfrm>
        </p:grpSpPr>
        <p:sp>
          <p:nvSpPr>
            <p:cNvPr name="Freeform 12" id="12"/>
            <p:cNvSpPr/>
            <p:nvPr/>
          </p:nvSpPr>
          <p:spPr>
            <a:xfrm flipH="false" flipV="false" rot="0">
              <a:off x="0" y="0"/>
              <a:ext cx="2008441" cy="345872"/>
            </a:xfrm>
            <a:custGeom>
              <a:avLst/>
              <a:gdLst/>
              <a:ahLst/>
              <a:cxnLst/>
              <a:rect r="r" b="b" t="t" l="l"/>
              <a:pathLst>
                <a:path h="345872" w="2008441">
                  <a:moveTo>
                    <a:pt x="0" y="0"/>
                  </a:moveTo>
                  <a:lnTo>
                    <a:pt x="2008441" y="0"/>
                  </a:lnTo>
                  <a:lnTo>
                    <a:pt x="2008441" y="345872"/>
                  </a:lnTo>
                  <a:lnTo>
                    <a:pt x="0" y="345872"/>
                  </a:lnTo>
                  <a:close/>
                </a:path>
              </a:pathLst>
            </a:custGeom>
            <a:blipFill>
              <a:blip r:embed="rId4">
                <a:alphaModFix amt="0"/>
              </a:blip>
              <a:stretch>
                <a:fillRect l="0" t="-63147" r="0" b="-63147"/>
              </a:stretch>
            </a:blipFill>
          </p:spPr>
        </p:sp>
        <p:sp>
          <p:nvSpPr>
            <p:cNvPr name="TextBox 13" id="13"/>
            <p:cNvSpPr txBox="true"/>
            <p:nvPr/>
          </p:nvSpPr>
          <p:spPr>
            <a:xfrm>
              <a:off x="0" y="-38100"/>
              <a:ext cx="2008442" cy="383972"/>
            </a:xfrm>
            <a:prstGeom prst="rect">
              <a:avLst/>
            </a:prstGeom>
          </p:spPr>
          <p:txBody>
            <a:bodyPr anchor="ctr" rtlCol="false" tIns="0" lIns="0" bIns="0" rIns="0"/>
            <a:lstStyle/>
            <a:p>
              <a:pPr algn="ctr">
                <a:lnSpc>
                  <a:spcPts val="1800"/>
                </a:lnSpc>
              </a:pPr>
              <a:r>
                <a:rPr lang="en-US" sz="1500">
                  <a:solidFill>
                    <a:srgbClr val="000000"/>
                  </a:solidFill>
                  <a:latin typeface="Calibri (MS)"/>
                  <a:ea typeface="Calibri (MS)"/>
                  <a:cs typeface="Calibri (MS)"/>
                  <a:sym typeface="Calibri (MS)"/>
                </a:rPr>
                <a:t>19-05-2026</a:t>
              </a:r>
            </a:p>
          </p:txBody>
        </p:sp>
      </p:grpSp>
      <p:grpSp>
        <p:nvGrpSpPr>
          <p:cNvPr name="Group 14" id="14"/>
          <p:cNvGrpSpPr/>
          <p:nvPr/>
        </p:nvGrpSpPr>
        <p:grpSpPr>
          <a:xfrm rot="0">
            <a:off x="15896863" y="9938776"/>
            <a:ext cx="1100138" cy="230829"/>
            <a:chOff x="0" y="0"/>
            <a:chExt cx="1466850" cy="307772"/>
          </a:xfrm>
        </p:grpSpPr>
        <p:sp>
          <p:nvSpPr>
            <p:cNvPr name="Freeform 15" id="15"/>
            <p:cNvSpPr/>
            <p:nvPr/>
          </p:nvSpPr>
          <p:spPr>
            <a:xfrm flipH="false" flipV="false" rot="0">
              <a:off x="0" y="0"/>
              <a:ext cx="1466850" cy="307721"/>
            </a:xfrm>
            <a:custGeom>
              <a:avLst/>
              <a:gdLst/>
              <a:ahLst/>
              <a:cxnLst/>
              <a:rect r="r" b="b" t="t" l="l"/>
              <a:pathLst>
                <a:path h="307721" w="1466850">
                  <a:moveTo>
                    <a:pt x="0" y="0"/>
                  </a:moveTo>
                  <a:lnTo>
                    <a:pt x="1466850" y="0"/>
                  </a:lnTo>
                  <a:lnTo>
                    <a:pt x="1466850" y="307721"/>
                  </a:lnTo>
                  <a:lnTo>
                    <a:pt x="0" y="307721"/>
                  </a:lnTo>
                  <a:close/>
                </a:path>
              </a:pathLst>
            </a:custGeom>
            <a:blipFill>
              <a:blip r:embed="rId3">
                <a:alphaModFix amt="0"/>
              </a:blip>
              <a:stretch>
                <a:fillRect l="0" t="-42806" r="0" b="-42827"/>
              </a:stretch>
            </a:blipFill>
          </p:spPr>
        </p:sp>
      </p:grpSp>
      <p:grpSp>
        <p:nvGrpSpPr>
          <p:cNvPr name="Group 16" id="16"/>
          <p:cNvGrpSpPr/>
          <p:nvPr/>
        </p:nvGrpSpPr>
        <p:grpSpPr>
          <a:xfrm rot="0">
            <a:off x="15896863" y="9910201"/>
            <a:ext cx="1100138" cy="259404"/>
            <a:chOff x="0" y="0"/>
            <a:chExt cx="1466850" cy="345872"/>
          </a:xfrm>
        </p:grpSpPr>
        <p:sp>
          <p:nvSpPr>
            <p:cNvPr name="Freeform 17" id="17"/>
            <p:cNvSpPr/>
            <p:nvPr/>
          </p:nvSpPr>
          <p:spPr>
            <a:xfrm flipH="false" flipV="false" rot="0">
              <a:off x="0" y="0"/>
              <a:ext cx="1466851" cy="345872"/>
            </a:xfrm>
            <a:custGeom>
              <a:avLst/>
              <a:gdLst/>
              <a:ahLst/>
              <a:cxnLst/>
              <a:rect r="r" b="b" t="t" l="l"/>
              <a:pathLst>
                <a:path h="345872" w="1466851">
                  <a:moveTo>
                    <a:pt x="0" y="0"/>
                  </a:moveTo>
                  <a:lnTo>
                    <a:pt x="1466851" y="0"/>
                  </a:lnTo>
                  <a:lnTo>
                    <a:pt x="1466851" y="345872"/>
                  </a:lnTo>
                  <a:lnTo>
                    <a:pt x="0" y="345872"/>
                  </a:lnTo>
                  <a:close/>
                </a:path>
              </a:pathLst>
            </a:custGeom>
            <a:blipFill>
              <a:blip r:embed="rId4">
                <a:alphaModFix amt="0"/>
              </a:blip>
              <a:stretch>
                <a:fillRect l="0" t="-32636" r="0" b="-32636"/>
              </a:stretch>
            </a:blipFill>
          </p:spPr>
        </p:sp>
        <p:sp>
          <p:nvSpPr>
            <p:cNvPr name="TextBox 18" id="18"/>
            <p:cNvSpPr txBox="true"/>
            <p:nvPr/>
          </p:nvSpPr>
          <p:spPr>
            <a:xfrm>
              <a:off x="0" y="-38100"/>
              <a:ext cx="1466850" cy="383972"/>
            </a:xfrm>
            <a:prstGeom prst="rect">
              <a:avLst/>
            </a:prstGeom>
          </p:spPr>
          <p:txBody>
            <a:bodyPr anchor="ctr" rtlCol="false" tIns="0" lIns="0" bIns="0" rIns="0"/>
            <a:lstStyle/>
            <a:p>
              <a:pPr algn="r">
                <a:lnSpc>
                  <a:spcPts val="1800"/>
                </a:lnSpc>
              </a:pPr>
              <a:r>
                <a:rPr lang="en-US" sz="1500">
                  <a:solidFill>
                    <a:srgbClr val="000000"/>
                  </a:solidFill>
                  <a:latin typeface="Calibri (MS)"/>
                  <a:ea typeface="Calibri (MS)"/>
                  <a:cs typeface="Calibri (MS)"/>
                  <a:sym typeface="Calibri (MS)"/>
                </a:rPr>
                <a:t>‹#›</a:t>
              </a:r>
            </a:p>
          </p:txBody>
        </p:sp>
      </p:grpSp>
      <p:grpSp>
        <p:nvGrpSpPr>
          <p:cNvPr name="Group 19" id="19"/>
          <p:cNvGrpSpPr/>
          <p:nvPr/>
        </p:nvGrpSpPr>
        <p:grpSpPr>
          <a:xfrm rot="0">
            <a:off x="16497300" y="387296"/>
            <a:ext cx="1566958" cy="521018"/>
            <a:chOff x="0" y="0"/>
            <a:chExt cx="2089277" cy="694690"/>
          </a:xfrm>
        </p:grpSpPr>
        <p:sp>
          <p:nvSpPr>
            <p:cNvPr name="Freeform 20" id="20"/>
            <p:cNvSpPr/>
            <p:nvPr/>
          </p:nvSpPr>
          <p:spPr>
            <a:xfrm flipH="false" flipV="false" rot="0">
              <a:off x="0" y="0"/>
              <a:ext cx="2089277" cy="694690"/>
            </a:xfrm>
            <a:custGeom>
              <a:avLst/>
              <a:gdLst/>
              <a:ahLst/>
              <a:cxnLst/>
              <a:rect r="r" b="b" t="t" l="l"/>
              <a:pathLst>
                <a:path h="694690" w="2089277">
                  <a:moveTo>
                    <a:pt x="0" y="0"/>
                  </a:moveTo>
                  <a:lnTo>
                    <a:pt x="2089277" y="0"/>
                  </a:lnTo>
                  <a:lnTo>
                    <a:pt x="2089277" y="694690"/>
                  </a:lnTo>
                  <a:lnTo>
                    <a:pt x="0" y="694690"/>
                  </a:lnTo>
                  <a:lnTo>
                    <a:pt x="0" y="0"/>
                  </a:lnTo>
                  <a:close/>
                </a:path>
              </a:pathLst>
            </a:custGeom>
            <a:blipFill>
              <a:blip r:embed="rId5"/>
              <a:stretch>
                <a:fillRect l="-27" t="0" r="-27" b="0"/>
              </a:stretch>
            </a:blipFill>
          </p:spPr>
        </p:sp>
      </p:grpSp>
      <p:grpSp>
        <p:nvGrpSpPr>
          <p:cNvPr name="Group 21" id="21"/>
          <p:cNvGrpSpPr/>
          <p:nvPr/>
        </p:nvGrpSpPr>
        <p:grpSpPr>
          <a:xfrm rot="0">
            <a:off x="2286" y="0"/>
            <a:ext cx="18283428" cy="10287000"/>
            <a:chOff x="0" y="0"/>
            <a:chExt cx="24377904" cy="13716000"/>
          </a:xfrm>
        </p:grpSpPr>
        <p:sp>
          <p:nvSpPr>
            <p:cNvPr name="Freeform 22" id="22"/>
            <p:cNvSpPr/>
            <p:nvPr/>
          </p:nvSpPr>
          <p:spPr>
            <a:xfrm flipH="false" flipV="false" rot="0">
              <a:off x="0" y="0"/>
              <a:ext cx="24377904" cy="13716000"/>
            </a:xfrm>
            <a:custGeom>
              <a:avLst/>
              <a:gdLst/>
              <a:ahLst/>
              <a:cxnLst/>
              <a:rect r="r" b="b" t="t" l="l"/>
              <a:pathLst>
                <a:path h="13716000" w="24377904">
                  <a:moveTo>
                    <a:pt x="0" y="0"/>
                  </a:moveTo>
                  <a:lnTo>
                    <a:pt x="24377904" y="0"/>
                  </a:lnTo>
                  <a:lnTo>
                    <a:pt x="24377904" y="13716000"/>
                  </a:lnTo>
                  <a:lnTo>
                    <a:pt x="0" y="13716000"/>
                  </a:lnTo>
                  <a:lnTo>
                    <a:pt x="0" y="0"/>
                  </a:lnTo>
                  <a:close/>
                </a:path>
              </a:pathLst>
            </a:custGeom>
            <a:blipFill>
              <a:blip r:embed="rId6"/>
              <a:stretch>
                <a:fillRect l="-12" t="0" r="-12" b="0"/>
              </a:stretch>
            </a:blipFill>
          </p:spPr>
        </p:sp>
      </p:grpSp>
      <p:grpSp>
        <p:nvGrpSpPr>
          <p:cNvPr name="Group 23" id="23"/>
          <p:cNvGrpSpPr/>
          <p:nvPr/>
        </p:nvGrpSpPr>
        <p:grpSpPr>
          <a:xfrm rot="0">
            <a:off x="748113" y="1903171"/>
            <a:ext cx="3502152" cy="1164526"/>
            <a:chOff x="0" y="0"/>
            <a:chExt cx="4669536" cy="1552702"/>
          </a:xfrm>
        </p:grpSpPr>
        <p:sp>
          <p:nvSpPr>
            <p:cNvPr name="Freeform 24" id="24"/>
            <p:cNvSpPr/>
            <p:nvPr/>
          </p:nvSpPr>
          <p:spPr>
            <a:xfrm flipH="false" flipV="false" rot="0">
              <a:off x="0" y="0"/>
              <a:ext cx="4669536" cy="1552702"/>
            </a:xfrm>
            <a:custGeom>
              <a:avLst/>
              <a:gdLst/>
              <a:ahLst/>
              <a:cxnLst/>
              <a:rect r="r" b="b" t="t" l="l"/>
              <a:pathLst>
                <a:path h="1552702" w="4669536">
                  <a:moveTo>
                    <a:pt x="0" y="0"/>
                  </a:moveTo>
                  <a:lnTo>
                    <a:pt x="4669536" y="0"/>
                  </a:lnTo>
                  <a:lnTo>
                    <a:pt x="4669536" y="1552702"/>
                  </a:lnTo>
                  <a:lnTo>
                    <a:pt x="0" y="1552702"/>
                  </a:lnTo>
                  <a:lnTo>
                    <a:pt x="0" y="0"/>
                  </a:lnTo>
                  <a:close/>
                </a:path>
              </a:pathLst>
            </a:custGeom>
            <a:blipFill>
              <a:blip r:embed="rId7"/>
              <a:stretch>
                <a:fillRect l="0" t="-327" r="0" b="-327"/>
              </a:stretch>
            </a:blipFill>
          </p:spPr>
        </p:sp>
      </p:grpSp>
      <p:grpSp>
        <p:nvGrpSpPr>
          <p:cNvPr name="Group 25" id="25"/>
          <p:cNvGrpSpPr/>
          <p:nvPr/>
        </p:nvGrpSpPr>
        <p:grpSpPr>
          <a:xfrm rot="0">
            <a:off x="11484140" y="2342159"/>
            <a:ext cx="5616035" cy="5602700"/>
            <a:chOff x="0" y="0"/>
            <a:chExt cx="7488047" cy="7470267"/>
          </a:xfrm>
        </p:grpSpPr>
        <p:sp>
          <p:nvSpPr>
            <p:cNvPr name="Freeform 26" id="26"/>
            <p:cNvSpPr/>
            <p:nvPr/>
          </p:nvSpPr>
          <p:spPr>
            <a:xfrm flipH="false" flipV="false" rot="0">
              <a:off x="0" y="0"/>
              <a:ext cx="7488047" cy="7470267"/>
            </a:xfrm>
            <a:custGeom>
              <a:avLst/>
              <a:gdLst/>
              <a:ahLst/>
              <a:cxnLst/>
              <a:rect r="r" b="b" t="t" l="l"/>
              <a:pathLst>
                <a:path h="7470267" w="7488047">
                  <a:moveTo>
                    <a:pt x="0" y="0"/>
                  </a:moveTo>
                  <a:lnTo>
                    <a:pt x="7488047" y="0"/>
                  </a:lnTo>
                  <a:lnTo>
                    <a:pt x="7488047" y="7470267"/>
                  </a:lnTo>
                  <a:lnTo>
                    <a:pt x="0" y="7470267"/>
                  </a:lnTo>
                  <a:lnTo>
                    <a:pt x="0" y="0"/>
                  </a:lnTo>
                  <a:close/>
                </a:path>
              </a:pathLst>
            </a:custGeom>
            <a:blipFill>
              <a:blip r:embed="rId8"/>
              <a:stretch>
                <a:fillRect l="-8" t="0" r="-8" b="0"/>
              </a:stretch>
            </a:blipFill>
          </p:spPr>
        </p:sp>
      </p:grpSp>
      <p:grpSp>
        <p:nvGrpSpPr>
          <p:cNvPr name="Group 27" id="27"/>
          <p:cNvGrpSpPr/>
          <p:nvPr/>
        </p:nvGrpSpPr>
        <p:grpSpPr>
          <a:xfrm rot="0">
            <a:off x="15271328" y="3921242"/>
            <a:ext cx="3016663" cy="2969990"/>
            <a:chOff x="0" y="0"/>
            <a:chExt cx="4022217" cy="3959987"/>
          </a:xfrm>
        </p:grpSpPr>
        <p:sp>
          <p:nvSpPr>
            <p:cNvPr name="Freeform 28" id="28"/>
            <p:cNvSpPr/>
            <p:nvPr/>
          </p:nvSpPr>
          <p:spPr>
            <a:xfrm flipH="false" flipV="false" rot="0">
              <a:off x="0" y="0"/>
              <a:ext cx="4022217" cy="3959987"/>
            </a:xfrm>
            <a:custGeom>
              <a:avLst/>
              <a:gdLst/>
              <a:ahLst/>
              <a:cxnLst/>
              <a:rect r="r" b="b" t="t" l="l"/>
              <a:pathLst>
                <a:path h="3959987" w="4022217">
                  <a:moveTo>
                    <a:pt x="0" y="0"/>
                  </a:moveTo>
                  <a:lnTo>
                    <a:pt x="4022217" y="0"/>
                  </a:lnTo>
                  <a:lnTo>
                    <a:pt x="4022217" y="3959987"/>
                  </a:lnTo>
                  <a:lnTo>
                    <a:pt x="0" y="3959987"/>
                  </a:lnTo>
                  <a:lnTo>
                    <a:pt x="0" y="0"/>
                  </a:lnTo>
                  <a:close/>
                </a:path>
              </a:pathLst>
            </a:custGeom>
            <a:blipFill>
              <a:blip r:embed="rId9"/>
              <a:stretch>
                <a:fillRect l="0" t="-63" r="0" b="-63"/>
              </a:stretch>
            </a:blipFill>
          </p:spPr>
        </p:sp>
      </p:grpSp>
      <p:grpSp>
        <p:nvGrpSpPr>
          <p:cNvPr name="Group 29" id="29"/>
          <p:cNvGrpSpPr/>
          <p:nvPr/>
        </p:nvGrpSpPr>
        <p:grpSpPr>
          <a:xfrm rot="0">
            <a:off x="748113" y="3952075"/>
            <a:ext cx="10736028" cy="2426827"/>
            <a:chOff x="0" y="0"/>
            <a:chExt cx="14314703" cy="3235770"/>
          </a:xfrm>
        </p:grpSpPr>
        <p:sp>
          <p:nvSpPr>
            <p:cNvPr name="Freeform 30" id="30"/>
            <p:cNvSpPr/>
            <p:nvPr/>
          </p:nvSpPr>
          <p:spPr>
            <a:xfrm flipH="false" flipV="false" rot="0">
              <a:off x="0" y="0"/>
              <a:ext cx="14314678" cy="3235833"/>
            </a:xfrm>
            <a:custGeom>
              <a:avLst/>
              <a:gdLst/>
              <a:ahLst/>
              <a:cxnLst/>
              <a:rect r="r" b="b" t="t" l="l"/>
              <a:pathLst>
                <a:path h="3235833" w="14314678">
                  <a:moveTo>
                    <a:pt x="0" y="0"/>
                  </a:moveTo>
                  <a:lnTo>
                    <a:pt x="14314678" y="0"/>
                  </a:lnTo>
                  <a:lnTo>
                    <a:pt x="14314678" y="3235833"/>
                  </a:lnTo>
                  <a:lnTo>
                    <a:pt x="0" y="3235833"/>
                  </a:lnTo>
                  <a:close/>
                </a:path>
              </a:pathLst>
            </a:custGeom>
            <a:blipFill>
              <a:blip r:embed="rId3">
                <a:alphaModFix amt="0"/>
              </a:blip>
              <a:stretch>
                <a:fillRect l="0" t="-36139" r="0" b="-36137"/>
              </a:stretch>
            </a:blipFill>
          </p:spPr>
        </p:sp>
      </p:grpSp>
      <p:grpSp>
        <p:nvGrpSpPr>
          <p:cNvPr name="Group 31" id="31"/>
          <p:cNvGrpSpPr/>
          <p:nvPr/>
        </p:nvGrpSpPr>
        <p:grpSpPr>
          <a:xfrm rot="0">
            <a:off x="748113" y="3909212"/>
            <a:ext cx="10736028" cy="2469699"/>
            <a:chOff x="0" y="0"/>
            <a:chExt cx="14314703" cy="3292932"/>
          </a:xfrm>
        </p:grpSpPr>
        <p:sp>
          <p:nvSpPr>
            <p:cNvPr name="Freeform 32" id="32"/>
            <p:cNvSpPr/>
            <p:nvPr/>
          </p:nvSpPr>
          <p:spPr>
            <a:xfrm flipH="false" flipV="false" rot="0">
              <a:off x="0" y="0"/>
              <a:ext cx="14314705" cy="3292927"/>
            </a:xfrm>
            <a:custGeom>
              <a:avLst/>
              <a:gdLst/>
              <a:ahLst/>
              <a:cxnLst/>
              <a:rect r="r" b="b" t="t" l="l"/>
              <a:pathLst>
                <a:path h="3292927" w="14314705">
                  <a:moveTo>
                    <a:pt x="0" y="0"/>
                  </a:moveTo>
                  <a:lnTo>
                    <a:pt x="14314705" y="0"/>
                  </a:lnTo>
                  <a:lnTo>
                    <a:pt x="14314705" y="3292927"/>
                  </a:lnTo>
                  <a:lnTo>
                    <a:pt x="0" y="3292927"/>
                  </a:lnTo>
                  <a:close/>
                </a:path>
              </a:pathLst>
            </a:custGeom>
            <a:blipFill>
              <a:blip r:embed="rId4">
                <a:alphaModFix amt="0"/>
              </a:blip>
              <a:stretch>
                <a:fillRect l="0" t="-34703" r="0" b="-34703"/>
              </a:stretch>
            </a:blipFill>
          </p:spPr>
        </p:sp>
        <p:sp>
          <p:nvSpPr>
            <p:cNvPr name="TextBox 33" id="33"/>
            <p:cNvSpPr txBox="true"/>
            <p:nvPr/>
          </p:nvSpPr>
          <p:spPr>
            <a:xfrm>
              <a:off x="0" y="-57150"/>
              <a:ext cx="14314703" cy="3350082"/>
            </a:xfrm>
            <a:prstGeom prst="rect">
              <a:avLst/>
            </a:prstGeom>
          </p:spPr>
          <p:txBody>
            <a:bodyPr anchor="b" rtlCol="false" tIns="0" lIns="0" bIns="0" rIns="0"/>
            <a:lstStyle/>
            <a:p>
              <a:pPr algn="l">
                <a:lnSpc>
                  <a:spcPts val="7776"/>
                </a:lnSpc>
              </a:pPr>
              <a:r>
                <a:rPr lang="en-US" sz="7200" b="true">
                  <a:solidFill>
                    <a:srgbClr val="FFFFFF"/>
                  </a:solidFill>
                  <a:latin typeface="Calibri (MS) Bold"/>
                  <a:ea typeface="Calibri (MS) Bold"/>
                  <a:cs typeface="Calibri (MS) Bold"/>
                  <a:sym typeface="Calibri (MS) Bold"/>
                </a:rPr>
                <a:t>AI Banking Based Fraud Detection</a:t>
              </a:r>
            </a:p>
          </p:txBody>
        </p:sp>
      </p:grpSp>
      <p:sp>
        <p:nvSpPr>
          <p:cNvPr name="TextBox 34" id="34"/>
          <p:cNvSpPr txBox="true"/>
          <p:nvPr/>
        </p:nvSpPr>
        <p:spPr>
          <a:xfrm rot="0">
            <a:off x="748113" y="6302712"/>
            <a:ext cx="4909985" cy="1192263"/>
          </a:xfrm>
          <a:prstGeom prst="rect">
            <a:avLst/>
          </a:prstGeom>
        </p:spPr>
        <p:txBody>
          <a:bodyPr anchor="t" rtlCol="false" tIns="0" lIns="0" bIns="0" rIns="0">
            <a:spAutoFit/>
          </a:bodyPr>
          <a:lstStyle/>
          <a:p>
            <a:pPr algn="l">
              <a:lnSpc>
                <a:spcPts val="4536"/>
              </a:lnSpc>
            </a:pPr>
            <a:r>
              <a:rPr lang="en-US" sz="4200" b="true">
                <a:solidFill>
                  <a:srgbClr val="FFFFFF"/>
                </a:solidFill>
                <a:latin typeface="Calibri (MS) Bold"/>
                <a:ea typeface="Calibri (MS) Bold"/>
                <a:cs typeface="Calibri (MS) Bold"/>
                <a:sym typeface="Calibri (MS) Bold"/>
              </a:rPr>
              <a:t>Presented by: Jeevesh - 2674192</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322803" y="9714938"/>
            <a:ext cx="672589" cy="551545"/>
            <a:chOff x="0" y="0"/>
            <a:chExt cx="896785" cy="735394"/>
          </a:xfrm>
        </p:grpSpPr>
        <p:sp>
          <p:nvSpPr>
            <p:cNvPr name="Freeform 3" id="3"/>
            <p:cNvSpPr/>
            <p:nvPr/>
          </p:nvSpPr>
          <p:spPr>
            <a:xfrm flipH="false" flipV="false" rot="0">
              <a:off x="0" y="0"/>
              <a:ext cx="896747" cy="735457"/>
            </a:xfrm>
            <a:custGeom>
              <a:avLst/>
              <a:gdLst/>
              <a:ahLst/>
              <a:cxnLst/>
              <a:rect r="r" b="b" t="t" l="l"/>
              <a:pathLst>
                <a:path h="735457" w="896747">
                  <a:moveTo>
                    <a:pt x="0" y="0"/>
                  </a:moveTo>
                  <a:lnTo>
                    <a:pt x="896747" y="0"/>
                  </a:lnTo>
                  <a:lnTo>
                    <a:pt x="896747" y="735457"/>
                  </a:lnTo>
                  <a:lnTo>
                    <a:pt x="0" y="735457"/>
                  </a:lnTo>
                  <a:lnTo>
                    <a:pt x="0" y="0"/>
                  </a:lnTo>
                  <a:close/>
                </a:path>
              </a:pathLst>
            </a:custGeom>
            <a:blipFill>
              <a:blip r:embed="rId2"/>
              <a:stretch>
                <a:fillRect l="0" t="-594" r="-4" b="-587"/>
              </a:stretch>
            </a:blipFill>
          </p:spPr>
        </p:sp>
      </p:grpSp>
      <p:grpSp>
        <p:nvGrpSpPr>
          <p:cNvPr name="Group 4" id="4"/>
          <p:cNvGrpSpPr/>
          <p:nvPr/>
        </p:nvGrpSpPr>
        <p:grpSpPr>
          <a:xfrm rot="0">
            <a:off x="438912" y="9938776"/>
            <a:ext cx="4811963" cy="230829"/>
            <a:chOff x="0" y="0"/>
            <a:chExt cx="6415951" cy="307772"/>
          </a:xfrm>
        </p:grpSpPr>
        <p:sp>
          <p:nvSpPr>
            <p:cNvPr name="Freeform 5" id="5"/>
            <p:cNvSpPr/>
            <p:nvPr/>
          </p:nvSpPr>
          <p:spPr>
            <a:xfrm flipH="false" flipV="false" rot="0">
              <a:off x="0" y="0"/>
              <a:ext cx="6415948" cy="307776"/>
            </a:xfrm>
            <a:custGeom>
              <a:avLst/>
              <a:gdLst/>
              <a:ahLst/>
              <a:cxnLst/>
              <a:rect r="r" b="b" t="t" l="l"/>
              <a:pathLst>
                <a:path h="307776" w="6415948">
                  <a:moveTo>
                    <a:pt x="0" y="0"/>
                  </a:moveTo>
                  <a:lnTo>
                    <a:pt x="6415948" y="0"/>
                  </a:lnTo>
                  <a:lnTo>
                    <a:pt x="6415948" y="307776"/>
                  </a:lnTo>
                  <a:lnTo>
                    <a:pt x="0" y="307776"/>
                  </a:lnTo>
                  <a:close/>
                </a:path>
              </a:pathLst>
            </a:custGeom>
            <a:blipFill>
              <a:blip r:embed="rId3">
                <a:alphaModFix amt="0"/>
              </a:blip>
              <a:stretch>
                <a:fillRect l="0" t="-356189" r="0" b="-356187"/>
              </a:stretch>
            </a:blipFill>
          </p:spPr>
        </p:sp>
        <p:sp>
          <p:nvSpPr>
            <p:cNvPr name="TextBox 6" id="6"/>
            <p:cNvSpPr txBox="true"/>
            <p:nvPr/>
          </p:nvSpPr>
          <p:spPr>
            <a:xfrm>
              <a:off x="0" y="-38100"/>
              <a:ext cx="6415951" cy="345872"/>
            </a:xfrm>
            <a:prstGeom prst="rect">
              <a:avLst/>
            </a:prstGeom>
          </p:spPr>
          <p:txBody>
            <a:bodyPr anchor="ctr" rtlCol="false" tIns="0" lIns="0" bIns="0" rIns="0"/>
            <a:lstStyle/>
            <a:p>
              <a:pPr algn="l">
                <a:lnSpc>
                  <a:spcPts val="1800"/>
                </a:lnSpc>
              </a:pPr>
              <a:r>
                <a:rPr lang="en-US" sz="1500">
                  <a:solidFill>
                    <a:srgbClr val="000000"/>
                  </a:solidFill>
                  <a:latin typeface="Calibri (MS)"/>
                  <a:ea typeface="Calibri (MS)"/>
                  <a:cs typeface="Calibri (MS)"/>
                  <a:sym typeface="Calibri (MS)"/>
                </a:rPr>
                <a:t>© Mphasis 2025  Proprietary and confidential information</a:t>
              </a:r>
            </a:p>
          </p:txBody>
        </p:sp>
      </p:grpSp>
      <p:grpSp>
        <p:nvGrpSpPr>
          <p:cNvPr name="Group 7" id="7"/>
          <p:cNvGrpSpPr/>
          <p:nvPr/>
        </p:nvGrpSpPr>
        <p:grpSpPr>
          <a:xfrm rot="0">
            <a:off x="15896863" y="9938776"/>
            <a:ext cx="1100138" cy="230829"/>
            <a:chOff x="0" y="0"/>
            <a:chExt cx="1466850" cy="307772"/>
          </a:xfrm>
        </p:grpSpPr>
        <p:sp>
          <p:nvSpPr>
            <p:cNvPr name="Freeform 8" id="8"/>
            <p:cNvSpPr/>
            <p:nvPr/>
          </p:nvSpPr>
          <p:spPr>
            <a:xfrm flipH="false" flipV="false" rot="0">
              <a:off x="0" y="0"/>
              <a:ext cx="1466850" cy="307776"/>
            </a:xfrm>
            <a:custGeom>
              <a:avLst/>
              <a:gdLst/>
              <a:ahLst/>
              <a:cxnLst/>
              <a:rect r="r" b="b" t="t" l="l"/>
              <a:pathLst>
                <a:path h="307776" w="1466850">
                  <a:moveTo>
                    <a:pt x="0" y="0"/>
                  </a:moveTo>
                  <a:lnTo>
                    <a:pt x="1466850" y="0"/>
                  </a:lnTo>
                  <a:lnTo>
                    <a:pt x="1466850" y="307776"/>
                  </a:lnTo>
                  <a:lnTo>
                    <a:pt x="0" y="307776"/>
                  </a:lnTo>
                  <a:close/>
                </a:path>
              </a:pathLst>
            </a:custGeom>
            <a:blipFill>
              <a:blip r:embed="rId3">
                <a:alphaModFix amt="0"/>
              </a:blip>
              <a:stretch>
                <a:fillRect l="0" t="-42865" r="0" b="-42864"/>
              </a:stretch>
            </a:blipFill>
          </p:spPr>
        </p:sp>
        <p:sp>
          <p:nvSpPr>
            <p:cNvPr name="TextBox 9" id="9"/>
            <p:cNvSpPr txBox="true"/>
            <p:nvPr/>
          </p:nvSpPr>
          <p:spPr>
            <a:xfrm>
              <a:off x="0" y="-38100"/>
              <a:ext cx="1466850" cy="345872"/>
            </a:xfrm>
            <a:prstGeom prst="rect">
              <a:avLst/>
            </a:prstGeom>
          </p:spPr>
          <p:txBody>
            <a:bodyPr anchor="ctr" rtlCol="false" tIns="0" lIns="0" bIns="0" rIns="0"/>
            <a:lstStyle/>
            <a:p>
              <a:pPr algn="r">
                <a:lnSpc>
                  <a:spcPts val="1800"/>
                </a:lnSpc>
              </a:pPr>
              <a:r>
                <a:rPr lang="en-US" sz="1500">
                  <a:solidFill>
                    <a:srgbClr val="000000"/>
                  </a:solidFill>
                  <a:latin typeface="Calibri (MS)"/>
                  <a:ea typeface="Calibri (MS)"/>
                  <a:cs typeface="Calibri (MS)"/>
                  <a:sym typeface="Calibri (MS)"/>
                </a:rPr>
                <a:t>‹#›</a:t>
              </a:r>
            </a:p>
          </p:txBody>
        </p:sp>
      </p:grpSp>
      <p:grpSp>
        <p:nvGrpSpPr>
          <p:cNvPr name="Group 10" id="10"/>
          <p:cNvGrpSpPr/>
          <p:nvPr/>
        </p:nvGrpSpPr>
        <p:grpSpPr>
          <a:xfrm rot="0">
            <a:off x="16497300" y="387296"/>
            <a:ext cx="1566929" cy="521027"/>
            <a:chOff x="0" y="0"/>
            <a:chExt cx="2089239" cy="694703"/>
          </a:xfrm>
        </p:grpSpPr>
        <p:sp>
          <p:nvSpPr>
            <p:cNvPr name="Freeform 11" id="11"/>
            <p:cNvSpPr/>
            <p:nvPr/>
          </p:nvSpPr>
          <p:spPr>
            <a:xfrm flipH="false" flipV="false" rot="0">
              <a:off x="0" y="0"/>
              <a:ext cx="2089277" cy="694690"/>
            </a:xfrm>
            <a:custGeom>
              <a:avLst/>
              <a:gdLst/>
              <a:ahLst/>
              <a:cxnLst/>
              <a:rect r="r" b="b" t="t" l="l"/>
              <a:pathLst>
                <a:path h="694690" w="2089277">
                  <a:moveTo>
                    <a:pt x="0" y="0"/>
                  </a:moveTo>
                  <a:lnTo>
                    <a:pt x="2089277" y="0"/>
                  </a:lnTo>
                  <a:lnTo>
                    <a:pt x="2089277" y="694690"/>
                  </a:lnTo>
                  <a:lnTo>
                    <a:pt x="0" y="694690"/>
                  </a:lnTo>
                  <a:lnTo>
                    <a:pt x="0" y="0"/>
                  </a:lnTo>
                  <a:close/>
                </a:path>
              </a:pathLst>
            </a:custGeom>
            <a:blipFill>
              <a:blip r:embed="rId4"/>
              <a:stretch>
                <a:fillRect l="0" t="0" r="1" b="-1"/>
              </a:stretch>
            </a:blipFill>
          </p:spPr>
        </p:sp>
      </p:grpSp>
      <p:grpSp>
        <p:nvGrpSpPr>
          <p:cNvPr name="Group 12" id="12"/>
          <p:cNvGrpSpPr/>
          <p:nvPr/>
        </p:nvGrpSpPr>
        <p:grpSpPr>
          <a:xfrm rot="0">
            <a:off x="16497300" y="387296"/>
            <a:ext cx="1566929" cy="521027"/>
            <a:chOff x="0" y="0"/>
            <a:chExt cx="2089239" cy="694703"/>
          </a:xfrm>
        </p:grpSpPr>
        <p:sp>
          <p:nvSpPr>
            <p:cNvPr name="Freeform 13" id="13"/>
            <p:cNvSpPr/>
            <p:nvPr/>
          </p:nvSpPr>
          <p:spPr>
            <a:xfrm flipH="false" flipV="false" rot="0">
              <a:off x="0" y="0"/>
              <a:ext cx="2089277" cy="694690"/>
            </a:xfrm>
            <a:custGeom>
              <a:avLst/>
              <a:gdLst/>
              <a:ahLst/>
              <a:cxnLst/>
              <a:rect r="r" b="b" t="t" l="l"/>
              <a:pathLst>
                <a:path h="694690" w="2089277">
                  <a:moveTo>
                    <a:pt x="0" y="0"/>
                  </a:moveTo>
                  <a:lnTo>
                    <a:pt x="2089277" y="0"/>
                  </a:lnTo>
                  <a:lnTo>
                    <a:pt x="2089277" y="694690"/>
                  </a:lnTo>
                  <a:lnTo>
                    <a:pt x="0" y="694690"/>
                  </a:lnTo>
                  <a:lnTo>
                    <a:pt x="0" y="0"/>
                  </a:lnTo>
                  <a:close/>
                </a:path>
              </a:pathLst>
            </a:custGeom>
            <a:blipFill>
              <a:blip r:embed="rId4"/>
              <a:stretch>
                <a:fillRect l="0" t="0" r="1" b="-1"/>
              </a:stretch>
            </a:blipFill>
          </p:spPr>
        </p:sp>
      </p:grpSp>
      <p:grpSp>
        <p:nvGrpSpPr>
          <p:cNvPr name="Group 14" id="14"/>
          <p:cNvGrpSpPr/>
          <p:nvPr/>
        </p:nvGrpSpPr>
        <p:grpSpPr>
          <a:xfrm rot="0">
            <a:off x="420624" y="268024"/>
            <a:ext cx="11110779" cy="554003"/>
            <a:chOff x="0" y="0"/>
            <a:chExt cx="14814372" cy="738670"/>
          </a:xfrm>
        </p:grpSpPr>
        <p:sp>
          <p:nvSpPr>
            <p:cNvPr name="Freeform 15" id="15"/>
            <p:cNvSpPr/>
            <p:nvPr/>
          </p:nvSpPr>
          <p:spPr>
            <a:xfrm flipH="false" flipV="false" rot="0">
              <a:off x="0" y="0"/>
              <a:ext cx="14814376" cy="738664"/>
            </a:xfrm>
            <a:custGeom>
              <a:avLst/>
              <a:gdLst/>
              <a:ahLst/>
              <a:cxnLst/>
              <a:rect r="r" b="b" t="t" l="l"/>
              <a:pathLst>
                <a:path h="738664" w="14814376">
                  <a:moveTo>
                    <a:pt x="0" y="0"/>
                  </a:moveTo>
                  <a:lnTo>
                    <a:pt x="14814376" y="0"/>
                  </a:lnTo>
                  <a:lnTo>
                    <a:pt x="14814376" y="738664"/>
                  </a:lnTo>
                  <a:lnTo>
                    <a:pt x="0" y="738664"/>
                  </a:lnTo>
                  <a:close/>
                </a:path>
              </a:pathLst>
            </a:custGeom>
            <a:blipFill>
              <a:blip r:embed="rId3">
                <a:alphaModFix amt="0"/>
              </a:blip>
              <a:stretch>
                <a:fillRect l="0" t="-340784" r="0" b="-340785"/>
              </a:stretch>
            </a:blipFill>
          </p:spPr>
        </p:sp>
        <p:sp>
          <p:nvSpPr>
            <p:cNvPr name="TextBox 16" id="16"/>
            <p:cNvSpPr txBox="true"/>
            <p:nvPr/>
          </p:nvSpPr>
          <p:spPr>
            <a:xfrm>
              <a:off x="0" y="-9525"/>
              <a:ext cx="14814372" cy="748195"/>
            </a:xfrm>
            <a:prstGeom prst="rect">
              <a:avLst/>
            </a:prstGeom>
          </p:spPr>
          <p:txBody>
            <a:bodyPr anchor="ctr" rtlCol="false" tIns="0" lIns="0" bIns="0" rIns="0"/>
            <a:lstStyle/>
            <a:p>
              <a:pPr algn="l">
                <a:lnSpc>
                  <a:spcPts val="4212"/>
                </a:lnSpc>
              </a:pPr>
              <a:r>
                <a:rPr lang="en-US" sz="3510" b="true">
                  <a:solidFill>
                    <a:srgbClr val="22988A"/>
                  </a:solidFill>
                  <a:latin typeface="Aptos Bold"/>
                  <a:ea typeface="Aptos Bold"/>
                  <a:cs typeface="Aptos Bold"/>
                  <a:sym typeface="Aptos Bold"/>
                </a:rPr>
                <a:t>Team Introduction</a:t>
              </a:r>
            </a:p>
          </p:txBody>
        </p:sp>
      </p:grpSp>
      <p:graphicFrame>
        <p:nvGraphicFramePr>
          <p:cNvPr name="Table 17" id="17"/>
          <p:cNvGraphicFramePr>
            <a:graphicFrameLocks noGrp="true"/>
          </p:cNvGraphicFramePr>
          <p:nvPr/>
        </p:nvGraphicFramePr>
        <p:xfrm>
          <a:off x="2478405" y="1757362"/>
          <a:ext cx="12592050" cy="3393897"/>
        </p:xfrm>
        <a:graphic>
          <a:graphicData uri="http://schemas.openxmlformats.org/drawingml/2006/table">
            <a:tbl>
              <a:tblPr/>
              <a:tblGrid>
                <a:gridCol w="5656251"/>
                <a:gridCol w="6935799"/>
              </a:tblGrid>
              <a:tr h="805250">
                <a:tc>
                  <a:txBody>
                    <a:bodyPr anchor="t" rtlCol="false"/>
                    <a:lstStyle/>
                    <a:p>
                      <a:pPr algn="ctr">
                        <a:lnSpc>
                          <a:spcPts val="3600"/>
                        </a:lnSpc>
                        <a:defRPr/>
                      </a:pPr>
                      <a:r>
                        <a:rPr lang="en-US" sz="3000" b="true">
                          <a:solidFill>
                            <a:srgbClr val="FFFFFF"/>
                          </a:solidFill>
                          <a:latin typeface="Calibri (MS) Bold"/>
                          <a:ea typeface="Calibri (MS) Bold"/>
                          <a:cs typeface="Calibri (MS) Bold"/>
                          <a:sym typeface="Calibri (MS) Bold"/>
                        </a:rPr>
                        <a:t>Areas</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99DD1"/>
                    </a:solidFill>
                  </a:tcPr>
                </a:tc>
                <a:tc>
                  <a:txBody>
                    <a:bodyPr anchor="t" rtlCol="false"/>
                    <a:lstStyle/>
                    <a:p>
                      <a:pPr algn="ctr">
                        <a:lnSpc>
                          <a:spcPts val="3600"/>
                        </a:lnSpc>
                        <a:defRPr/>
                      </a:pPr>
                      <a:r>
                        <a:rPr lang="en-US" sz="3000" b="true">
                          <a:solidFill>
                            <a:srgbClr val="FFFFFF"/>
                          </a:solidFill>
                          <a:latin typeface="Calibri (MS) Bold"/>
                          <a:ea typeface="Calibri (MS) Bold"/>
                          <a:cs typeface="Calibri (MS) Bold"/>
                          <a:sym typeface="Calibri (MS) Bold"/>
                        </a:rPr>
                        <a:t>Answers</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99DD1"/>
                    </a:solidFill>
                  </a:tcPr>
                </a:tc>
              </a:tr>
              <a:tr h="655570">
                <a:tc>
                  <a:txBody>
                    <a:bodyPr anchor="t" rtlCol="false"/>
                    <a:lstStyle/>
                    <a:p>
                      <a:pPr algn="l">
                        <a:lnSpc>
                          <a:spcPts val="3240"/>
                        </a:lnSpc>
                        <a:defRPr/>
                      </a:pPr>
                      <a:r>
                        <a:rPr lang="en-US" b="true" sz="2700">
                          <a:solidFill>
                            <a:srgbClr val="000000"/>
                          </a:solidFill>
                          <a:latin typeface="Calibri (MS) Bold"/>
                          <a:ea typeface="Calibri (MS) Bold"/>
                          <a:cs typeface="Calibri (MS) Bold"/>
                          <a:sym typeface="Calibri (MS) Bold"/>
                        </a:rPr>
                        <a:t>Team Name:</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CCDFEE"/>
                    </a:solidFill>
                  </a:tcPr>
                </a:tc>
                <a:tc>
                  <a:txBody>
                    <a:bodyPr anchor="t" rtlCol="false"/>
                    <a:lstStyle/>
                    <a:p>
                      <a:pPr algn="l">
                        <a:lnSpc>
                          <a:spcPts val="3240"/>
                        </a:lnSpc>
                        <a:defRPr/>
                      </a:pPr>
                      <a:r>
                        <a:rPr lang="en-US" sz="2700">
                          <a:solidFill>
                            <a:srgbClr val="000000"/>
                          </a:solidFill>
                          <a:latin typeface="Calibri (MS)"/>
                          <a:ea typeface="Calibri (MS)"/>
                          <a:cs typeface="Calibri (MS)"/>
                          <a:sym typeface="Calibri (MS)"/>
                        </a:rPr>
                        <a:t>AI / ML Team</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CCDFEE"/>
                    </a:solidFill>
                  </a:tcPr>
                </a:tc>
              </a:tr>
              <a:tr h="632085">
                <a:tc>
                  <a:txBody>
                    <a:bodyPr anchor="t" rtlCol="false"/>
                    <a:lstStyle/>
                    <a:p>
                      <a:pPr algn="l">
                        <a:lnSpc>
                          <a:spcPts val="3240"/>
                        </a:lnSpc>
                        <a:defRPr/>
                      </a:pPr>
                      <a:r>
                        <a:rPr lang="en-US" b="true" sz="2700">
                          <a:solidFill>
                            <a:srgbClr val="000000"/>
                          </a:solidFill>
                          <a:latin typeface="Calibri (MS) Bold"/>
                          <a:ea typeface="Calibri (MS) Bold"/>
                          <a:cs typeface="Calibri (MS) Bold"/>
                          <a:sym typeface="Calibri (MS) Bold"/>
                        </a:rPr>
                        <a:t>Batch / Area of Training:</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7F0F7"/>
                    </a:solidFill>
                  </a:tcPr>
                </a:tc>
                <a:tc>
                  <a:txBody>
                    <a:bodyPr anchor="t" rtlCol="false"/>
                    <a:lstStyle/>
                    <a:p>
                      <a:pPr algn="l">
                        <a:lnSpc>
                          <a:spcPts val="3240"/>
                        </a:lnSpc>
                        <a:defRPr/>
                      </a:pPr>
                      <a:r>
                        <a:rPr lang="en-US" sz="2700">
                          <a:solidFill>
                            <a:srgbClr val="000000"/>
                          </a:solidFill>
                          <a:latin typeface="Calibri (MS)"/>
                          <a:ea typeface="Calibri (MS)"/>
                          <a:cs typeface="Calibri (MS)"/>
                          <a:sym typeface="Calibri (MS)"/>
                        </a:rPr>
                        <a:t>Tower E – FedEx Hall</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7F0F7"/>
                    </a:solidFill>
                  </a:tcPr>
                </a:tc>
              </a:tr>
              <a:tr h="734456">
                <a:tc>
                  <a:txBody>
                    <a:bodyPr anchor="t" rtlCol="false"/>
                    <a:lstStyle/>
                    <a:p>
                      <a:pPr algn="l">
                        <a:lnSpc>
                          <a:spcPts val="3240"/>
                        </a:lnSpc>
                        <a:defRPr/>
                      </a:pPr>
                      <a:r>
                        <a:rPr lang="en-US" b="true" sz="2700">
                          <a:solidFill>
                            <a:srgbClr val="000000"/>
                          </a:solidFill>
                          <a:latin typeface="Calibri (MS) Bold"/>
                          <a:ea typeface="Calibri (MS) Bold"/>
                          <a:cs typeface="Calibri (MS) Bold"/>
                          <a:sym typeface="Calibri (MS) Bold"/>
                        </a:rPr>
                        <a:t>Internship Start Date:</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CCDFEE"/>
                    </a:solidFill>
                  </a:tcPr>
                </a:tc>
                <a:tc>
                  <a:txBody>
                    <a:bodyPr anchor="t" rtlCol="false"/>
                    <a:lstStyle/>
                    <a:p>
                      <a:pPr algn="l">
                        <a:lnSpc>
                          <a:spcPts val="3240"/>
                        </a:lnSpc>
                        <a:defRPr/>
                      </a:pPr>
                      <a:r>
                        <a:rPr lang="en-US" sz="2700">
                          <a:solidFill>
                            <a:srgbClr val="000000"/>
                          </a:solidFill>
                          <a:latin typeface="Calibri (MS)"/>
                          <a:ea typeface="Calibri (MS)"/>
                          <a:cs typeface="Calibri (MS)"/>
                          <a:sym typeface="Calibri (MS)"/>
                        </a:rPr>
                        <a:t>13ᵗʰ March, 2026</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CCDFEE"/>
                    </a:solidFill>
                  </a:tcPr>
                </a:tc>
              </a:tr>
              <a:tr h="547807">
                <a:tc>
                  <a:txBody>
                    <a:bodyPr anchor="t" rtlCol="false"/>
                    <a:lstStyle/>
                    <a:p>
                      <a:pPr algn="l">
                        <a:lnSpc>
                          <a:spcPts val="3240"/>
                        </a:lnSpc>
                        <a:defRPr/>
                      </a:pPr>
                      <a:r>
                        <a:rPr lang="en-US" b="true" sz="2700">
                          <a:solidFill>
                            <a:srgbClr val="000000"/>
                          </a:solidFill>
                          <a:latin typeface="Calibri (MS) Bold"/>
                          <a:ea typeface="Calibri (MS) Bold"/>
                          <a:cs typeface="Calibri (MS) Bold"/>
                          <a:sym typeface="Calibri (MS) Bold"/>
                        </a:rPr>
                        <a:t>Internship Location</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7F0F7"/>
                    </a:solidFill>
                  </a:tcPr>
                </a:tc>
                <a:tc>
                  <a:txBody>
                    <a:bodyPr anchor="t" rtlCol="false"/>
                    <a:lstStyle/>
                    <a:p>
                      <a:pPr algn="l">
                        <a:lnSpc>
                          <a:spcPts val="3240"/>
                        </a:lnSpc>
                        <a:defRPr/>
                      </a:pPr>
                      <a:r>
                        <a:rPr lang="en-US" sz="2700">
                          <a:solidFill>
                            <a:srgbClr val="000000"/>
                          </a:solidFill>
                          <a:latin typeface="Calibri (MS)"/>
                          <a:ea typeface="Calibri (MS)"/>
                          <a:cs typeface="Calibri (MS)"/>
                          <a:sym typeface="Calibri (MS)"/>
                        </a:rPr>
                        <a:t>Global Village Tech Park, Bengaluru</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7F0F7"/>
                    </a:solidFill>
                  </a:tcPr>
                </a:tc>
              </a:tr>
              <a:tr h="18728">
                <a:tc>
                  <a:txBody>
                    <a:bodyPr anchor="t" rtlCol="false"/>
                    <a:lstStyle/>
                    <a:p>
                      <a:pPr algn="l">
                        <a:lnSpc>
                          <a:spcPts val="3240"/>
                        </a:lnSpc>
                        <a:defRPr/>
                      </a:pPr>
                      <a:r>
                        <a:rPr lang="en-US" b="true" sz="2700">
                          <a:solidFill>
                            <a:srgbClr val="000000"/>
                          </a:solidFill>
                          <a:latin typeface="Calibri (MS) Bold"/>
                          <a:ea typeface="Calibri (MS) Bold"/>
                          <a:cs typeface="Calibri (MS) Bold"/>
                          <a:sym typeface="Calibri (MS) Bold"/>
                        </a:rPr>
                        <a:t>Team Members:</a:t>
                      </a:r>
                      <a:endParaRPr lang="en-US" sz="1100"/>
                    </a:p>
                    <a:p>
                      <a:pPr algn="l">
                        <a:lnSpc>
                          <a:spcPts val="3240"/>
                        </a:lnSpc>
                      </a:pPr>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CCDFEE"/>
                    </a:solidFill>
                  </a:tcPr>
                </a:tc>
                <a:tc>
                  <a:txBody>
                    <a:bodyPr anchor="t" rtlCol="false"/>
                    <a:lstStyle/>
                    <a:p>
                      <a:pPr algn="l">
                        <a:lnSpc>
                          <a:spcPts val="3240"/>
                        </a:lnSpc>
                        <a:defRPr/>
                      </a:pPr>
                      <a:r>
                        <a:rPr lang="en-US" sz="2700">
                          <a:solidFill>
                            <a:srgbClr val="000000"/>
                          </a:solidFill>
                          <a:latin typeface="Calibri (MS)"/>
                          <a:ea typeface="Calibri (MS)"/>
                          <a:cs typeface="Calibri (MS)"/>
                          <a:sym typeface="Calibri (MS)"/>
                        </a:rPr>
                        <a:t>Self (Individual)</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CCDFEE"/>
                    </a:solidFill>
                  </a:tcPr>
                </a:tc>
              </a:tr>
            </a:tbl>
          </a:graphicData>
        </a:graphic>
      </p:graphicFrame>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322803" y="9714938"/>
            <a:ext cx="672560" cy="551593"/>
            <a:chOff x="0" y="0"/>
            <a:chExt cx="896747" cy="735457"/>
          </a:xfrm>
        </p:grpSpPr>
        <p:sp>
          <p:nvSpPr>
            <p:cNvPr name="Freeform 3" id="3"/>
            <p:cNvSpPr/>
            <p:nvPr/>
          </p:nvSpPr>
          <p:spPr>
            <a:xfrm flipH="false" flipV="false" rot="0">
              <a:off x="0" y="0"/>
              <a:ext cx="896747" cy="735457"/>
            </a:xfrm>
            <a:custGeom>
              <a:avLst/>
              <a:gdLst/>
              <a:ahLst/>
              <a:cxnLst/>
              <a:rect r="r" b="b" t="t" l="l"/>
              <a:pathLst>
                <a:path h="735457" w="896747">
                  <a:moveTo>
                    <a:pt x="0" y="0"/>
                  </a:moveTo>
                  <a:lnTo>
                    <a:pt x="896747" y="0"/>
                  </a:lnTo>
                  <a:lnTo>
                    <a:pt x="896747" y="735457"/>
                  </a:lnTo>
                  <a:lnTo>
                    <a:pt x="0" y="735457"/>
                  </a:lnTo>
                  <a:lnTo>
                    <a:pt x="0" y="0"/>
                  </a:lnTo>
                  <a:close/>
                </a:path>
              </a:pathLst>
            </a:custGeom>
            <a:blipFill>
              <a:blip r:embed="rId2"/>
              <a:stretch>
                <a:fillRect l="0" t="-588" r="0" b="-587"/>
              </a:stretch>
            </a:blipFill>
          </p:spPr>
        </p:sp>
      </p:grpSp>
      <p:grpSp>
        <p:nvGrpSpPr>
          <p:cNvPr name="Group 4" id="4"/>
          <p:cNvGrpSpPr/>
          <p:nvPr/>
        </p:nvGrpSpPr>
        <p:grpSpPr>
          <a:xfrm rot="0">
            <a:off x="15896863" y="9938776"/>
            <a:ext cx="1100138" cy="230829"/>
            <a:chOff x="0" y="0"/>
            <a:chExt cx="1466850" cy="307772"/>
          </a:xfrm>
        </p:grpSpPr>
        <p:sp>
          <p:nvSpPr>
            <p:cNvPr name="Freeform 5" id="5"/>
            <p:cNvSpPr/>
            <p:nvPr/>
          </p:nvSpPr>
          <p:spPr>
            <a:xfrm flipH="false" flipV="false" rot="0">
              <a:off x="0" y="0"/>
              <a:ext cx="1466850" cy="307721"/>
            </a:xfrm>
            <a:custGeom>
              <a:avLst/>
              <a:gdLst/>
              <a:ahLst/>
              <a:cxnLst/>
              <a:rect r="r" b="b" t="t" l="l"/>
              <a:pathLst>
                <a:path h="307721" w="1466850">
                  <a:moveTo>
                    <a:pt x="0" y="0"/>
                  </a:moveTo>
                  <a:lnTo>
                    <a:pt x="1466850" y="0"/>
                  </a:lnTo>
                  <a:lnTo>
                    <a:pt x="1466850" y="307721"/>
                  </a:lnTo>
                  <a:lnTo>
                    <a:pt x="0" y="307721"/>
                  </a:lnTo>
                  <a:close/>
                </a:path>
              </a:pathLst>
            </a:custGeom>
            <a:blipFill>
              <a:blip r:embed="rId3">
                <a:alphaModFix amt="0"/>
              </a:blip>
              <a:stretch>
                <a:fillRect l="0" t="-42806" r="0" b="-42827"/>
              </a:stretch>
            </a:blipFill>
          </p:spPr>
        </p:sp>
      </p:grpSp>
      <p:grpSp>
        <p:nvGrpSpPr>
          <p:cNvPr name="Group 6" id="6"/>
          <p:cNvGrpSpPr/>
          <p:nvPr/>
        </p:nvGrpSpPr>
        <p:grpSpPr>
          <a:xfrm rot="0">
            <a:off x="15896863" y="9910201"/>
            <a:ext cx="1100138" cy="259404"/>
            <a:chOff x="0" y="0"/>
            <a:chExt cx="1466850" cy="345872"/>
          </a:xfrm>
        </p:grpSpPr>
        <p:sp>
          <p:nvSpPr>
            <p:cNvPr name="Freeform 7" id="7"/>
            <p:cNvSpPr/>
            <p:nvPr/>
          </p:nvSpPr>
          <p:spPr>
            <a:xfrm flipH="false" flipV="false" rot="0">
              <a:off x="0" y="0"/>
              <a:ext cx="1466851" cy="345872"/>
            </a:xfrm>
            <a:custGeom>
              <a:avLst/>
              <a:gdLst/>
              <a:ahLst/>
              <a:cxnLst/>
              <a:rect r="r" b="b" t="t" l="l"/>
              <a:pathLst>
                <a:path h="345872" w="1466851">
                  <a:moveTo>
                    <a:pt x="0" y="0"/>
                  </a:moveTo>
                  <a:lnTo>
                    <a:pt x="1466851" y="0"/>
                  </a:lnTo>
                  <a:lnTo>
                    <a:pt x="1466851" y="345872"/>
                  </a:lnTo>
                  <a:lnTo>
                    <a:pt x="0" y="345872"/>
                  </a:lnTo>
                  <a:close/>
                </a:path>
              </a:pathLst>
            </a:custGeom>
            <a:blipFill>
              <a:blip r:embed="rId4">
                <a:alphaModFix amt="0"/>
              </a:blip>
              <a:stretch>
                <a:fillRect l="0" t="-32636" r="0" b="-32636"/>
              </a:stretch>
            </a:blipFill>
          </p:spPr>
        </p:sp>
        <p:sp>
          <p:nvSpPr>
            <p:cNvPr name="TextBox 8" id="8"/>
            <p:cNvSpPr txBox="true"/>
            <p:nvPr/>
          </p:nvSpPr>
          <p:spPr>
            <a:xfrm>
              <a:off x="0" y="-38100"/>
              <a:ext cx="1466850" cy="383972"/>
            </a:xfrm>
            <a:prstGeom prst="rect">
              <a:avLst/>
            </a:prstGeom>
          </p:spPr>
          <p:txBody>
            <a:bodyPr anchor="ctr" rtlCol="false" tIns="0" lIns="0" bIns="0" rIns="0"/>
            <a:lstStyle/>
            <a:p>
              <a:pPr algn="r">
                <a:lnSpc>
                  <a:spcPts val="1800"/>
                </a:lnSpc>
              </a:pPr>
              <a:r>
                <a:rPr lang="en-US" sz="1500">
                  <a:solidFill>
                    <a:srgbClr val="000000"/>
                  </a:solidFill>
                  <a:latin typeface="Calibri (MS)"/>
                  <a:ea typeface="Calibri (MS)"/>
                  <a:cs typeface="Calibri (MS)"/>
                  <a:sym typeface="Calibri (MS)"/>
                </a:rPr>
                <a:t>‹#›</a:t>
              </a:r>
            </a:p>
          </p:txBody>
        </p:sp>
      </p:grpSp>
      <p:grpSp>
        <p:nvGrpSpPr>
          <p:cNvPr name="Group 9" id="9"/>
          <p:cNvGrpSpPr/>
          <p:nvPr/>
        </p:nvGrpSpPr>
        <p:grpSpPr>
          <a:xfrm rot="0">
            <a:off x="16497300" y="387296"/>
            <a:ext cx="1566958" cy="521018"/>
            <a:chOff x="0" y="0"/>
            <a:chExt cx="2089277" cy="694690"/>
          </a:xfrm>
        </p:grpSpPr>
        <p:sp>
          <p:nvSpPr>
            <p:cNvPr name="Freeform 10" id="10"/>
            <p:cNvSpPr/>
            <p:nvPr/>
          </p:nvSpPr>
          <p:spPr>
            <a:xfrm flipH="false" flipV="false" rot="0">
              <a:off x="0" y="0"/>
              <a:ext cx="2089277" cy="694690"/>
            </a:xfrm>
            <a:custGeom>
              <a:avLst/>
              <a:gdLst/>
              <a:ahLst/>
              <a:cxnLst/>
              <a:rect r="r" b="b" t="t" l="l"/>
              <a:pathLst>
                <a:path h="694690" w="2089277">
                  <a:moveTo>
                    <a:pt x="0" y="0"/>
                  </a:moveTo>
                  <a:lnTo>
                    <a:pt x="2089277" y="0"/>
                  </a:lnTo>
                  <a:lnTo>
                    <a:pt x="2089277" y="694690"/>
                  </a:lnTo>
                  <a:lnTo>
                    <a:pt x="0" y="694690"/>
                  </a:lnTo>
                  <a:lnTo>
                    <a:pt x="0" y="0"/>
                  </a:lnTo>
                  <a:close/>
                </a:path>
              </a:pathLst>
            </a:custGeom>
            <a:blipFill>
              <a:blip r:embed="rId5"/>
              <a:stretch>
                <a:fillRect l="-27" t="0" r="-27" b="0"/>
              </a:stretch>
            </a:blipFill>
          </p:spPr>
        </p:sp>
      </p:grpSp>
      <p:grpSp>
        <p:nvGrpSpPr>
          <p:cNvPr name="Group 11" id="11"/>
          <p:cNvGrpSpPr/>
          <p:nvPr/>
        </p:nvGrpSpPr>
        <p:grpSpPr>
          <a:xfrm rot="0">
            <a:off x="16497300" y="387296"/>
            <a:ext cx="1566958" cy="521018"/>
            <a:chOff x="0" y="0"/>
            <a:chExt cx="2089277" cy="694690"/>
          </a:xfrm>
        </p:grpSpPr>
        <p:sp>
          <p:nvSpPr>
            <p:cNvPr name="Freeform 12" id="12"/>
            <p:cNvSpPr/>
            <p:nvPr/>
          </p:nvSpPr>
          <p:spPr>
            <a:xfrm flipH="false" flipV="false" rot="0">
              <a:off x="0" y="0"/>
              <a:ext cx="2089277" cy="694690"/>
            </a:xfrm>
            <a:custGeom>
              <a:avLst/>
              <a:gdLst/>
              <a:ahLst/>
              <a:cxnLst/>
              <a:rect r="r" b="b" t="t" l="l"/>
              <a:pathLst>
                <a:path h="694690" w="2089277">
                  <a:moveTo>
                    <a:pt x="0" y="0"/>
                  </a:moveTo>
                  <a:lnTo>
                    <a:pt x="2089277" y="0"/>
                  </a:lnTo>
                  <a:lnTo>
                    <a:pt x="2089277" y="694690"/>
                  </a:lnTo>
                  <a:lnTo>
                    <a:pt x="0" y="694690"/>
                  </a:lnTo>
                  <a:lnTo>
                    <a:pt x="0" y="0"/>
                  </a:lnTo>
                  <a:close/>
                </a:path>
              </a:pathLst>
            </a:custGeom>
            <a:blipFill>
              <a:blip r:embed="rId5"/>
              <a:stretch>
                <a:fillRect l="-27" t="0" r="-27" b="0"/>
              </a:stretch>
            </a:blipFill>
          </p:spPr>
        </p:sp>
      </p:grpSp>
      <p:grpSp>
        <p:nvGrpSpPr>
          <p:cNvPr name="Group 13" id="13"/>
          <p:cNvGrpSpPr/>
          <p:nvPr/>
        </p:nvGrpSpPr>
        <p:grpSpPr>
          <a:xfrm rot="0">
            <a:off x="420624" y="268024"/>
            <a:ext cx="11110779" cy="554003"/>
            <a:chOff x="0" y="0"/>
            <a:chExt cx="14814372" cy="738670"/>
          </a:xfrm>
        </p:grpSpPr>
        <p:sp>
          <p:nvSpPr>
            <p:cNvPr name="Freeform 14" id="14"/>
            <p:cNvSpPr/>
            <p:nvPr/>
          </p:nvSpPr>
          <p:spPr>
            <a:xfrm flipH="false" flipV="false" rot="0">
              <a:off x="0" y="0"/>
              <a:ext cx="14814423" cy="738632"/>
            </a:xfrm>
            <a:custGeom>
              <a:avLst/>
              <a:gdLst/>
              <a:ahLst/>
              <a:cxnLst/>
              <a:rect r="r" b="b" t="t" l="l"/>
              <a:pathLst>
                <a:path h="738632" w="14814423">
                  <a:moveTo>
                    <a:pt x="0" y="0"/>
                  </a:moveTo>
                  <a:lnTo>
                    <a:pt x="14814423" y="0"/>
                  </a:lnTo>
                  <a:lnTo>
                    <a:pt x="14814423" y="738632"/>
                  </a:lnTo>
                  <a:lnTo>
                    <a:pt x="0" y="738632"/>
                  </a:lnTo>
                  <a:close/>
                </a:path>
              </a:pathLst>
            </a:custGeom>
            <a:blipFill>
              <a:blip r:embed="rId3">
                <a:alphaModFix amt="0"/>
              </a:blip>
              <a:stretch>
                <a:fillRect l="0" t="-340527" r="0" b="-340531"/>
              </a:stretch>
            </a:blipFill>
          </p:spPr>
        </p:sp>
      </p:grpSp>
      <p:grpSp>
        <p:nvGrpSpPr>
          <p:cNvPr name="Group 15" id="15"/>
          <p:cNvGrpSpPr/>
          <p:nvPr/>
        </p:nvGrpSpPr>
        <p:grpSpPr>
          <a:xfrm rot="0">
            <a:off x="420624" y="260880"/>
            <a:ext cx="11110779" cy="561146"/>
            <a:chOff x="0" y="0"/>
            <a:chExt cx="14814372" cy="748195"/>
          </a:xfrm>
        </p:grpSpPr>
        <p:sp>
          <p:nvSpPr>
            <p:cNvPr name="Freeform 16" id="16"/>
            <p:cNvSpPr/>
            <p:nvPr/>
          </p:nvSpPr>
          <p:spPr>
            <a:xfrm flipH="false" flipV="false" rot="0">
              <a:off x="0" y="0"/>
              <a:ext cx="14814372" cy="748196"/>
            </a:xfrm>
            <a:custGeom>
              <a:avLst/>
              <a:gdLst/>
              <a:ahLst/>
              <a:cxnLst/>
              <a:rect r="r" b="b" t="t" l="l"/>
              <a:pathLst>
                <a:path h="748196" w="14814372">
                  <a:moveTo>
                    <a:pt x="0" y="0"/>
                  </a:moveTo>
                  <a:lnTo>
                    <a:pt x="14814372" y="0"/>
                  </a:lnTo>
                  <a:lnTo>
                    <a:pt x="14814372" y="748196"/>
                  </a:lnTo>
                  <a:lnTo>
                    <a:pt x="0" y="748196"/>
                  </a:lnTo>
                  <a:close/>
                </a:path>
              </a:pathLst>
            </a:custGeom>
            <a:blipFill>
              <a:blip r:embed="rId4">
                <a:alphaModFix amt="0"/>
              </a:blip>
              <a:stretch>
                <a:fillRect l="0" t="-335806" r="0" b="-335806"/>
              </a:stretch>
            </a:blipFill>
          </p:spPr>
        </p:sp>
        <p:sp>
          <p:nvSpPr>
            <p:cNvPr name="TextBox 17" id="17"/>
            <p:cNvSpPr txBox="true"/>
            <p:nvPr/>
          </p:nvSpPr>
          <p:spPr>
            <a:xfrm>
              <a:off x="0" y="-9525"/>
              <a:ext cx="14814372" cy="757720"/>
            </a:xfrm>
            <a:prstGeom prst="rect">
              <a:avLst/>
            </a:prstGeom>
          </p:spPr>
          <p:txBody>
            <a:bodyPr anchor="ctr" rtlCol="false" tIns="0" lIns="0" bIns="0" rIns="0"/>
            <a:lstStyle/>
            <a:p>
              <a:pPr algn="l">
                <a:lnSpc>
                  <a:spcPts val="4211"/>
                </a:lnSpc>
              </a:pPr>
              <a:r>
                <a:rPr lang="en-US" sz="3509" b="true">
                  <a:solidFill>
                    <a:srgbClr val="22988A"/>
                  </a:solidFill>
                  <a:latin typeface="Aptos Bold"/>
                  <a:ea typeface="Aptos Bold"/>
                  <a:cs typeface="Aptos Bold"/>
                  <a:sym typeface="Aptos Bold"/>
                </a:rPr>
                <a:t>Problem Statement </a:t>
              </a:r>
            </a:p>
          </p:txBody>
        </p:sp>
      </p:grpSp>
      <p:graphicFrame>
        <p:nvGraphicFramePr>
          <p:cNvPr name="Table 18" id="18"/>
          <p:cNvGraphicFramePr>
            <a:graphicFrameLocks noGrp="true"/>
          </p:cNvGraphicFramePr>
          <p:nvPr/>
        </p:nvGraphicFramePr>
        <p:xfrm>
          <a:off x="769414" y="1028700"/>
          <a:ext cx="16738600" cy="8661400"/>
        </p:xfrm>
        <a:graphic>
          <a:graphicData uri="http://schemas.openxmlformats.org/drawingml/2006/table">
            <a:tbl>
              <a:tblPr/>
              <a:tblGrid>
                <a:gridCol w="7676722"/>
                <a:gridCol w="9061878"/>
              </a:tblGrid>
              <a:tr h="803699">
                <a:tc>
                  <a:txBody>
                    <a:bodyPr anchor="t" rtlCol="false"/>
                    <a:lstStyle/>
                    <a:p>
                      <a:pPr algn="ctr">
                        <a:lnSpc>
                          <a:spcPts val="3600"/>
                        </a:lnSpc>
                        <a:defRPr/>
                      </a:pPr>
                      <a:r>
                        <a:rPr lang="en-US" sz="3000" b="true">
                          <a:solidFill>
                            <a:srgbClr val="FFFFFF"/>
                          </a:solidFill>
                          <a:latin typeface="Calibri (MS) Bold"/>
                          <a:ea typeface="Calibri (MS) Bold"/>
                          <a:cs typeface="Calibri (MS) Bold"/>
                          <a:sym typeface="Calibri (MS) Bold"/>
                        </a:rPr>
                        <a:t>Questions</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99DD1"/>
                    </a:solidFill>
                  </a:tcPr>
                </a:tc>
                <a:tc>
                  <a:txBody>
                    <a:bodyPr anchor="t" rtlCol="false"/>
                    <a:lstStyle/>
                    <a:p>
                      <a:pPr algn="ctr">
                        <a:lnSpc>
                          <a:spcPts val="3600"/>
                        </a:lnSpc>
                        <a:defRPr/>
                      </a:pPr>
                      <a:r>
                        <a:rPr lang="en-US" sz="3000" b="true">
                          <a:solidFill>
                            <a:srgbClr val="FFFFFF"/>
                          </a:solidFill>
                          <a:latin typeface="Calibri (MS) Bold"/>
                          <a:ea typeface="Calibri (MS) Bold"/>
                          <a:cs typeface="Calibri (MS) Bold"/>
                          <a:sym typeface="Calibri (MS) Bold"/>
                        </a:rPr>
                        <a:t>Answers</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99DD1"/>
                    </a:solidFill>
                  </a:tcPr>
                </a:tc>
              </a:tr>
              <a:tr h="1550673">
                <a:tc>
                  <a:txBody>
                    <a:bodyPr anchor="t" rtlCol="false"/>
                    <a:lstStyle/>
                    <a:p>
                      <a:pPr algn="l">
                        <a:lnSpc>
                          <a:spcPts val="3240"/>
                        </a:lnSpc>
                        <a:defRPr/>
                      </a:pPr>
                      <a:r>
                        <a:rPr lang="en-US" sz="2700" b="true">
                          <a:solidFill>
                            <a:srgbClr val="000000"/>
                          </a:solidFill>
                          <a:latin typeface="Calibri (MS) Bold"/>
                          <a:ea typeface="Calibri (MS) Bold"/>
                          <a:cs typeface="Calibri (MS) Bold"/>
                          <a:sym typeface="Calibri (MS) Bold"/>
                        </a:rPr>
                        <a:t>What problem are you trying to solve?</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CCDFEE"/>
                    </a:solidFill>
                  </a:tcPr>
                </a:tc>
                <a:tc>
                  <a:txBody>
                    <a:bodyPr anchor="t" rtlCol="false"/>
                    <a:lstStyle/>
                    <a:p>
                      <a:pPr algn="just">
                        <a:lnSpc>
                          <a:spcPts val="3240"/>
                        </a:lnSpc>
                        <a:defRPr/>
                      </a:pPr>
                      <a:r>
                        <a:rPr lang="en-US" sz="2700">
                          <a:solidFill>
                            <a:srgbClr val="000000"/>
                          </a:solidFill>
                          <a:latin typeface="Calibri (MS)"/>
                          <a:ea typeface="Calibri (MS)"/>
                          <a:cs typeface="Calibri (MS)"/>
                          <a:sym typeface="Calibri (MS)"/>
                        </a:rPr>
                        <a:t>Traditional banking fraud detection systems fail to identify evolving fraud patterns in real time, leading to financial losses, delayed response, and high false-positive rates.</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CCDFEE"/>
                    </a:solidFill>
                  </a:tcPr>
                </a:tc>
              </a:tr>
              <a:tr h="2392520">
                <a:tc>
                  <a:txBody>
                    <a:bodyPr anchor="t" rtlCol="false"/>
                    <a:lstStyle/>
                    <a:p>
                      <a:pPr algn="l">
                        <a:lnSpc>
                          <a:spcPts val="3240"/>
                        </a:lnSpc>
                        <a:defRPr/>
                      </a:pPr>
                      <a:r>
                        <a:rPr lang="en-US" sz="2700" b="true">
                          <a:solidFill>
                            <a:srgbClr val="000000"/>
                          </a:solidFill>
                          <a:latin typeface="Calibri (MS) Bold"/>
                          <a:ea typeface="Calibri (MS) Bold"/>
                          <a:cs typeface="Calibri (MS) Bold"/>
                          <a:sym typeface="Calibri (MS) Bold"/>
                        </a:rPr>
                        <a:t>Please define the identified business need and importance to business</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7F0F7"/>
                    </a:solidFill>
                  </a:tcPr>
                </a:tc>
                <a:tc>
                  <a:txBody>
                    <a:bodyPr anchor="t" rtlCol="false"/>
                    <a:lstStyle/>
                    <a:p>
                      <a:pPr algn="just">
                        <a:lnSpc>
                          <a:spcPts val="3240"/>
                        </a:lnSpc>
                        <a:defRPr/>
                      </a:pPr>
                      <a:r>
                        <a:rPr lang="en-US" sz="2700">
                          <a:solidFill>
                            <a:srgbClr val="000000"/>
                          </a:solidFill>
                          <a:latin typeface="Calibri (MS)"/>
                          <a:ea typeface="Calibri (MS)"/>
                          <a:cs typeface="Calibri (MS)"/>
                          <a:sym typeface="Calibri (MS)"/>
                        </a:rPr>
                        <a:t>Need: An AI-powered real-time fraud detection platform capable of identifying suspicious transactions instantly. Importance: Reduces fraud losses, improves customer trust, automates incident response, and minimizes manual investigation effort.</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7F0F7"/>
                    </a:solidFill>
                  </a:tcPr>
                </a:tc>
              </a:tr>
              <a:tr h="1957254">
                <a:tc>
                  <a:txBody>
                    <a:bodyPr anchor="t" rtlCol="false"/>
                    <a:lstStyle/>
                    <a:p>
                      <a:pPr algn="l">
                        <a:lnSpc>
                          <a:spcPts val="3240"/>
                        </a:lnSpc>
                        <a:defRPr/>
                      </a:pPr>
                      <a:r>
                        <a:rPr lang="en-US" sz="2700" b="true">
                          <a:solidFill>
                            <a:srgbClr val="000000"/>
                          </a:solidFill>
                          <a:latin typeface="Calibri (MS) Bold"/>
                          <a:ea typeface="Calibri (MS) Bold"/>
                          <a:cs typeface="Calibri (MS) Bold"/>
                          <a:sym typeface="Calibri (MS) Bold"/>
                        </a:rPr>
                        <a:t>Who is affected by this problem? What improvements are assumed to be brought by implementation?</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CCDFEE"/>
                    </a:solidFill>
                  </a:tcPr>
                </a:tc>
                <a:tc>
                  <a:txBody>
                    <a:bodyPr anchor="t" rtlCol="false"/>
                    <a:lstStyle/>
                    <a:p>
                      <a:pPr algn="just">
                        <a:lnSpc>
                          <a:spcPts val="3240"/>
                        </a:lnSpc>
                        <a:defRPr/>
                      </a:pPr>
                      <a:r>
                        <a:rPr lang="en-US" sz="2700">
                          <a:solidFill>
                            <a:srgbClr val="000000"/>
                          </a:solidFill>
                          <a:latin typeface="Calibri (MS)"/>
                          <a:ea typeface="Calibri (MS)"/>
                          <a:cs typeface="Calibri (MS)"/>
                          <a:sym typeface="Calibri (MS)"/>
                        </a:rPr>
                        <a:t>Affected: Banking customers, fraud analysts, compliance teams, and financial institutions. Improvements: Faster fraud detection, reduced false positives, automated escalation, secure OTP verification, and improved operational efficiency.</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CCDFEE"/>
                    </a:solidFill>
                  </a:tcPr>
                </a:tc>
              </a:tr>
              <a:tr h="1957254">
                <a:tc>
                  <a:txBody>
                    <a:bodyPr anchor="t" rtlCol="false"/>
                    <a:lstStyle/>
                    <a:p>
                      <a:pPr algn="l">
                        <a:lnSpc>
                          <a:spcPts val="3240"/>
                        </a:lnSpc>
                        <a:defRPr/>
                      </a:pPr>
                      <a:r>
                        <a:rPr lang="en-US" sz="2700" b="true">
                          <a:solidFill>
                            <a:srgbClr val="000000"/>
                          </a:solidFill>
                          <a:latin typeface="Calibri (MS) Bold"/>
                          <a:ea typeface="Calibri (MS) Bold"/>
                          <a:cs typeface="Calibri (MS) Bold"/>
                          <a:sym typeface="Calibri (MS) Bold"/>
                        </a:rPr>
                        <a:t>What made you choose this problem?</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7F0F7"/>
                    </a:solidFill>
                  </a:tcPr>
                </a:tc>
                <a:tc>
                  <a:txBody>
                    <a:bodyPr anchor="t" rtlCol="false"/>
                    <a:lstStyle/>
                    <a:p>
                      <a:pPr algn="l">
                        <a:lnSpc>
                          <a:spcPts val="3240"/>
                        </a:lnSpc>
                        <a:defRPr/>
                      </a:pPr>
                      <a:r>
                        <a:rPr lang="en-US" sz="2700">
                          <a:solidFill>
                            <a:srgbClr val="000000"/>
                          </a:solidFill>
                          <a:latin typeface="Calibri (MS)"/>
                          <a:ea typeface="Calibri (MS)"/>
                          <a:cs typeface="Calibri (MS)"/>
                          <a:sym typeface="Calibri (MS)"/>
                        </a:rPr>
                        <a:t>Digital banking transactions are increasing rapidly, making fraud prevention a critical challenge. I wanted to build an intelligent and scalable AI-driven security solution with real-world impact.</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7F0F7"/>
                    </a:solidFill>
                  </a:tcPr>
                </a:tc>
              </a:tr>
            </a:tbl>
          </a:graphicData>
        </a:graphic>
      </p:graphicFrame>
      <p:grpSp>
        <p:nvGrpSpPr>
          <p:cNvPr name="Group 19" id="19"/>
          <p:cNvGrpSpPr/>
          <p:nvPr/>
        </p:nvGrpSpPr>
        <p:grpSpPr>
          <a:xfrm rot="0">
            <a:off x="438912" y="9938776"/>
            <a:ext cx="4811963" cy="230829"/>
            <a:chOff x="0" y="0"/>
            <a:chExt cx="6415951" cy="307772"/>
          </a:xfrm>
        </p:grpSpPr>
        <p:sp>
          <p:nvSpPr>
            <p:cNvPr name="Freeform 20" id="20"/>
            <p:cNvSpPr/>
            <p:nvPr/>
          </p:nvSpPr>
          <p:spPr>
            <a:xfrm flipH="false" flipV="false" rot="0">
              <a:off x="0" y="0"/>
              <a:ext cx="6415913" cy="307721"/>
            </a:xfrm>
            <a:custGeom>
              <a:avLst/>
              <a:gdLst/>
              <a:ahLst/>
              <a:cxnLst/>
              <a:rect r="r" b="b" t="t" l="l"/>
              <a:pathLst>
                <a:path h="307721" w="6415913">
                  <a:moveTo>
                    <a:pt x="0" y="0"/>
                  </a:moveTo>
                  <a:lnTo>
                    <a:pt x="6415913" y="0"/>
                  </a:lnTo>
                  <a:lnTo>
                    <a:pt x="6415913" y="307721"/>
                  </a:lnTo>
                  <a:lnTo>
                    <a:pt x="0" y="307721"/>
                  </a:lnTo>
                  <a:close/>
                </a:path>
              </a:pathLst>
            </a:custGeom>
            <a:blipFill>
              <a:blip r:embed="rId3">
                <a:alphaModFix amt="0"/>
              </a:blip>
              <a:stretch>
                <a:fillRect l="0" t="-355967" r="0" b="-355988"/>
              </a:stretch>
            </a:blipFill>
          </p:spPr>
        </p:sp>
      </p:grpSp>
      <p:grpSp>
        <p:nvGrpSpPr>
          <p:cNvPr name="Group 21" id="21"/>
          <p:cNvGrpSpPr/>
          <p:nvPr/>
        </p:nvGrpSpPr>
        <p:grpSpPr>
          <a:xfrm rot="0">
            <a:off x="591312" y="10091176"/>
            <a:ext cx="4811963" cy="230829"/>
            <a:chOff x="0" y="0"/>
            <a:chExt cx="6415951" cy="307772"/>
          </a:xfrm>
        </p:grpSpPr>
        <p:sp>
          <p:nvSpPr>
            <p:cNvPr name="Freeform 22" id="22"/>
            <p:cNvSpPr/>
            <p:nvPr/>
          </p:nvSpPr>
          <p:spPr>
            <a:xfrm flipH="false" flipV="false" rot="0">
              <a:off x="0" y="0"/>
              <a:ext cx="6415948" cy="307776"/>
            </a:xfrm>
            <a:custGeom>
              <a:avLst/>
              <a:gdLst/>
              <a:ahLst/>
              <a:cxnLst/>
              <a:rect r="r" b="b" t="t" l="l"/>
              <a:pathLst>
                <a:path h="307776" w="6415948">
                  <a:moveTo>
                    <a:pt x="0" y="0"/>
                  </a:moveTo>
                  <a:lnTo>
                    <a:pt x="6415948" y="0"/>
                  </a:lnTo>
                  <a:lnTo>
                    <a:pt x="6415948" y="307776"/>
                  </a:lnTo>
                  <a:lnTo>
                    <a:pt x="0" y="307776"/>
                  </a:lnTo>
                  <a:close/>
                </a:path>
              </a:pathLst>
            </a:custGeom>
            <a:blipFill>
              <a:blip r:embed="rId4">
                <a:alphaModFix amt="0"/>
              </a:blip>
              <a:stretch>
                <a:fillRect l="0" t="-356189" r="0" b="-356187"/>
              </a:stretch>
            </a:blipFill>
          </p:spPr>
        </p:sp>
        <p:sp>
          <p:nvSpPr>
            <p:cNvPr name="TextBox 23" id="23"/>
            <p:cNvSpPr txBox="true"/>
            <p:nvPr/>
          </p:nvSpPr>
          <p:spPr>
            <a:xfrm>
              <a:off x="0" y="-38100"/>
              <a:ext cx="6415951" cy="345872"/>
            </a:xfrm>
            <a:prstGeom prst="rect">
              <a:avLst/>
            </a:prstGeom>
          </p:spPr>
          <p:txBody>
            <a:bodyPr anchor="ctr" rtlCol="false" tIns="0" lIns="0" bIns="0" rIns="0"/>
            <a:lstStyle/>
            <a:p>
              <a:pPr algn="l">
                <a:lnSpc>
                  <a:spcPts val="1800"/>
                </a:lnSpc>
              </a:pPr>
              <a:r>
                <a:rPr lang="en-US" sz="1500">
                  <a:solidFill>
                    <a:srgbClr val="000000"/>
                  </a:solidFill>
                  <a:latin typeface="Calibri (MS)"/>
                  <a:ea typeface="Calibri (MS)"/>
                  <a:cs typeface="Calibri (MS)"/>
                  <a:sym typeface="Calibri (MS)"/>
                </a:rPr>
                <a:t>© Mphasis 2025  Proprietary and confidential information</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322803" y="9714938"/>
            <a:ext cx="672560" cy="551593"/>
            <a:chOff x="0" y="0"/>
            <a:chExt cx="896747" cy="735457"/>
          </a:xfrm>
        </p:grpSpPr>
        <p:sp>
          <p:nvSpPr>
            <p:cNvPr name="Freeform 3" id="3"/>
            <p:cNvSpPr/>
            <p:nvPr/>
          </p:nvSpPr>
          <p:spPr>
            <a:xfrm flipH="false" flipV="false" rot="0">
              <a:off x="0" y="0"/>
              <a:ext cx="896747" cy="735457"/>
            </a:xfrm>
            <a:custGeom>
              <a:avLst/>
              <a:gdLst/>
              <a:ahLst/>
              <a:cxnLst/>
              <a:rect r="r" b="b" t="t" l="l"/>
              <a:pathLst>
                <a:path h="735457" w="896747">
                  <a:moveTo>
                    <a:pt x="0" y="0"/>
                  </a:moveTo>
                  <a:lnTo>
                    <a:pt x="896747" y="0"/>
                  </a:lnTo>
                  <a:lnTo>
                    <a:pt x="896747" y="735457"/>
                  </a:lnTo>
                  <a:lnTo>
                    <a:pt x="0" y="735457"/>
                  </a:lnTo>
                  <a:lnTo>
                    <a:pt x="0" y="0"/>
                  </a:lnTo>
                  <a:close/>
                </a:path>
              </a:pathLst>
            </a:custGeom>
            <a:blipFill>
              <a:blip r:embed="rId2"/>
              <a:stretch>
                <a:fillRect l="0" t="-588" r="0" b="-587"/>
              </a:stretch>
            </a:blipFill>
          </p:spPr>
        </p:sp>
      </p:grpSp>
      <p:grpSp>
        <p:nvGrpSpPr>
          <p:cNvPr name="Group 4" id="4"/>
          <p:cNvGrpSpPr/>
          <p:nvPr/>
        </p:nvGrpSpPr>
        <p:grpSpPr>
          <a:xfrm rot="0">
            <a:off x="438912" y="9938776"/>
            <a:ext cx="4811963" cy="230829"/>
            <a:chOff x="0" y="0"/>
            <a:chExt cx="6415951" cy="307772"/>
          </a:xfrm>
        </p:grpSpPr>
        <p:sp>
          <p:nvSpPr>
            <p:cNvPr name="Freeform 5" id="5"/>
            <p:cNvSpPr/>
            <p:nvPr/>
          </p:nvSpPr>
          <p:spPr>
            <a:xfrm flipH="false" flipV="false" rot="0">
              <a:off x="0" y="0"/>
              <a:ext cx="6415913" cy="307721"/>
            </a:xfrm>
            <a:custGeom>
              <a:avLst/>
              <a:gdLst/>
              <a:ahLst/>
              <a:cxnLst/>
              <a:rect r="r" b="b" t="t" l="l"/>
              <a:pathLst>
                <a:path h="307721" w="6415913">
                  <a:moveTo>
                    <a:pt x="0" y="0"/>
                  </a:moveTo>
                  <a:lnTo>
                    <a:pt x="6415913" y="0"/>
                  </a:lnTo>
                  <a:lnTo>
                    <a:pt x="6415913" y="307721"/>
                  </a:lnTo>
                  <a:lnTo>
                    <a:pt x="0" y="307721"/>
                  </a:lnTo>
                  <a:close/>
                </a:path>
              </a:pathLst>
            </a:custGeom>
            <a:blipFill>
              <a:blip r:embed="rId3">
                <a:alphaModFix amt="0"/>
              </a:blip>
              <a:stretch>
                <a:fillRect l="0" t="-355967" r="0" b="-355988"/>
              </a:stretch>
            </a:blipFill>
          </p:spPr>
        </p:sp>
      </p:grpSp>
      <p:grpSp>
        <p:nvGrpSpPr>
          <p:cNvPr name="Group 6" id="6"/>
          <p:cNvGrpSpPr/>
          <p:nvPr/>
        </p:nvGrpSpPr>
        <p:grpSpPr>
          <a:xfrm rot="0">
            <a:off x="15896863" y="9938776"/>
            <a:ext cx="1100138" cy="230829"/>
            <a:chOff x="0" y="0"/>
            <a:chExt cx="1466850" cy="307772"/>
          </a:xfrm>
        </p:grpSpPr>
        <p:sp>
          <p:nvSpPr>
            <p:cNvPr name="Freeform 7" id="7"/>
            <p:cNvSpPr/>
            <p:nvPr/>
          </p:nvSpPr>
          <p:spPr>
            <a:xfrm flipH="false" flipV="false" rot="0">
              <a:off x="0" y="0"/>
              <a:ext cx="1466850" cy="307721"/>
            </a:xfrm>
            <a:custGeom>
              <a:avLst/>
              <a:gdLst/>
              <a:ahLst/>
              <a:cxnLst/>
              <a:rect r="r" b="b" t="t" l="l"/>
              <a:pathLst>
                <a:path h="307721" w="1466850">
                  <a:moveTo>
                    <a:pt x="0" y="0"/>
                  </a:moveTo>
                  <a:lnTo>
                    <a:pt x="1466850" y="0"/>
                  </a:lnTo>
                  <a:lnTo>
                    <a:pt x="1466850" y="307721"/>
                  </a:lnTo>
                  <a:lnTo>
                    <a:pt x="0" y="307721"/>
                  </a:lnTo>
                  <a:close/>
                </a:path>
              </a:pathLst>
            </a:custGeom>
            <a:blipFill>
              <a:blip r:embed="rId3">
                <a:alphaModFix amt="0"/>
              </a:blip>
              <a:stretch>
                <a:fillRect l="0" t="-42806" r="0" b="-42827"/>
              </a:stretch>
            </a:blipFill>
          </p:spPr>
        </p:sp>
      </p:grpSp>
      <p:grpSp>
        <p:nvGrpSpPr>
          <p:cNvPr name="Group 8" id="8"/>
          <p:cNvGrpSpPr/>
          <p:nvPr/>
        </p:nvGrpSpPr>
        <p:grpSpPr>
          <a:xfrm rot="0">
            <a:off x="15896863" y="9910201"/>
            <a:ext cx="1100138" cy="259404"/>
            <a:chOff x="0" y="0"/>
            <a:chExt cx="1466850" cy="345872"/>
          </a:xfrm>
        </p:grpSpPr>
        <p:sp>
          <p:nvSpPr>
            <p:cNvPr name="Freeform 9" id="9"/>
            <p:cNvSpPr/>
            <p:nvPr/>
          </p:nvSpPr>
          <p:spPr>
            <a:xfrm flipH="false" flipV="false" rot="0">
              <a:off x="0" y="0"/>
              <a:ext cx="1466851" cy="345872"/>
            </a:xfrm>
            <a:custGeom>
              <a:avLst/>
              <a:gdLst/>
              <a:ahLst/>
              <a:cxnLst/>
              <a:rect r="r" b="b" t="t" l="l"/>
              <a:pathLst>
                <a:path h="345872" w="1466851">
                  <a:moveTo>
                    <a:pt x="0" y="0"/>
                  </a:moveTo>
                  <a:lnTo>
                    <a:pt x="1466851" y="0"/>
                  </a:lnTo>
                  <a:lnTo>
                    <a:pt x="1466851" y="345872"/>
                  </a:lnTo>
                  <a:lnTo>
                    <a:pt x="0" y="345872"/>
                  </a:lnTo>
                  <a:close/>
                </a:path>
              </a:pathLst>
            </a:custGeom>
            <a:blipFill>
              <a:blip r:embed="rId4">
                <a:alphaModFix amt="0"/>
              </a:blip>
              <a:stretch>
                <a:fillRect l="0" t="-32636" r="0" b="-32636"/>
              </a:stretch>
            </a:blipFill>
          </p:spPr>
        </p:sp>
        <p:sp>
          <p:nvSpPr>
            <p:cNvPr name="TextBox 10" id="10"/>
            <p:cNvSpPr txBox="true"/>
            <p:nvPr/>
          </p:nvSpPr>
          <p:spPr>
            <a:xfrm>
              <a:off x="0" y="-38100"/>
              <a:ext cx="1466850" cy="383972"/>
            </a:xfrm>
            <a:prstGeom prst="rect">
              <a:avLst/>
            </a:prstGeom>
          </p:spPr>
          <p:txBody>
            <a:bodyPr anchor="ctr" rtlCol="false" tIns="0" lIns="0" bIns="0" rIns="0"/>
            <a:lstStyle/>
            <a:p>
              <a:pPr algn="r">
                <a:lnSpc>
                  <a:spcPts val="1800"/>
                </a:lnSpc>
              </a:pPr>
              <a:r>
                <a:rPr lang="en-US" sz="1500">
                  <a:solidFill>
                    <a:srgbClr val="000000"/>
                  </a:solidFill>
                  <a:latin typeface="Calibri (MS)"/>
                  <a:ea typeface="Calibri (MS)"/>
                  <a:cs typeface="Calibri (MS)"/>
                  <a:sym typeface="Calibri (MS)"/>
                </a:rPr>
                <a:t>‹#›</a:t>
              </a:r>
            </a:p>
          </p:txBody>
        </p:sp>
      </p:grpSp>
      <p:grpSp>
        <p:nvGrpSpPr>
          <p:cNvPr name="Group 11" id="11"/>
          <p:cNvGrpSpPr/>
          <p:nvPr/>
        </p:nvGrpSpPr>
        <p:grpSpPr>
          <a:xfrm rot="0">
            <a:off x="16497300" y="387296"/>
            <a:ext cx="1566958" cy="521018"/>
            <a:chOff x="0" y="0"/>
            <a:chExt cx="2089277" cy="694690"/>
          </a:xfrm>
        </p:grpSpPr>
        <p:sp>
          <p:nvSpPr>
            <p:cNvPr name="Freeform 12" id="12"/>
            <p:cNvSpPr/>
            <p:nvPr/>
          </p:nvSpPr>
          <p:spPr>
            <a:xfrm flipH="false" flipV="false" rot="0">
              <a:off x="0" y="0"/>
              <a:ext cx="2089277" cy="694690"/>
            </a:xfrm>
            <a:custGeom>
              <a:avLst/>
              <a:gdLst/>
              <a:ahLst/>
              <a:cxnLst/>
              <a:rect r="r" b="b" t="t" l="l"/>
              <a:pathLst>
                <a:path h="694690" w="2089277">
                  <a:moveTo>
                    <a:pt x="0" y="0"/>
                  </a:moveTo>
                  <a:lnTo>
                    <a:pt x="2089277" y="0"/>
                  </a:lnTo>
                  <a:lnTo>
                    <a:pt x="2089277" y="694690"/>
                  </a:lnTo>
                  <a:lnTo>
                    <a:pt x="0" y="694690"/>
                  </a:lnTo>
                  <a:lnTo>
                    <a:pt x="0" y="0"/>
                  </a:lnTo>
                  <a:close/>
                </a:path>
              </a:pathLst>
            </a:custGeom>
            <a:blipFill>
              <a:blip r:embed="rId5"/>
              <a:stretch>
                <a:fillRect l="-27" t="0" r="-27" b="0"/>
              </a:stretch>
            </a:blipFill>
          </p:spPr>
        </p:sp>
      </p:grpSp>
      <p:grpSp>
        <p:nvGrpSpPr>
          <p:cNvPr name="Group 13" id="13"/>
          <p:cNvGrpSpPr/>
          <p:nvPr/>
        </p:nvGrpSpPr>
        <p:grpSpPr>
          <a:xfrm rot="0">
            <a:off x="16497300" y="387296"/>
            <a:ext cx="1566958" cy="521018"/>
            <a:chOff x="0" y="0"/>
            <a:chExt cx="2089277" cy="694690"/>
          </a:xfrm>
        </p:grpSpPr>
        <p:sp>
          <p:nvSpPr>
            <p:cNvPr name="Freeform 14" id="14"/>
            <p:cNvSpPr/>
            <p:nvPr/>
          </p:nvSpPr>
          <p:spPr>
            <a:xfrm flipH="false" flipV="false" rot="0">
              <a:off x="0" y="0"/>
              <a:ext cx="2089277" cy="694690"/>
            </a:xfrm>
            <a:custGeom>
              <a:avLst/>
              <a:gdLst/>
              <a:ahLst/>
              <a:cxnLst/>
              <a:rect r="r" b="b" t="t" l="l"/>
              <a:pathLst>
                <a:path h="694690" w="2089277">
                  <a:moveTo>
                    <a:pt x="0" y="0"/>
                  </a:moveTo>
                  <a:lnTo>
                    <a:pt x="2089277" y="0"/>
                  </a:lnTo>
                  <a:lnTo>
                    <a:pt x="2089277" y="694690"/>
                  </a:lnTo>
                  <a:lnTo>
                    <a:pt x="0" y="694690"/>
                  </a:lnTo>
                  <a:lnTo>
                    <a:pt x="0" y="0"/>
                  </a:lnTo>
                  <a:close/>
                </a:path>
              </a:pathLst>
            </a:custGeom>
            <a:blipFill>
              <a:blip r:embed="rId5"/>
              <a:stretch>
                <a:fillRect l="-27" t="0" r="-27" b="0"/>
              </a:stretch>
            </a:blipFill>
          </p:spPr>
        </p:sp>
      </p:grpSp>
      <p:grpSp>
        <p:nvGrpSpPr>
          <p:cNvPr name="Group 15" id="15"/>
          <p:cNvGrpSpPr/>
          <p:nvPr/>
        </p:nvGrpSpPr>
        <p:grpSpPr>
          <a:xfrm rot="0">
            <a:off x="420624" y="268024"/>
            <a:ext cx="11110779" cy="554003"/>
            <a:chOff x="0" y="0"/>
            <a:chExt cx="14814372" cy="738670"/>
          </a:xfrm>
        </p:grpSpPr>
        <p:sp>
          <p:nvSpPr>
            <p:cNvPr name="Freeform 16" id="16"/>
            <p:cNvSpPr/>
            <p:nvPr/>
          </p:nvSpPr>
          <p:spPr>
            <a:xfrm flipH="false" flipV="false" rot="0">
              <a:off x="0" y="0"/>
              <a:ext cx="14814423" cy="738632"/>
            </a:xfrm>
            <a:custGeom>
              <a:avLst/>
              <a:gdLst/>
              <a:ahLst/>
              <a:cxnLst/>
              <a:rect r="r" b="b" t="t" l="l"/>
              <a:pathLst>
                <a:path h="738632" w="14814423">
                  <a:moveTo>
                    <a:pt x="0" y="0"/>
                  </a:moveTo>
                  <a:lnTo>
                    <a:pt x="14814423" y="0"/>
                  </a:lnTo>
                  <a:lnTo>
                    <a:pt x="14814423" y="738632"/>
                  </a:lnTo>
                  <a:lnTo>
                    <a:pt x="0" y="738632"/>
                  </a:lnTo>
                  <a:close/>
                </a:path>
              </a:pathLst>
            </a:custGeom>
            <a:blipFill>
              <a:blip r:embed="rId3">
                <a:alphaModFix amt="0"/>
              </a:blip>
              <a:stretch>
                <a:fillRect l="0" t="-340527" r="0" b="-340531"/>
              </a:stretch>
            </a:blipFill>
          </p:spPr>
        </p:sp>
      </p:grpSp>
      <p:grpSp>
        <p:nvGrpSpPr>
          <p:cNvPr name="Group 17" id="17"/>
          <p:cNvGrpSpPr/>
          <p:nvPr/>
        </p:nvGrpSpPr>
        <p:grpSpPr>
          <a:xfrm rot="0">
            <a:off x="420624" y="260880"/>
            <a:ext cx="11110779" cy="561146"/>
            <a:chOff x="0" y="0"/>
            <a:chExt cx="14814372" cy="748195"/>
          </a:xfrm>
        </p:grpSpPr>
        <p:sp>
          <p:nvSpPr>
            <p:cNvPr name="Freeform 18" id="18"/>
            <p:cNvSpPr/>
            <p:nvPr/>
          </p:nvSpPr>
          <p:spPr>
            <a:xfrm flipH="false" flipV="false" rot="0">
              <a:off x="0" y="0"/>
              <a:ext cx="14814372" cy="748196"/>
            </a:xfrm>
            <a:custGeom>
              <a:avLst/>
              <a:gdLst/>
              <a:ahLst/>
              <a:cxnLst/>
              <a:rect r="r" b="b" t="t" l="l"/>
              <a:pathLst>
                <a:path h="748196" w="14814372">
                  <a:moveTo>
                    <a:pt x="0" y="0"/>
                  </a:moveTo>
                  <a:lnTo>
                    <a:pt x="14814372" y="0"/>
                  </a:lnTo>
                  <a:lnTo>
                    <a:pt x="14814372" y="748196"/>
                  </a:lnTo>
                  <a:lnTo>
                    <a:pt x="0" y="748196"/>
                  </a:lnTo>
                  <a:close/>
                </a:path>
              </a:pathLst>
            </a:custGeom>
            <a:blipFill>
              <a:blip r:embed="rId4">
                <a:alphaModFix amt="0"/>
              </a:blip>
              <a:stretch>
                <a:fillRect l="0" t="-335806" r="0" b="-335806"/>
              </a:stretch>
            </a:blipFill>
          </p:spPr>
        </p:sp>
        <p:sp>
          <p:nvSpPr>
            <p:cNvPr name="TextBox 19" id="19"/>
            <p:cNvSpPr txBox="true"/>
            <p:nvPr/>
          </p:nvSpPr>
          <p:spPr>
            <a:xfrm>
              <a:off x="0" y="-9525"/>
              <a:ext cx="14814372" cy="757720"/>
            </a:xfrm>
            <a:prstGeom prst="rect">
              <a:avLst/>
            </a:prstGeom>
          </p:spPr>
          <p:txBody>
            <a:bodyPr anchor="ctr" rtlCol="false" tIns="0" lIns="0" bIns="0" rIns="0"/>
            <a:lstStyle/>
            <a:p>
              <a:pPr algn="l">
                <a:lnSpc>
                  <a:spcPts val="4211"/>
                </a:lnSpc>
              </a:pPr>
              <a:r>
                <a:rPr lang="en-US" sz="3509" b="true">
                  <a:solidFill>
                    <a:srgbClr val="22988A"/>
                  </a:solidFill>
                  <a:latin typeface="Aptos Bold"/>
                  <a:ea typeface="Aptos Bold"/>
                  <a:cs typeface="Aptos Bold"/>
                  <a:sym typeface="Aptos Bold"/>
                </a:rPr>
                <a:t>Solution Overview/ Idea</a:t>
              </a:r>
            </a:p>
          </p:txBody>
        </p:sp>
      </p:grpSp>
      <p:graphicFrame>
        <p:nvGraphicFramePr>
          <p:cNvPr name="Table 20" id="20"/>
          <p:cNvGraphicFramePr>
            <a:graphicFrameLocks noGrp="true"/>
          </p:cNvGraphicFramePr>
          <p:nvPr/>
        </p:nvGraphicFramePr>
        <p:xfrm>
          <a:off x="420626" y="1056807"/>
          <a:ext cx="17399000" cy="8229600"/>
        </p:xfrm>
        <a:graphic>
          <a:graphicData uri="http://schemas.openxmlformats.org/drawingml/2006/table">
            <a:tbl>
              <a:tblPr/>
              <a:tblGrid>
                <a:gridCol w="8111684"/>
                <a:gridCol w="9287316"/>
              </a:tblGrid>
              <a:tr h="1151718">
                <a:tc>
                  <a:txBody>
                    <a:bodyPr anchor="t" rtlCol="false"/>
                    <a:lstStyle/>
                    <a:p>
                      <a:pPr algn="ctr">
                        <a:lnSpc>
                          <a:spcPts val="3600"/>
                        </a:lnSpc>
                        <a:defRPr/>
                      </a:pPr>
                      <a:r>
                        <a:rPr lang="en-US" sz="3000" b="true">
                          <a:solidFill>
                            <a:srgbClr val="FFFFFF"/>
                          </a:solidFill>
                          <a:latin typeface="Calibri (MS) Bold"/>
                          <a:ea typeface="Calibri (MS) Bold"/>
                          <a:cs typeface="Calibri (MS) Bold"/>
                          <a:sym typeface="Calibri (MS) Bold"/>
                        </a:rPr>
                        <a:t>Questions</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99DD1"/>
                    </a:solidFill>
                  </a:tcPr>
                </a:tc>
                <a:tc>
                  <a:txBody>
                    <a:bodyPr anchor="t" rtlCol="false"/>
                    <a:lstStyle/>
                    <a:p>
                      <a:pPr algn="ctr">
                        <a:lnSpc>
                          <a:spcPts val="3600"/>
                        </a:lnSpc>
                        <a:defRPr/>
                      </a:pPr>
                      <a:r>
                        <a:rPr lang="en-US" sz="3000" b="true">
                          <a:solidFill>
                            <a:srgbClr val="FFFFFF"/>
                          </a:solidFill>
                          <a:latin typeface="Calibri (MS) Bold"/>
                          <a:ea typeface="Calibri (MS) Bold"/>
                          <a:cs typeface="Calibri (MS) Bold"/>
                          <a:sym typeface="Calibri (MS) Bold"/>
                        </a:rPr>
                        <a:t>Answers</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99DD1"/>
                    </a:solidFill>
                  </a:tcPr>
                </a:tc>
              </a:tr>
              <a:tr h="2359294">
                <a:tc>
                  <a:txBody>
                    <a:bodyPr anchor="t" rtlCol="false"/>
                    <a:lstStyle/>
                    <a:p>
                      <a:pPr algn="l">
                        <a:lnSpc>
                          <a:spcPts val="3240"/>
                        </a:lnSpc>
                        <a:defRPr/>
                      </a:pPr>
                      <a:r>
                        <a:rPr lang="en-US" sz="2700" b="true">
                          <a:solidFill>
                            <a:srgbClr val="000000"/>
                          </a:solidFill>
                          <a:latin typeface="Calibri (MS) Bold"/>
                          <a:ea typeface="Calibri (MS) Bold"/>
                          <a:cs typeface="Calibri (MS) Bold"/>
                          <a:sym typeface="Calibri (MS) Bold"/>
                        </a:rPr>
                        <a:t>Please provide short description of the solution</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CCDFEE"/>
                    </a:solidFill>
                  </a:tcPr>
                </a:tc>
                <a:tc>
                  <a:txBody>
                    <a:bodyPr anchor="t" rtlCol="false"/>
                    <a:lstStyle/>
                    <a:p>
                      <a:pPr algn="l">
                        <a:lnSpc>
                          <a:spcPts val="3240"/>
                        </a:lnSpc>
                        <a:defRPr/>
                      </a:pPr>
                      <a:r>
                        <a:rPr lang="en-US" sz="2700">
                          <a:solidFill>
                            <a:srgbClr val="000000"/>
                          </a:solidFill>
                          <a:latin typeface="Calibri (MS)"/>
                          <a:ea typeface="Calibri (MS)"/>
                          <a:cs typeface="Calibri (MS)"/>
                          <a:sym typeface="Calibri (MS)"/>
                        </a:rPr>
                        <a:t>An AI-powered fraud detection system that analyzes banking transactions in real time using machine learning and multi-criteria risk evaluation. The system automatically classifies transactions as SAFE, RISKY, or FRAUD and triggers OTP verification or escalation workflows accordingly.</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CCDFEE"/>
                    </a:solidFill>
                  </a:tcPr>
                </a:tc>
              </a:tr>
              <a:tr h="2359294">
                <a:tc>
                  <a:txBody>
                    <a:bodyPr anchor="t" rtlCol="false"/>
                    <a:lstStyle/>
                    <a:p>
                      <a:pPr algn="l">
                        <a:lnSpc>
                          <a:spcPts val="3240"/>
                        </a:lnSpc>
                        <a:defRPr/>
                      </a:pPr>
                      <a:r>
                        <a:rPr lang="en-US" sz="2700" b="true">
                          <a:solidFill>
                            <a:srgbClr val="000000"/>
                          </a:solidFill>
                          <a:latin typeface="Calibri (MS) Bold"/>
                          <a:ea typeface="Calibri (MS) Bold"/>
                          <a:cs typeface="Calibri (MS) Bold"/>
                          <a:sym typeface="Calibri (MS) Bold"/>
                        </a:rPr>
                        <a:t>What are the key objectives you are planning to achieve</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7F0F7"/>
                    </a:solidFill>
                  </a:tcPr>
                </a:tc>
                <a:tc>
                  <a:txBody>
                    <a:bodyPr anchor="t" rtlCol="false"/>
                    <a:lstStyle/>
                    <a:p>
                      <a:pPr algn="l">
                        <a:lnSpc>
                          <a:spcPts val="3240"/>
                        </a:lnSpc>
                        <a:defRPr/>
                      </a:pPr>
                      <a:r>
                        <a:rPr lang="en-US" sz="2700">
                          <a:solidFill>
                            <a:srgbClr val="000000"/>
                          </a:solidFill>
                          <a:latin typeface="Calibri (MS)"/>
                          <a:ea typeface="Calibri (MS)"/>
                          <a:cs typeface="Calibri (MS)"/>
                          <a:sym typeface="Calibri (MS)"/>
                        </a:rPr>
                        <a:t>• Detect fraudulent transactions in real time </a:t>
                      </a:r>
                      <a:endParaRPr lang="en-US" sz="1100"/>
                    </a:p>
                    <a:p>
                      <a:pPr algn="l">
                        <a:lnSpc>
                          <a:spcPts val="3240"/>
                        </a:lnSpc>
                      </a:pPr>
                      <a:r>
                        <a:rPr lang="en-US" sz="2700">
                          <a:solidFill>
                            <a:srgbClr val="000000"/>
                          </a:solidFill>
                          <a:latin typeface="Calibri (MS)"/>
                          <a:ea typeface="Calibri (MS)"/>
                          <a:cs typeface="Calibri (MS)"/>
                          <a:sym typeface="Calibri (MS)"/>
                        </a:rPr>
                        <a:t> • Reduce false positives and financial losses </a:t>
                      </a:r>
                    </a:p>
                    <a:p>
                      <a:pPr algn="l">
                        <a:lnSpc>
                          <a:spcPts val="3240"/>
                        </a:lnSpc>
                      </a:pPr>
                      <a:r>
                        <a:rPr lang="en-US" sz="2700">
                          <a:solidFill>
                            <a:srgbClr val="000000"/>
                          </a:solidFill>
                          <a:latin typeface="Calibri (MS)"/>
                          <a:ea typeface="Calibri (MS)"/>
                          <a:cs typeface="Calibri (MS)"/>
                          <a:sym typeface="Calibri (MS)"/>
                        </a:rPr>
                        <a:t> • Automate OTP verification workflows </a:t>
                      </a:r>
                    </a:p>
                    <a:p>
                      <a:pPr algn="l">
                        <a:lnSpc>
                          <a:spcPts val="3240"/>
                        </a:lnSpc>
                      </a:pPr>
                      <a:r>
                        <a:rPr lang="en-US" sz="2700">
                          <a:solidFill>
                            <a:srgbClr val="000000"/>
                          </a:solidFill>
                          <a:latin typeface="Calibri (MS)"/>
                          <a:ea typeface="Calibri (MS)"/>
                          <a:cs typeface="Calibri (MS)"/>
                          <a:sym typeface="Calibri (MS)"/>
                        </a:rPr>
                        <a:t> • Enable zero-touch fraud escalation using Jira &amp; SNS </a:t>
                      </a:r>
                    </a:p>
                    <a:p>
                      <a:pPr algn="l">
                        <a:lnSpc>
                          <a:spcPts val="3240"/>
                        </a:lnSpc>
                      </a:pPr>
                      <a:r>
                        <a:rPr lang="en-US" sz="2700">
                          <a:solidFill>
                            <a:srgbClr val="000000"/>
                          </a:solidFill>
                          <a:latin typeface="Calibri (MS)"/>
                          <a:ea typeface="Calibri (MS)"/>
                          <a:cs typeface="Calibri (MS)"/>
                          <a:sym typeface="Calibri (MS)"/>
                        </a:rPr>
                        <a:t> • Build a scalable and serverless security platform</a:t>
                      </a:r>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7F0F7"/>
                    </a:solidFill>
                  </a:tcPr>
                </a:tc>
              </a:tr>
              <a:tr h="2359294">
                <a:tc>
                  <a:txBody>
                    <a:bodyPr anchor="t" rtlCol="false"/>
                    <a:lstStyle/>
                    <a:p>
                      <a:pPr algn="l">
                        <a:lnSpc>
                          <a:spcPts val="3240"/>
                        </a:lnSpc>
                        <a:defRPr/>
                      </a:pPr>
                      <a:r>
                        <a:rPr lang="en-US" sz="2700" b="true">
                          <a:solidFill>
                            <a:srgbClr val="000000"/>
                          </a:solidFill>
                          <a:latin typeface="Calibri (MS) Bold"/>
                          <a:ea typeface="Calibri (MS) Bold"/>
                          <a:cs typeface="Calibri (MS) Bold"/>
                          <a:sym typeface="Calibri (MS) Bold"/>
                        </a:rPr>
                        <a:t>How does your solution achieve to address the problem statement?</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CCDFEE"/>
                    </a:solidFill>
                  </a:tcPr>
                </a:tc>
                <a:tc>
                  <a:txBody>
                    <a:bodyPr anchor="t" rtlCol="false"/>
                    <a:lstStyle/>
                    <a:p>
                      <a:pPr algn="l">
                        <a:lnSpc>
                          <a:spcPts val="3240"/>
                        </a:lnSpc>
                        <a:defRPr/>
                      </a:pPr>
                      <a:r>
                        <a:rPr lang="en-US" sz="2700">
                          <a:solidFill>
                            <a:srgbClr val="000000"/>
                          </a:solidFill>
                          <a:latin typeface="Calibri (MS)"/>
                          <a:ea typeface="Calibri (MS)"/>
                          <a:cs typeface="Calibri (MS)"/>
                          <a:sym typeface="Calibri (MS)"/>
                        </a:rPr>
                        <a:t>The solution combines AWS serverless architecture, SageMaker ML inference, rule-based risk evaluation, OTP verification, and automated escalation pipelines to identify suspicious transactions instantly while minimizing manual intervention and improving fraud response efficiency.</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CCDFEE"/>
                    </a:solidFill>
                  </a:tcPr>
                </a:tc>
              </a:tr>
            </a:tbl>
          </a:graphicData>
        </a:graphic>
      </p:graphicFrame>
      <p:grpSp>
        <p:nvGrpSpPr>
          <p:cNvPr name="Group 21" id="21"/>
          <p:cNvGrpSpPr/>
          <p:nvPr/>
        </p:nvGrpSpPr>
        <p:grpSpPr>
          <a:xfrm rot="0">
            <a:off x="438912" y="9938776"/>
            <a:ext cx="4811963" cy="230829"/>
            <a:chOff x="0" y="0"/>
            <a:chExt cx="6415951" cy="307772"/>
          </a:xfrm>
        </p:grpSpPr>
        <p:sp>
          <p:nvSpPr>
            <p:cNvPr name="Freeform 22" id="22"/>
            <p:cNvSpPr/>
            <p:nvPr/>
          </p:nvSpPr>
          <p:spPr>
            <a:xfrm flipH="false" flipV="false" rot="0">
              <a:off x="0" y="0"/>
              <a:ext cx="6415913" cy="307721"/>
            </a:xfrm>
            <a:custGeom>
              <a:avLst/>
              <a:gdLst/>
              <a:ahLst/>
              <a:cxnLst/>
              <a:rect r="r" b="b" t="t" l="l"/>
              <a:pathLst>
                <a:path h="307721" w="6415913">
                  <a:moveTo>
                    <a:pt x="0" y="0"/>
                  </a:moveTo>
                  <a:lnTo>
                    <a:pt x="6415913" y="0"/>
                  </a:lnTo>
                  <a:lnTo>
                    <a:pt x="6415913" y="307721"/>
                  </a:lnTo>
                  <a:lnTo>
                    <a:pt x="0" y="307721"/>
                  </a:lnTo>
                  <a:close/>
                </a:path>
              </a:pathLst>
            </a:custGeom>
            <a:blipFill>
              <a:blip r:embed="rId3">
                <a:alphaModFix amt="0"/>
              </a:blip>
              <a:stretch>
                <a:fillRect l="0" t="-355967" r="0" b="-355988"/>
              </a:stretch>
            </a:blipFill>
          </p:spPr>
        </p:sp>
      </p:grpSp>
      <p:grpSp>
        <p:nvGrpSpPr>
          <p:cNvPr name="Group 23" id="23"/>
          <p:cNvGrpSpPr/>
          <p:nvPr/>
        </p:nvGrpSpPr>
        <p:grpSpPr>
          <a:xfrm rot="0">
            <a:off x="591312" y="10091176"/>
            <a:ext cx="4811963" cy="230829"/>
            <a:chOff x="0" y="0"/>
            <a:chExt cx="6415951" cy="307772"/>
          </a:xfrm>
        </p:grpSpPr>
        <p:sp>
          <p:nvSpPr>
            <p:cNvPr name="Freeform 24" id="24"/>
            <p:cNvSpPr/>
            <p:nvPr/>
          </p:nvSpPr>
          <p:spPr>
            <a:xfrm flipH="false" flipV="false" rot="0">
              <a:off x="0" y="0"/>
              <a:ext cx="6415948" cy="307776"/>
            </a:xfrm>
            <a:custGeom>
              <a:avLst/>
              <a:gdLst/>
              <a:ahLst/>
              <a:cxnLst/>
              <a:rect r="r" b="b" t="t" l="l"/>
              <a:pathLst>
                <a:path h="307776" w="6415948">
                  <a:moveTo>
                    <a:pt x="0" y="0"/>
                  </a:moveTo>
                  <a:lnTo>
                    <a:pt x="6415948" y="0"/>
                  </a:lnTo>
                  <a:lnTo>
                    <a:pt x="6415948" y="307776"/>
                  </a:lnTo>
                  <a:lnTo>
                    <a:pt x="0" y="307776"/>
                  </a:lnTo>
                  <a:close/>
                </a:path>
              </a:pathLst>
            </a:custGeom>
            <a:blipFill>
              <a:blip r:embed="rId4">
                <a:alphaModFix amt="0"/>
              </a:blip>
              <a:stretch>
                <a:fillRect l="0" t="-356189" r="0" b="-356187"/>
              </a:stretch>
            </a:blipFill>
          </p:spPr>
        </p:sp>
        <p:sp>
          <p:nvSpPr>
            <p:cNvPr name="TextBox 25" id="25"/>
            <p:cNvSpPr txBox="true"/>
            <p:nvPr/>
          </p:nvSpPr>
          <p:spPr>
            <a:xfrm>
              <a:off x="0" y="-38100"/>
              <a:ext cx="6415951" cy="345872"/>
            </a:xfrm>
            <a:prstGeom prst="rect">
              <a:avLst/>
            </a:prstGeom>
          </p:spPr>
          <p:txBody>
            <a:bodyPr anchor="ctr" rtlCol="false" tIns="0" lIns="0" bIns="0" rIns="0"/>
            <a:lstStyle/>
            <a:p>
              <a:pPr algn="l">
                <a:lnSpc>
                  <a:spcPts val="1800"/>
                </a:lnSpc>
              </a:pPr>
              <a:r>
                <a:rPr lang="en-US" sz="1500">
                  <a:solidFill>
                    <a:srgbClr val="000000"/>
                  </a:solidFill>
                  <a:latin typeface="Calibri (MS)"/>
                  <a:ea typeface="Calibri (MS)"/>
                  <a:cs typeface="Calibri (MS)"/>
                  <a:sym typeface="Calibri (MS)"/>
                </a:rPr>
                <a:t>© Mphasis 2025  Proprietary and confidential information</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322803" y="9714938"/>
            <a:ext cx="672560" cy="551593"/>
            <a:chOff x="0" y="0"/>
            <a:chExt cx="896747" cy="735457"/>
          </a:xfrm>
        </p:grpSpPr>
        <p:sp>
          <p:nvSpPr>
            <p:cNvPr name="Freeform 3" id="3"/>
            <p:cNvSpPr/>
            <p:nvPr/>
          </p:nvSpPr>
          <p:spPr>
            <a:xfrm flipH="false" flipV="false" rot="0">
              <a:off x="0" y="0"/>
              <a:ext cx="896747" cy="735457"/>
            </a:xfrm>
            <a:custGeom>
              <a:avLst/>
              <a:gdLst/>
              <a:ahLst/>
              <a:cxnLst/>
              <a:rect r="r" b="b" t="t" l="l"/>
              <a:pathLst>
                <a:path h="735457" w="896747">
                  <a:moveTo>
                    <a:pt x="0" y="0"/>
                  </a:moveTo>
                  <a:lnTo>
                    <a:pt x="896747" y="0"/>
                  </a:lnTo>
                  <a:lnTo>
                    <a:pt x="896747" y="735457"/>
                  </a:lnTo>
                  <a:lnTo>
                    <a:pt x="0" y="735457"/>
                  </a:lnTo>
                  <a:lnTo>
                    <a:pt x="0" y="0"/>
                  </a:lnTo>
                  <a:close/>
                </a:path>
              </a:pathLst>
            </a:custGeom>
            <a:blipFill>
              <a:blip r:embed="rId2"/>
              <a:stretch>
                <a:fillRect l="0" t="-588" r="0" b="-587"/>
              </a:stretch>
            </a:blipFill>
          </p:spPr>
        </p:sp>
      </p:grpSp>
      <p:grpSp>
        <p:nvGrpSpPr>
          <p:cNvPr name="Group 4" id="4"/>
          <p:cNvGrpSpPr/>
          <p:nvPr/>
        </p:nvGrpSpPr>
        <p:grpSpPr>
          <a:xfrm rot="0">
            <a:off x="15896863" y="9938776"/>
            <a:ext cx="1100138" cy="230829"/>
            <a:chOff x="0" y="0"/>
            <a:chExt cx="1466850" cy="307772"/>
          </a:xfrm>
        </p:grpSpPr>
        <p:sp>
          <p:nvSpPr>
            <p:cNvPr name="Freeform 5" id="5"/>
            <p:cNvSpPr/>
            <p:nvPr/>
          </p:nvSpPr>
          <p:spPr>
            <a:xfrm flipH="false" flipV="false" rot="0">
              <a:off x="0" y="0"/>
              <a:ext cx="1466850" cy="307721"/>
            </a:xfrm>
            <a:custGeom>
              <a:avLst/>
              <a:gdLst/>
              <a:ahLst/>
              <a:cxnLst/>
              <a:rect r="r" b="b" t="t" l="l"/>
              <a:pathLst>
                <a:path h="307721" w="1466850">
                  <a:moveTo>
                    <a:pt x="0" y="0"/>
                  </a:moveTo>
                  <a:lnTo>
                    <a:pt x="1466850" y="0"/>
                  </a:lnTo>
                  <a:lnTo>
                    <a:pt x="1466850" y="307721"/>
                  </a:lnTo>
                  <a:lnTo>
                    <a:pt x="0" y="307721"/>
                  </a:lnTo>
                  <a:close/>
                </a:path>
              </a:pathLst>
            </a:custGeom>
            <a:blipFill>
              <a:blip r:embed="rId3">
                <a:alphaModFix amt="0"/>
              </a:blip>
              <a:stretch>
                <a:fillRect l="0" t="-42806" r="0" b="-42827"/>
              </a:stretch>
            </a:blipFill>
          </p:spPr>
        </p:sp>
      </p:grpSp>
      <p:grpSp>
        <p:nvGrpSpPr>
          <p:cNvPr name="Group 6" id="6"/>
          <p:cNvGrpSpPr/>
          <p:nvPr/>
        </p:nvGrpSpPr>
        <p:grpSpPr>
          <a:xfrm rot="0">
            <a:off x="15896863" y="9910201"/>
            <a:ext cx="1100138" cy="259404"/>
            <a:chOff x="0" y="0"/>
            <a:chExt cx="1466850" cy="345872"/>
          </a:xfrm>
        </p:grpSpPr>
        <p:sp>
          <p:nvSpPr>
            <p:cNvPr name="Freeform 7" id="7"/>
            <p:cNvSpPr/>
            <p:nvPr/>
          </p:nvSpPr>
          <p:spPr>
            <a:xfrm flipH="false" flipV="false" rot="0">
              <a:off x="0" y="0"/>
              <a:ext cx="1466851" cy="345872"/>
            </a:xfrm>
            <a:custGeom>
              <a:avLst/>
              <a:gdLst/>
              <a:ahLst/>
              <a:cxnLst/>
              <a:rect r="r" b="b" t="t" l="l"/>
              <a:pathLst>
                <a:path h="345872" w="1466851">
                  <a:moveTo>
                    <a:pt x="0" y="0"/>
                  </a:moveTo>
                  <a:lnTo>
                    <a:pt x="1466851" y="0"/>
                  </a:lnTo>
                  <a:lnTo>
                    <a:pt x="1466851" y="345872"/>
                  </a:lnTo>
                  <a:lnTo>
                    <a:pt x="0" y="345872"/>
                  </a:lnTo>
                  <a:close/>
                </a:path>
              </a:pathLst>
            </a:custGeom>
            <a:blipFill>
              <a:blip r:embed="rId4">
                <a:alphaModFix amt="0"/>
              </a:blip>
              <a:stretch>
                <a:fillRect l="0" t="-32636" r="0" b="-32636"/>
              </a:stretch>
            </a:blipFill>
          </p:spPr>
        </p:sp>
        <p:sp>
          <p:nvSpPr>
            <p:cNvPr name="TextBox 8" id="8"/>
            <p:cNvSpPr txBox="true"/>
            <p:nvPr/>
          </p:nvSpPr>
          <p:spPr>
            <a:xfrm>
              <a:off x="0" y="-38100"/>
              <a:ext cx="1466850" cy="383972"/>
            </a:xfrm>
            <a:prstGeom prst="rect">
              <a:avLst/>
            </a:prstGeom>
          </p:spPr>
          <p:txBody>
            <a:bodyPr anchor="ctr" rtlCol="false" tIns="0" lIns="0" bIns="0" rIns="0"/>
            <a:lstStyle/>
            <a:p>
              <a:pPr algn="r">
                <a:lnSpc>
                  <a:spcPts val="1800"/>
                </a:lnSpc>
              </a:pPr>
              <a:r>
                <a:rPr lang="en-US" sz="1500">
                  <a:solidFill>
                    <a:srgbClr val="000000"/>
                  </a:solidFill>
                  <a:latin typeface="Calibri (MS)"/>
                  <a:ea typeface="Calibri (MS)"/>
                  <a:cs typeface="Calibri (MS)"/>
                  <a:sym typeface="Calibri (MS)"/>
                </a:rPr>
                <a:t>‹#›</a:t>
              </a:r>
            </a:p>
          </p:txBody>
        </p:sp>
      </p:grpSp>
      <p:grpSp>
        <p:nvGrpSpPr>
          <p:cNvPr name="Group 9" id="9"/>
          <p:cNvGrpSpPr/>
          <p:nvPr/>
        </p:nvGrpSpPr>
        <p:grpSpPr>
          <a:xfrm rot="0">
            <a:off x="16497300" y="387296"/>
            <a:ext cx="1566958" cy="521018"/>
            <a:chOff x="0" y="0"/>
            <a:chExt cx="2089277" cy="694690"/>
          </a:xfrm>
        </p:grpSpPr>
        <p:sp>
          <p:nvSpPr>
            <p:cNvPr name="Freeform 10" id="10"/>
            <p:cNvSpPr/>
            <p:nvPr/>
          </p:nvSpPr>
          <p:spPr>
            <a:xfrm flipH="false" flipV="false" rot="0">
              <a:off x="0" y="0"/>
              <a:ext cx="2089277" cy="694690"/>
            </a:xfrm>
            <a:custGeom>
              <a:avLst/>
              <a:gdLst/>
              <a:ahLst/>
              <a:cxnLst/>
              <a:rect r="r" b="b" t="t" l="l"/>
              <a:pathLst>
                <a:path h="694690" w="2089277">
                  <a:moveTo>
                    <a:pt x="0" y="0"/>
                  </a:moveTo>
                  <a:lnTo>
                    <a:pt x="2089277" y="0"/>
                  </a:lnTo>
                  <a:lnTo>
                    <a:pt x="2089277" y="694690"/>
                  </a:lnTo>
                  <a:lnTo>
                    <a:pt x="0" y="694690"/>
                  </a:lnTo>
                  <a:lnTo>
                    <a:pt x="0" y="0"/>
                  </a:lnTo>
                  <a:close/>
                </a:path>
              </a:pathLst>
            </a:custGeom>
            <a:blipFill>
              <a:blip r:embed="rId5"/>
              <a:stretch>
                <a:fillRect l="-27" t="0" r="-27" b="0"/>
              </a:stretch>
            </a:blipFill>
          </p:spPr>
        </p:sp>
      </p:grpSp>
      <p:grpSp>
        <p:nvGrpSpPr>
          <p:cNvPr name="Group 11" id="11"/>
          <p:cNvGrpSpPr/>
          <p:nvPr/>
        </p:nvGrpSpPr>
        <p:grpSpPr>
          <a:xfrm rot="0">
            <a:off x="16497300" y="387296"/>
            <a:ext cx="1566958" cy="521018"/>
            <a:chOff x="0" y="0"/>
            <a:chExt cx="2089277" cy="694690"/>
          </a:xfrm>
        </p:grpSpPr>
        <p:sp>
          <p:nvSpPr>
            <p:cNvPr name="Freeform 12" id="12"/>
            <p:cNvSpPr/>
            <p:nvPr/>
          </p:nvSpPr>
          <p:spPr>
            <a:xfrm flipH="false" flipV="false" rot="0">
              <a:off x="0" y="0"/>
              <a:ext cx="2089277" cy="694690"/>
            </a:xfrm>
            <a:custGeom>
              <a:avLst/>
              <a:gdLst/>
              <a:ahLst/>
              <a:cxnLst/>
              <a:rect r="r" b="b" t="t" l="l"/>
              <a:pathLst>
                <a:path h="694690" w="2089277">
                  <a:moveTo>
                    <a:pt x="0" y="0"/>
                  </a:moveTo>
                  <a:lnTo>
                    <a:pt x="2089277" y="0"/>
                  </a:lnTo>
                  <a:lnTo>
                    <a:pt x="2089277" y="694690"/>
                  </a:lnTo>
                  <a:lnTo>
                    <a:pt x="0" y="694690"/>
                  </a:lnTo>
                  <a:lnTo>
                    <a:pt x="0" y="0"/>
                  </a:lnTo>
                  <a:close/>
                </a:path>
              </a:pathLst>
            </a:custGeom>
            <a:blipFill>
              <a:blip r:embed="rId5"/>
              <a:stretch>
                <a:fillRect l="-27" t="0" r="-27" b="0"/>
              </a:stretch>
            </a:blipFill>
          </p:spPr>
        </p:sp>
      </p:grpSp>
      <p:grpSp>
        <p:nvGrpSpPr>
          <p:cNvPr name="Group 13" id="13"/>
          <p:cNvGrpSpPr/>
          <p:nvPr/>
        </p:nvGrpSpPr>
        <p:grpSpPr>
          <a:xfrm rot="0">
            <a:off x="420624" y="268024"/>
            <a:ext cx="11110779" cy="554003"/>
            <a:chOff x="0" y="0"/>
            <a:chExt cx="14814372" cy="738670"/>
          </a:xfrm>
        </p:grpSpPr>
        <p:sp>
          <p:nvSpPr>
            <p:cNvPr name="Freeform 14" id="14"/>
            <p:cNvSpPr/>
            <p:nvPr/>
          </p:nvSpPr>
          <p:spPr>
            <a:xfrm flipH="false" flipV="false" rot="0">
              <a:off x="0" y="0"/>
              <a:ext cx="14814423" cy="738632"/>
            </a:xfrm>
            <a:custGeom>
              <a:avLst/>
              <a:gdLst/>
              <a:ahLst/>
              <a:cxnLst/>
              <a:rect r="r" b="b" t="t" l="l"/>
              <a:pathLst>
                <a:path h="738632" w="14814423">
                  <a:moveTo>
                    <a:pt x="0" y="0"/>
                  </a:moveTo>
                  <a:lnTo>
                    <a:pt x="14814423" y="0"/>
                  </a:lnTo>
                  <a:lnTo>
                    <a:pt x="14814423" y="738632"/>
                  </a:lnTo>
                  <a:lnTo>
                    <a:pt x="0" y="738632"/>
                  </a:lnTo>
                  <a:close/>
                </a:path>
              </a:pathLst>
            </a:custGeom>
            <a:blipFill>
              <a:blip r:embed="rId3">
                <a:alphaModFix amt="0"/>
              </a:blip>
              <a:stretch>
                <a:fillRect l="0" t="-340527" r="0" b="-340531"/>
              </a:stretch>
            </a:blipFill>
          </p:spPr>
        </p:sp>
      </p:grpSp>
      <p:grpSp>
        <p:nvGrpSpPr>
          <p:cNvPr name="Group 15" id="15"/>
          <p:cNvGrpSpPr/>
          <p:nvPr/>
        </p:nvGrpSpPr>
        <p:grpSpPr>
          <a:xfrm rot="0">
            <a:off x="420624" y="260880"/>
            <a:ext cx="11110779" cy="561146"/>
            <a:chOff x="0" y="0"/>
            <a:chExt cx="14814372" cy="748195"/>
          </a:xfrm>
        </p:grpSpPr>
        <p:sp>
          <p:nvSpPr>
            <p:cNvPr name="Freeform 16" id="16"/>
            <p:cNvSpPr/>
            <p:nvPr/>
          </p:nvSpPr>
          <p:spPr>
            <a:xfrm flipH="false" flipV="false" rot="0">
              <a:off x="0" y="0"/>
              <a:ext cx="14814372" cy="748196"/>
            </a:xfrm>
            <a:custGeom>
              <a:avLst/>
              <a:gdLst/>
              <a:ahLst/>
              <a:cxnLst/>
              <a:rect r="r" b="b" t="t" l="l"/>
              <a:pathLst>
                <a:path h="748196" w="14814372">
                  <a:moveTo>
                    <a:pt x="0" y="0"/>
                  </a:moveTo>
                  <a:lnTo>
                    <a:pt x="14814372" y="0"/>
                  </a:lnTo>
                  <a:lnTo>
                    <a:pt x="14814372" y="748196"/>
                  </a:lnTo>
                  <a:lnTo>
                    <a:pt x="0" y="748196"/>
                  </a:lnTo>
                  <a:close/>
                </a:path>
              </a:pathLst>
            </a:custGeom>
            <a:blipFill>
              <a:blip r:embed="rId4">
                <a:alphaModFix amt="0"/>
              </a:blip>
              <a:stretch>
                <a:fillRect l="0" t="-335806" r="0" b="-335806"/>
              </a:stretch>
            </a:blipFill>
          </p:spPr>
        </p:sp>
        <p:sp>
          <p:nvSpPr>
            <p:cNvPr name="TextBox 17" id="17"/>
            <p:cNvSpPr txBox="true"/>
            <p:nvPr/>
          </p:nvSpPr>
          <p:spPr>
            <a:xfrm>
              <a:off x="0" y="-9525"/>
              <a:ext cx="14814372" cy="757720"/>
            </a:xfrm>
            <a:prstGeom prst="rect">
              <a:avLst/>
            </a:prstGeom>
          </p:spPr>
          <p:txBody>
            <a:bodyPr anchor="ctr" rtlCol="false" tIns="0" lIns="0" bIns="0" rIns="0"/>
            <a:lstStyle/>
            <a:p>
              <a:pPr algn="l">
                <a:lnSpc>
                  <a:spcPts val="4211"/>
                </a:lnSpc>
              </a:pPr>
              <a:r>
                <a:rPr lang="en-US" sz="3509" b="true">
                  <a:solidFill>
                    <a:srgbClr val="22988A"/>
                  </a:solidFill>
                  <a:latin typeface="Aptos Bold"/>
                  <a:ea typeface="Aptos Bold"/>
                  <a:cs typeface="Aptos Bold"/>
                  <a:sym typeface="Aptos Bold"/>
                </a:rPr>
                <a:t>Solution Overview/ Idea</a:t>
              </a:r>
            </a:p>
          </p:txBody>
        </p:sp>
      </p:grpSp>
      <p:graphicFrame>
        <p:nvGraphicFramePr>
          <p:cNvPr name="Table 18" id="18"/>
          <p:cNvGraphicFramePr>
            <a:graphicFrameLocks noGrp="true"/>
          </p:cNvGraphicFramePr>
          <p:nvPr/>
        </p:nvGraphicFramePr>
        <p:xfrm>
          <a:off x="247398" y="908323"/>
          <a:ext cx="17399000" cy="8750300"/>
        </p:xfrm>
        <a:graphic>
          <a:graphicData uri="http://schemas.openxmlformats.org/drawingml/2006/table">
            <a:tbl>
              <a:tblPr/>
              <a:tblGrid>
                <a:gridCol w="8111684"/>
                <a:gridCol w="9287316"/>
              </a:tblGrid>
              <a:tr h="1245132">
                <a:tc>
                  <a:txBody>
                    <a:bodyPr anchor="t" rtlCol="false"/>
                    <a:lstStyle/>
                    <a:p>
                      <a:pPr algn="ctr">
                        <a:lnSpc>
                          <a:spcPts val="3600"/>
                        </a:lnSpc>
                        <a:defRPr/>
                      </a:pPr>
                      <a:r>
                        <a:rPr lang="en-US" sz="3000" b="true">
                          <a:solidFill>
                            <a:srgbClr val="FFFFFF"/>
                          </a:solidFill>
                          <a:latin typeface="Calibri (MS) Bold"/>
                          <a:ea typeface="Calibri (MS) Bold"/>
                          <a:cs typeface="Calibri (MS) Bold"/>
                          <a:sym typeface="Calibri (MS) Bold"/>
                        </a:rPr>
                        <a:t>Questions</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99DD1"/>
                    </a:solidFill>
                  </a:tcPr>
                </a:tc>
                <a:tc>
                  <a:txBody>
                    <a:bodyPr anchor="t" rtlCol="false"/>
                    <a:lstStyle/>
                    <a:p>
                      <a:pPr algn="ctr">
                        <a:lnSpc>
                          <a:spcPts val="3600"/>
                        </a:lnSpc>
                        <a:defRPr/>
                      </a:pPr>
                      <a:r>
                        <a:rPr lang="en-US" sz="3000" b="true">
                          <a:solidFill>
                            <a:srgbClr val="FFFFFF"/>
                          </a:solidFill>
                          <a:latin typeface="Calibri (MS) Bold"/>
                          <a:ea typeface="Calibri (MS) Bold"/>
                          <a:cs typeface="Calibri (MS) Bold"/>
                          <a:sym typeface="Calibri (MS) Bold"/>
                        </a:rPr>
                        <a:t>Answers</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99DD1"/>
                    </a:solidFill>
                  </a:tcPr>
                </a:tc>
              </a:tr>
              <a:tr h="3179997">
                <a:tc>
                  <a:txBody>
                    <a:bodyPr anchor="t" rtlCol="false"/>
                    <a:lstStyle/>
                    <a:p>
                      <a:pPr algn="l">
                        <a:lnSpc>
                          <a:spcPts val="3240"/>
                        </a:lnSpc>
                        <a:defRPr/>
                      </a:pPr>
                      <a:r>
                        <a:rPr lang="en-US" sz="2700" b="true">
                          <a:solidFill>
                            <a:srgbClr val="000000"/>
                          </a:solidFill>
                          <a:latin typeface="Calibri (MS) Bold"/>
                          <a:ea typeface="Calibri (MS) Bold"/>
                          <a:cs typeface="Calibri (MS) Bold"/>
                          <a:sym typeface="Calibri (MS) Bold"/>
                        </a:rPr>
                        <a:t>Please explain the technology stack selected.</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CCDFEE"/>
                    </a:solidFill>
                  </a:tcPr>
                </a:tc>
                <a:tc>
                  <a:txBody>
                    <a:bodyPr anchor="t" rtlCol="false"/>
                    <a:lstStyle/>
                    <a:p>
                      <a:pPr algn="l" marL="570230" indent="-190077" lvl="2">
                        <a:lnSpc>
                          <a:spcPts val="3240"/>
                        </a:lnSpc>
                        <a:buFont typeface="Arial"/>
                        <a:buChar char="⚬"/>
                        <a:defRPr/>
                      </a:pPr>
                      <a:r>
                        <a:rPr lang="en-US" sz="2700">
                          <a:solidFill>
                            <a:srgbClr val="000000"/>
                          </a:solidFill>
                          <a:latin typeface="Calibri (MS)"/>
                          <a:ea typeface="Calibri (MS)"/>
                          <a:cs typeface="Calibri (MS)"/>
                          <a:sym typeface="Calibri (MS)"/>
                        </a:rPr>
                        <a:t>• Frontend: React + JavaScript </a:t>
                      </a:r>
                      <a:endParaRPr lang="en-US" sz="1100"/>
                    </a:p>
                    <a:p>
                      <a:pPr algn="l" marL="570230" indent="-190077" lvl="2">
                        <a:lnSpc>
                          <a:spcPts val="3240"/>
                        </a:lnSpc>
                        <a:buFont typeface="Arial"/>
                        <a:buChar char="⚬"/>
                      </a:pPr>
                      <a:r>
                        <a:rPr lang="en-US" sz="2700">
                          <a:solidFill>
                            <a:srgbClr val="000000"/>
                          </a:solidFill>
                          <a:latin typeface="Calibri (MS)"/>
                          <a:ea typeface="Calibri (MS)"/>
                          <a:cs typeface="Calibri (MS)"/>
                          <a:sym typeface="Calibri (MS)"/>
                        </a:rPr>
                        <a:t> • Backend: Python (AWS Lambda) </a:t>
                      </a:r>
                    </a:p>
                    <a:p>
                      <a:pPr algn="l" marL="570230" indent="-190077" lvl="2">
                        <a:lnSpc>
                          <a:spcPts val="3240"/>
                        </a:lnSpc>
                        <a:buFont typeface="Arial"/>
                        <a:buChar char="⚬"/>
                      </a:pPr>
                      <a:r>
                        <a:rPr lang="en-US" sz="2700">
                          <a:solidFill>
                            <a:srgbClr val="000000"/>
                          </a:solidFill>
                          <a:latin typeface="Calibri (MS)"/>
                          <a:ea typeface="Calibri (MS)"/>
                          <a:cs typeface="Calibri (MS)"/>
                          <a:sym typeface="Calibri (MS)"/>
                        </a:rPr>
                        <a:t> • Database: Amazon DynamoDB </a:t>
                      </a:r>
                    </a:p>
                    <a:p>
                      <a:pPr algn="l" marL="570230" indent="-190077" lvl="2">
                        <a:lnSpc>
                          <a:spcPts val="3240"/>
                        </a:lnSpc>
                        <a:buFont typeface="Arial"/>
                        <a:buChar char="⚬"/>
                      </a:pPr>
                      <a:r>
                        <a:rPr lang="en-US" sz="2700">
                          <a:solidFill>
                            <a:srgbClr val="000000"/>
                          </a:solidFill>
                          <a:latin typeface="Calibri (MS)"/>
                          <a:ea typeface="Calibri (MS)"/>
                          <a:cs typeface="Calibri (MS)"/>
                          <a:sym typeface="Calibri (MS)"/>
                        </a:rPr>
                        <a:t> • AI / ML: Amazon SageMaker </a:t>
                      </a:r>
                    </a:p>
                    <a:p>
                      <a:pPr algn="l" marL="570230" indent="-190077" lvl="2">
                        <a:lnSpc>
                          <a:spcPts val="3240"/>
                        </a:lnSpc>
                        <a:buFont typeface="Arial"/>
                        <a:buChar char="⚬"/>
                      </a:pPr>
                      <a:r>
                        <a:rPr lang="en-US" sz="2700">
                          <a:solidFill>
                            <a:srgbClr val="000000"/>
                          </a:solidFill>
                          <a:latin typeface="Calibri (MS)"/>
                          <a:ea typeface="Calibri (MS)"/>
                          <a:cs typeface="Calibri (MS)"/>
                          <a:sym typeface="Calibri (MS)"/>
                        </a:rPr>
                        <a:t> • Notifications: Amazon SES + SNS </a:t>
                      </a:r>
                    </a:p>
                    <a:p>
                      <a:pPr algn="l" marL="570230" indent="-190077" lvl="2">
                        <a:lnSpc>
                          <a:spcPts val="3240"/>
                        </a:lnSpc>
                        <a:buFont typeface="Arial"/>
                        <a:buChar char="⚬"/>
                      </a:pPr>
                      <a:r>
                        <a:rPr lang="en-US" sz="2700">
                          <a:solidFill>
                            <a:srgbClr val="000000"/>
                          </a:solidFill>
                          <a:latin typeface="Calibri (MS)"/>
                          <a:ea typeface="Calibri (MS)"/>
                          <a:cs typeface="Calibri (MS)"/>
                          <a:sym typeface="Calibri (MS)"/>
                        </a:rPr>
                        <a:t> • API Layer: AWS API Gateway </a:t>
                      </a:r>
                    </a:p>
                    <a:p>
                      <a:pPr algn="l" marL="570230" indent="-190077" lvl="2">
                        <a:lnSpc>
                          <a:spcPts val="3240"/>
                        </a:lnSpc>
                        <a:buFont typeface="Arial"/>
                        <a:buChar char="⚬"/>
                      </a:pPr>
                      <a:r>
                        <a:rPr lang="en-US" sz="2700">
                          <a:solidFill>
                            <a:srgbClr val="000000"/>
                          </a:solidFill>
                          <a:latin typeface="Calibri (MS)"/>
                          <a:ea typeface="Calibri (MS)"/>
                          <a:cs typeface="Calibri (MS)"/>
                          <a:sym typeface="Calibri (MS)"/>
                        </a:rPr>
                        <a:t> • Storage: Amazon S3</a:t>
                      </a:r>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CCDFEE"/>
                    </a:solidFill>
                  </a:tcPr>
                </a:tc>
              </a:tr>
              <a:tr h="2773033">
                <a:tc>
                  <a:txBody>
                    <a:bodyPr anchor="t" rtlCol="false"/>
                    <a:lstStyle/>
                    <a:p>
                      <a:pPr algn="l">
                        <a:lnSpc>
                          <a:spcPts val="3240"/>
                        </a:lnSpc>
                        <a:defRPr/>
                      </a:pPr>
                      <a:r>
                        <a:rPr lang="en-US" sz="2700" b="true">
                          <a:solidFill>
                            <a:srgbClr val="000000"/>
                          </a:solidFill>
                          <a:latin typeface="Calibri (MS) Bold"/>
                          <a:ea typeface="Calibri (MS) Bold"/>
                          <a:cs typeface="Calibri (MS) Bold"/>
                          <a:sym typeface="Calibri (MS) Bold"/>
                        </a:rPr>
                        <a:t>Please provide justification on why your approach is best.</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7F0F7"/>
                    </a:solidFill>
                  </a:tcPr>
                </a:tc>
                <a:tc>
                  <a:txBody>
                    <a:bodyPr anchor="t" rtlCol="false"/>
                    <a:lstStyle/>
                    <a:p>
                      <a:pPr algn="l">
                        <a:lnSpc>
                          <a:spcPts val="3240"/>
                        </a:lnSpc>
                        <a:defRPr/>
                      </a:pPr>
                      <a:r>
                        <a:rPr lang="en-US" sz="2700">
                          <a:solidFill>
                            <a:srgbClr val="000000"/>
                          </a:solidFill>
                          <a:latin typeface="Calibri (MS)"/>
                          <a:ea typeface="Calibri (MS)"/>
                          <a:cs typeface="Calibri (MS)"/>
                          <a:sym typeface="Calibri (MS)"/>
                        </a:rPr>
                        <a:t>The solution is fully serverless, scalable, and event-driven. AWS services provide high reliability and low operational overhead, while AI-driven fraud evaluation improves detection accuracy and reduces false positives. Automated OTP verification and escalation workflows minimize manual intervention and improve response time.</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7F0F7"/>
                    </a:solidFill>
                  </a:tcPr>
                </a:tc>
              </a:tr>
              <a:tr h="1552138">
                <a:tc>
                  <a:txBody>
                    <a:bodyPr anchor="t" rtlCol="false"/>
                    <a:lstStyle/>
                    <a:p>
                      <a:pPr algn="l">
                        <a:lnSpc>
                          <a:spcPts val="3240"/>
                        </a:lnSpc>
                        <a:defRPr/>
                      </a:pPr>
                      <a:r>
                        <a:rPr lang="en-US" sz="2700" b="true">
                          <a:solidFill>
                            <a:srgbClr val="000000"/>
                          </a:solidFill>
                          <a:latin typeface="Calibri (MS) Bold"/>
                          <a:ea typeface="Calibri (MS) Bold"/>
                          <a:cs typeface="Calibri (MS) Bold"/>
                          <a:sym typeface="Calibri (MS) Bold"/>
                        </a:rPr>
                        <a:t>What is the state you were able to achieve?</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CCDFEE"/>
                    </a:solidFill>
                  </a:tcPr>
                </a:tc>
                <a:tc>
                  <a:txBody>
                    <a:bodyPr anchor="t" rtlCol="false"/>
                    <a:lstStyle/>
                    <a:p>
                      <a:pPr algn="l">
                        <a:lnSpc>
                          <a:spcPts val="3240"/>
                        </a:lnSpc>
                        <a:defRPr/>
                      </a:pPr>
                      <a:r>
                        <a:rPr lang="en-US" sz="2700">
                          <a:solidFill>
                            <a:srgbClr val="000000"/>
                          </a:solidFill>
                          <a:latin typeface="Calibri (MS)"/>
                          <a:ea typeface="Calibri (MS)"/>
                          <a:cs typeface="Calibri (MS)"/>
                          <a:sym typeface="Calibri (MS)"/>
                        </a:rPr>
                        <a:t>A fully functional real-time fraud detection system with ML-based transaction analysis, OTP verification, Jira ticket automation, SNS fraud alerts, and a React-based frontend.</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CCDFEE"/>
                    </a:solidFill>
                  </a:tcPr>
                </a:tc>
              </a:tr>
            </a:tbl>
          </a:graphicData>
        </a:graphic>
      </p:graphicFrame>
      <p:grpSp>
        <p:nvGrpSpPr>
          <p:cNvPr name="Group 19" id="19"/>
          <p:cNvGrpSpPr/>
          <p:nvPr/>
        </p:nvGrpSpPr>
        <p:grpSpPr>
          <a:xfrm rot="0">
            <a:off x="438912" y="9938776"/>
            <a:ext cx="4811963" cy="230829"/>
            <a:chOff x="0" y="0"/>
            <a:chExt cx="6415951" cy="307772"/>
          </a:xfrm>
        </p:grpSpPr>
        <p:sp>
          <p:nvSpPr>
            <p:cNvPr name="Freeform 20" id="20"/>
            <p:cNvSpPr/>
            <p:nvPr/>
          </p:nvSpPr>
          <p:spPr>
            <a:xfrm flipH="false" flipV="false" rot="0">
              <a:off x="0" y="0"/>
              <a:ext cx="6415913" cy="307721"/>
            </a:xfrm>
            <a:custGeom>
              <a:avLst/>
              <a:gdLst/>
              <a:ahLst/>
              <a:cxnLst/>
              <a:rect r="r" b="b" t="t" l="l"/>
              <a:pathLst>
                <a:path h="307721" w="6415913">
                  <a:moveTo>
                    <a:pt x="0" y="0"/>
                  </a:moveTo>
                  <a:lnTo>
                    <a:pt x="6415913" y="0"/>
                  </a:lnTo>
                  <a:lnTo>
                    <a:pt x="6415913" y="307721"/>
                  </a:lnTo>
                  <a:lnTo>
                    <a:pt x="0" y="307721"/>
                  </a:lnTo>
                  <a:close/>
                </a:path>
              </a:pathLst>
            </a:custGeom>
            <a:blipFill>
              <a:blip r:embed="rId3">
                <a:alphaModFix amt="0"/>
              </a:blip>
              <a:stretch>
                <a:fillRect l="0" t="-355967" r="0" b="-355988"/>
              </a:stretch>
            </a:blipFill>
          </p:spPr>
        </p:sp>
      </p:grpSp>
      <p:grpSp>
        <p:nvGrpSpPr>
          <p:cNvPr name="Group 21" id="21"/>
          <p:cNvGrpSpPr/>
          <p:nvPr/>
        </p:nvGrpSpPr>
        <p:grpSpPr>
          <a:xfrm rot="0">
            <a:off x="591312" y="10091176"/>
            <a:ext cx="4811963" cy="230829"/>
            <a:chOff x="0" y="0"/>
            <a:chExt cx="6415951" cy="307772"/>
          </a:xfrm>
        </p:grpSpPr>
        <p:sp>
          <p:nvSpPr>
            <p:cNvPr name="Freeform 22" id="22"/>
            <p:cNvSpPr/>
            <p:nvPr/>
          </p:nvSpPr>
          <p:spPr>
            <a:xfrm flipH="false" flipV="false" rot="0">
              <a:off x="0" y="0"/>
              <a:ext cx="6415948" cy="307776"/>
            </a:xfrm>
            <a:custGeom>
              <a:avLst/>
              <a:gdLst/>
              <a:ahLst/>
              <a:cxnLst/>
              <a:rect r="r" b="b" t="t" l="l"/>
              <a:pathLst>
                <a:path h="307776" w="6415948">
                  <a:moveTo>
                    <a:pt x="0" y="0"/>
                  </a:moveTo>
                  <a:lnTo>
                    <a:pt x="6415948" y="0"/>
                  </a:lnTo>
                  <a:lnTo>
                    <a:pt x="6415948" y="307776"/>
                  </a:lnTo>
                  <a:lnTo>
                    <a:pt x="0" y="307776"/>
                  </a:lnTo>
                  <a:close/>
                </a:path>
              </a:pathLst>
            </a:custGeom>
            <a:blipFill>
              <a:blip r:embed="rId4">
                <a:alphaModFix amt="0"/>
              </a:blip>
              <a:stretch>
                <a:fillRect l="0" t="-356189" r="0" b="-356187"/>
              </a:stretch>
            </a:blipFill>
          </p:spPr>
        </p:sp>
        <p:sp>
          <p:nvSpPr>
            <p:cNvPr name="TextBox 23" id="23"/>
            <p:cNvSpPr txBox="true"/>
            <p:nvPr/>
          </p:nvSpPr>
          <p:spPr>
            <a:xfrm>
              <a:off x="0" y="-38100"/>
              <a:ext cx="6415951" cy="345872"/>
            </a:xfrm>
            <a:prstGeom prst="rect">
              <a:avLst/>
            </a:prstGeom>
          </p:spPr>
          <p:txBody>
            <a:bodyPr anchor="ctr" rtlCol="false" tIns="0" lIns="0" bIns="0" rIns="0"/>
            <a:lstStyle/>
            <a:p>
              <a:pPr algn="l">
                <a:lnSpc>
                  <a:spcPts val="1800"/>
                </a:lnSpc>
              </a:pPr>
              <a:r>
                <a:rPr lang="en-US" sz="1500">
                  <a:solidFill>
                    <a:srgbClr val="000000"/>
                  </a:solidFill>
                  <a:latin typeface="Calibri (MS)"/>
                  <a:ea typeface="Calibri (MS)"/>
                  <a:cs typeface="Calibri (MS)"/>
                  <a:sym typeface="Calibri (MS)"/>
                </a:rPr>
                <a:t>© Mphasis 2025  Proprietary and confidential information</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322803" y="9714938"/>
            <a:ext cx="672560" cy="551593"/>
            <a:chOff x="0" y="0"/>
            <a:chExt cx="896747" cy="735457"/>
          </a:xfrm>
        </p:grpSpPr>
        <p:sp>
          <p:nvSpPr>
            <p:cNvPr name="Freeform 3" id="3"/>
            <p:cNvSpPr/>
            <p:nvPr/>
          </p:nvSpPr>
          <p:spPr>
            <a:xfrm flipH="false" flipV="false" rot="0">
              <a:off x="0" y="0"/>
              <a:ext cx="896747" cy="735457"/>
            </a:xfrm>
            <a:custGeom>
              <a:avLst/>
              <a:gdLst/>
              <a:ahLst/>
              <a:cxnLst/>
              <a:rect r="r" b="b" t="t" l="l"/>
              <a:pathLst>
                <a:path h="735457" w="896747">
                  <a:moveTo>
                    <a:pt x="0" y="0"/>
                  </a:moveTo>
                  <a:lnTo>
                    <a:pt x="896747" y="0"/>
                  </a:lnTo>
                  <a:lnTo>
                    <a:pt x="896747" y="735457"/>
                  </a:lnTo>
                  <a:lnTo>
                    <a:pt x="0" y="735457"/>
                  </a:lnTo>
                  <a:lnTo>
                    <a:pt x="0" y="0"/>
                  </a:lnTo>
                  <a:close/>
                </a:path>
              </a:pathLst>
            </a:custGeom>
            <a:blipFill>
              <a:blip r:embed="rId2"/>
              <a:stretch>
                <a:fillRect l="0" t="-588" r="0" b="-587"/>
              </a:stretch>
            </a:blipFill>
          </p:spPr>
        </p:sp>
      </p:grpSp>
      <p:grpSp>
        <p:nvGrpSpPr>
          <p:cNvPr name="Group 4" id="4"/>
          <p:cNvGrpSpPr/>
          <p:nvPr/>
        </p:nvGrpSpPr>
        <p:grpSpPr>
          <a:xfrm rot="0">
            <a:off x="438912" y="9938776"/>
            <a:ext cx="4811963" cy="230829"/>
            <a:chOff x="0" y="0"/>
            <a:chExt cx="6415951" cy="307772"/>
          </a:xfrm>
        </p:grpSpPr>
        <p:sp>
          <p:nvSpPr>
            <p:cNvPr name="Freeform 5" id="5"/>
            <p:cNvSpPr/>
            <p:nvPr/>
          </p:nvSpPr>
          <p:spPr>
            <a:xfrm flipH="false" flipV="false" rot="0">
              <a:off x="0" y="0"/>
              <a:ext cx="6415913" cy="307721"/>
            </a:xfrm>
            <a:custGeom>
              <a:avLst/>
              <a:gdLst/>
              <a:ahLst/>
              <a:cxnLst/>
              <a:rect r="r" b="b" t="t" l="l"/>
              <a:pathLst>
                <a:path h="307721" w="6415913">
                  <a:moveTo>
                    <a:pt x="0" y="0"/>
                  </a:moveTo>
                  <a:lnTo>
                    <a:pt x="6415913" y="0"/>
                  </a:lnTo>
                  <a:lnTo>
                    <a:pt x="6415913" y="307721"/>
                  </a:lnTo>
                  <a:lnTo>
                    <a:pt x="0" y="307721"/>
                  </a:lnTo>
                  <a:close/>
                </a:path>
              </a:pathLst>
            </a:custGeom>
            <a:blipFill>
              <a:blip r:embed="rId3">
                <a:alphaModFix amt="0"/>
              </a:blip>
              <a:stretch>
                <a:fillRect l="0" t="-355967" r="0" b="-355988"/>
              </a:stretch>
            </a:blipFill>
          </p:spPr>
        </p:sp>
      </p:grpSp>
      <p:grpSp>
        <p:nvGrpSpPr>
          <p:cNvPr name="Group 6" id="6"/>
          <p:cNvGrpSpPr/>
          <p:nvPr/>
        </p:nvGrpSpPr>
        <p:grpSpPr>
          <a:xfrm rot="0">
            <a:off x="15896863" y="9938776"/>
            <a:ext cx="1100138" cy="230829"/>
            <a:chOff x="0" y="0"/>
            <a:chExt cx="1466850" cy="307772"/>
          </a:xfrm>
        </p:grpSpPr>
        <p:sp>
          <p:nvSpPr>
            <p:cNvPr name="Freeform 7" id="7"/>
            <p:cNvSpPr/>
            <p:nvPr/>
          </p:nvSpPr>
          <p:spPr>
            <a:xfrm flipH="false" flipV="false" rot="0">
              <a:off x="0" y="0"/>
              <a:ext cx="1466850" cy="307721"/>
            </a:xfrm>
            <a:custGeom>
              <a:avLst/>
              <a:gdLst/>
              <a:ahLst/>
              <a:cxnLst/>
              <a:rect r="r" b="b" t="t" l="l"/>
              <a:pathLst>
                <a:path h="307721" w="1466850">
                  <a:moveTo>
                    <a:pt x="0" y="0"/>
                  </a:moveTo>
                  <a:lnTo>
                    <a:pt x="1466850" y="0"/>
                  </a:lnTo>
                  <a:lnTo>
                    <a:pt x="1466850" y="307721"/>
                  </a:lnTo>
                  <a:lnTo>
                    <a:pt x="0" y="307721"/>
                  </a:lnTo>
                  <a:close/>
                </a:path>
              </a:pathLst>
            </a:custGeom>
            <a:blipFill>
              <a:blip r:embed="rId3">
                <a:alphaModFix amt="0"/>
              </a:blip>
              <a:stretch>
                <a:fillRect l="0" t="-42806" r="0" b="-42827"/>
              </a:stretch>
            </a:blipFill>
          </p:spPr>
        </p:sp>
      </p:grpSp>
      <p:grpSp>
        <p:nvGrpSpPr>
          <p:cNvPr name="Group 8" id="8"/>
          <p:cNvGrpSpPr/>
          <p:nvPr/>
        </p:nvGrpSpPr>
        <p:grpSpPr>
          <a:xfrm rot="0">
            <a:off x="15896863" y="9910201"/>
            <a:ext cx="1100138" cy="259404"/>
            <a:chOff x="0" y="0"/>
            <a:chExt cx="1466850" cy="345872"/>
          </a:xfrm>
        </p:grpSpPr>
        <p:sp>
          <p:nvSpPr>
            <p:cNvPr name="Freeform 9" id="9"/>
            <p:cNvSpPr/>
            <p:nvPr/>
          </p:nvSpPr>
          <p:spPr>
            <a:xfrm flipH="false" flipV="false" rot="0">
              <a:off x="0" y="0"/>
              <a:ext cx="1466851" cy="345872"/>
            </a:xfrm>
            <a:custGeom>
              <a:avLst/>
              <a:gdLst/>
              <a:ahLst/>
              <a:cxnLst/>
              <a:rect r="r" b="b" t="t" l="l"/>
              <a:pathLst>
                <a:path h="345872" w="1466851">
                  <a:moveTo>
                    <a:pt x="0" y="0"/>
                  </a:moveTo>
                  <a:lnTo>
                    <a:pt x="1466851" y="0"/>
                  </a:lnTo>
                  <a:lnTo>
                    <a:pt x="1466851" y="345872"/>
                  </a:lnTo>
                  <a:lnTo>
                    <a:pt x="0" y="345872"/>
                  </a:lnTo>
                  <a:close/>
                </a:path>
              </a:pathLst>
            </a:custGeom>
            <a:blipFill>
              <a:blip r:embed="rId4">
                <a:alphaModFix amt="0"/>
              </a:blip>
              <a:stretch>
                <a:fillRect l="0" t="-32636" r="0" b="-32636"/>
              </a:stretch>
            </a:blipFill>
          </p:spPr>
        </p:sp>
        <p:sp>
          <p:nvSpPr>
            <p:cNvPr name="TextBox 10" id="10"/>
            <p:cNvSpPr txBox="true"/>
            <p:nvPr/>
          </p:nvSpPr>
          <p:spPr>
            <a:xfrm>
              <a:off x="0" y="-38100"/>
              <a:ext cx="1466850" cy="383972"/>
            </a:xfrm>
            <a:prstGeom prst="rect">
              <a:avLst/>
            </a:prstGeom>
          </p:spPr>
          <p:txBody>
            <a:bodyPr anchor="ctr" rtlCol="false" tIns="0" lIns="0" bIns="0" rIns="0"/>
            <a:lstStyle/>
            <a:p>
              <a:pPr algn="r">
                <a:lnSpc>
                  <a:spcPts val="1800"/>
                </a:lnSpc>
              </a:pPr>
              <a:r>
                <a:rPr lang="en-US" sz="1500">
                  <a:solidFill>
                    <a:srgbClr val="000000"/>
                  </a:solidFill>
                  <a:latin typeface="Calibri (MS)"/>
                  <a:ea typeface="Calibri (MS)"/>
                  <a:cs typeface="Calibri (MS)"/>
                  <a:sym typeface="Calibri (MS)"/>
                </a:rPr>
                <a:t>‹#›</a:t>
              </a:r>
            </a:p>
          </p:txBody>
        </p:sp>
      </p:grpSp>
      <p:grpSp>
        <p:nvGrpSpPr>
          <p:cNvPr name="Group 11" id="11"/>
          <p:cNvGrpSpPr/>
          <p:nvPr/>
        </p:nvGrpSpPr>
        <p:grpSpPr>
          <a:xfrm rot="0">
            <a:off x="16497300" y="387296"/>
            <a:ext cx="1566958" cy="521018"/>
            <a:chOff x="0" y="0"/>
            <a:chExt cx="2089277" cy="694690"/>
          </a:xfrm>
        </p:grpSpPr>
        <p:sp>
          <p:nvSpPr>
            <p:cNvPr name="Freeform 12" id="12"/>
            <p:cNvSpPr/>
            <p:nvPr/>
          </p:nvSpPr>
          <p:spPr>
            <a:xfrm flipH="false" flipV="false" rot="0">
              <a:off x="0" y="0"/>
              <a:ext cx="2089277" cy="694690"/>
            </a:xfrm>
            <a:custGeom>
              <a:avLst/>
              <a:gdLst/>
              <a:ahLst/>
              <a:cxnLst/>
              <a:rect r="r" b="b" t="t" l="l"/>
              <a:pathLst>
                <a:path h="694690" w="2089277">
                  <a:moveTo>
                    <a:pt x="0" y="0"/>
                  </a:moveTo>
                  <a:lnTo>
                    <a:pt x="2089277" y="0"/>
                  </a:lnTo>
                  <a:lnTo>
                    <a:pt x="2089277" y="694690"/>
                  </a:lnTo>
                  <a:lnTo>
                    <a:pt x="0" y="694690"/>
                  </a:lnTo>
                  <a:lnTo>
                    <a:pt x="0" y="0"/>
                  </a:lnTo>
                  <a:close/>
                </a:path>
              </a:pathLst>
            </a:custGeom>
            <a:blipFill>
              <a:blip r:embed="rId5"/>
              <a:stretch>
                <a:fillRect l="-27" t="0" r="-27" b="0"/>
              </a:stretch>
            </a:blipFill>
          </p:spPr>
        </p:sp>
      </p:grpSp>
      <p:grpSp>
        <p:nvGrpSpPr>
          <p:cNvPr name="Group 13" id="13"/>
          <p:cNvGrpSpPr/>
          <p:nvPr/>
        </p:nvGrpSpPr>
        <p:grpSpPr>
          <a:xfrm rot="0">
            <a:off x="16497300" y="387296"/>
            <a:ext cx="1566958" cy="521018"/>
            <a:chOff x="0" y="0"/>
            <a:chExt cx="2089277" cy="694690"/>
          </a:xfrm>
        </p:grpSpPr>
        <p:sp>
          <p:nvSpPr>
            <p:cNvPr name="Freeform 14" id="14"/>
            <p:cNvSpPr/>
            <p:nvPr/>
          </p:nvSpPr>
          <p:spPr>
            <a:xfrm flipH="false" flipV="false" rot="0">
              <a:off x="0" y="0"/>
              <a:ext cx="2089277" cy="694690"/>
            </a:xfrm>
            <a:custGeom>
              <a:avLst/>
              <a:gdLst/>
              <a:ahLst/>
              <a:cxnLst/>
              <a:rect r="r" b="b" t="t" l="l"/>
              <a:pathLst>
                <a:path h="694690" w="2089277">
                  <a:moveTo>
                    <a:pt x="0" y="0"/>
                  </a:moveTo>
                  <a:lnTo>
                    <a:pt x="2089277" y="0"/>
                  </a:lnTo>
                  <a:lnTo>
                    <a:pt x="2089277" y="694690"/>
                  </a:lnTo>
                  <a:lnTo>
                    <a:pt x="0" y="694690"/>
                  </a:lnTo>
                  <a:lnTo>
                    <a:pt x="0" y="0"/>
                  </a:lnTo>
                  <a:close/>
                </a:path>
              </a:pathLst>
            </a:custGeom>
            <a:blipFill>
              <a:blip r:embed="rId5"/>
              <a:stretch>
                <a:fillRect l="-27" t="0" r="-27" b="0"/>
              </a:stretch>
            </a:blipFill>
          </p:spPr>
        </p:sp>
      </p:grpSp>
      <p:grpSp>
        <p:nvGrpSpPr>
          <p:cNvPr name="Group 15" id="15"/>
          <p:cNvGrpSpPr/>
          <p:nvPr/>
        </p:nvGrpSpPr>
        <p:grpSpPr>
          <a:xfrm rot="0">
            <a:off x="420624" y="268024"/>
            <a:ext cx="11110779" cy="554003"/>
            <a:chOff x="0" y="0"/>
            <a:chExt cx="14814372" cy="738670"/>
          </a:xfrm>
        </p:grpSpPr>
        <p:sp>
          <p:nvSpPr>
            <p:cNvPr name="Freeform 16" id="16"/>
            <p:cNvSpPr/>
            <p:nvPr/>
          </p:nvSpPr>
          <p:spPr>
            <a:xfrm flipH="false" flipV="false" rot="0">
              <a:off x="0" y="0"/>
              <a:ext cx="14814423" cy="738632"/>
            </a:xfrm>
            <a:custGeom>
              <a:avLst/>
              <a:gdLst/>
              <a:ahLst/>
              <a:cxnLst/>
              <a:rect r="r" b="b" t="t" l="l"/>
              <a:pathLst>
                <a:path h="738632" w="14814423">
                  <a:moveTo>
                    <a:pt x="0" y="0"/>
                  </a:moveTo>
                  <a:lnTo>
                    <a:pt x="14814423" y="0"/>
                  </a:lnTo>
                  <a:lnTo>
                    <a:pt x="14814423" y="738632"/>
                  </a:lnTo>
                  <a:lnTo>
                    <a:pt x="0" y="738632"/>
                  </a:lnTo>
                  <a:close/>
                </a:path>
              </a:pathLst>
            </a:custGeom>
            <a:blipFill>
              <a:blip r:embed="rId3">
                <a:alphaModFix amt="0"/>
              </a:blip>
              <a:stretch>
                <a:fillRect l="0" t="-340527" r="0" b="-340531"/>
              </a:stretch>
            </a:blipFill>
          </p:spPr>
        </p:sp>
      </p:grpSp>
      <p:grpSp>
        <p:nvGrpSpPr>
          <p:cNvPr name="Group 17" id="17"/>
          <p:cNvGrpSpPr/>
          <p:nvPr/>
        </p:nvGrpSpPr>
        <p:grpSpPr>
          <a:xfrm rot="0">
            <a:off x="420624" y="260880"/>
            <a:ext cx="11110779" cy="561146"/>
            <a:chOff x="0" y="0"/>
            <a:chExt cx="14814372" cy="748195"/>
          </a:xfrm>
        </p:grpSpPr>
        <p:sp>
          <p:nvSpPr>
            <p:cNvPr name="Freeform 18" id="18"/>
            <p:cNvSpPr/>
            <p:nvPr/>
          </p:nvSpPr>
          <p:spPr>
            <a:xfrm flipH="false" flipV="false" rot="0">
              <a:off x="0" y="0"/>
              <a:ext cx="14814372" cy="748196"/>
            </a:xfrm>
            <a:custGeom>
              <a:avLst/>
              <a:gdLst/>
              <a:ahLst/>
              <a:cxnLst/>
              <a:rect r="r" b="b" t="t" l="l"/>
              <a:pathLst>
                <a:path h="748196" w="14814372">
                  <a:moveTo>
                    <a:pt x="0" y="0"/>
                  </a:moveTo>
                  <a:lnTo>
                    <a:pt x="14814372" y="0"/>
                  </a:lnTo>
                  <a:lnTo>
                    <a:pt x="14814372" y="748196"/>
                  </a:lnTo>
                  <a:lnTo>
                    <a:pt x="0" y="748196"/>
                  </a:lnTo>
                  <a:close/>
                </a:path>
              </a:pathLst>
            </a:custGeom>
            <a:blipFill>
              <a:blip r:embed="rId4">
                <a:alphaModFix amt="0"/>
              </a:blip>
              <a:stretch>
                <a:fillRect l="0" t="-335806" r="0" b="-335806"/>
              </a:stretch>
            </a:blipFill>
          </p:spPr>
        </p:sp>
        <p:sp>
          <p:nvSpPr>
            <p:cNvPr name="TextBox 19" id="19"/>
            <p:cNvSpPr txBox="true"/>
            <p:nvPr/>
          </p:nvSpPr>
          <p:spPr>
            <a:xfrm>
              <a:off x="0" y="-9525"/>
              <a:ext cx="14814372" cy="757720"/>
            </a:xfrm>
            <a:prstGeom prst="rect">
              <a:avLst/>
            </a:prstGeom>
          </p:spPr>
          <p:txBody>
            <a:bodyPr anchor="ctr" rtlCol="false" tIns="0" lIns="0" bIns="0" rIns="0"/>
            <a:lstStyle/>
            <a:p>
              <a:pPr algn="l">
                <a:lnSpc>
                  <a:spcPts val="4211"/>
                </a:lnSpc>
              </a:pPr>
              <a:r>
                <a:rPr lang="en-US" sz="3509" b="true">
                  <a:solidFill>
                    <a:srgbClr val="22988A"/>
                  </a:solidFill>
                  <a:latin typeface="Aptos Bold"/>
                  <a:ea typeface="Aptos Bold"/>
                  <a:cs typeface="Aptos Bold"/>
                  <a:sym typeface="Aptos Bold"/>
                </a:rPr>
                <a:t>Solution Implementation</a:t>
              </a:r>
            </a:p>
          </p:txBody>
        </p:sp>
      </p:grpSp>
      <p:grpSp>
        <p:nvGrpSpPr>
          <p:cNvPr name="Group 20" id="20"/>
          <p:cNvGrpSpPr/>
          <p:nvPr/>
        </p:nvGrpSpPr>
        <p:grpSpPr>
          <a:xfrm rot="0">
            <a:off x="5770397" y="1028700"/>
            <a:ext cx="6453149" cy="8686238"/>
            <a:chOff x="0" y="0"/>
            <a:chExt cx="8604199" cy="11581651"/>
          </a:xfrm>
        </p:grpSpPr>
        <p:sp>
          <p:nvSpPr>
            <p:cNvPr name="Freeform 21" id="21"/>
            <p:cNvSpPr/>
            <p:nvPr/>
          </p:nvSpPr>
          <p:spPr>
            <a:xfrm flipH="false" flipV="false" rot="0">
              <a:off x="0" y="0"/>
              <a:ext cx="8604250" cy="11581638"/>
            </a:xfrm>
            <a:custGeom>
              <a:avLst/>
              <a:gdLst/>
              <a:ahLst/>
              <a:cxnLst/>
              <a:rect r="r" b="b" t="t" l="l"/>
              <a:pathLst>
                <a:path h="11581638" w="8604250">
                  <a:moveTo>
                    <a:pt x="0" y="0"/>
                  </a:moveTo>
                  <a:lnTo>
                    <a:pt x="8604250" y="0"/>
                  </a:lnTo>
                  <a:lnTo>
                    <a:pt x="8604250" y="11581638"/>
                  </a:lnTo>
                  <a:lnTo>
                    <a:pt x="0" y="11581638"/>
                  </a:lnTo>
                  <a:lnTo>
                    <a:pt x="0" y="0"/>
                  </a:lnTo>
                  <a:close/>
                </a:path>
              </a:pathLst>
            </a:custGeom>
            <a:blipFill>
              <a:blip r:embed="rId6"/>
              <a:stretch>
                <a:fillRect l="0" t="-12" r="0" b="-12"/>
              </a:stretch>
            </a:blipFill>
          </p:spPr>
        </p:sp>
      </p:grpSp>
      <p:sp>
        <p:nvSpPr>
          <p:cNvPr name="TextBox 22" id="22"/>
          <p:cNvSpPr txBox="true"/>
          <p:nvPr/>
        </p:nvSpPr>
        <p:spPr>
          <a:xfrm rot="0">
            <a:off x="512064" y="889016"/>
            <a:ext cx="10876464" cy="523875"/>
          </a:xfrm>
          <a:prstGeom prst="rect">
            <a:avLst/>
          </a:prstGeom>
        </p:spPr>
        <p:txBody>
          <a:bodyPr anchor="t" rtlCol="false" tIns="0" lIns="0" bIns="0" rIns="0">
            <a:spAutoFit/>
          </a:bodyPr>
          <a:lstStyle/>
          <a:p>
            <a:pPr algn="l">
              <a:lnSpc>
                <a:spcPts val="3240"/>
              </a:lnSpc>
            </a:pPr>
            <a:r>
              <a:rPr lang="en-US" sz="2700">
                <a:solidFill>
                  <a:srgbClr val="000000"/>
                </a:solidFill>
                <a:latin typeface="Calibri (MS)"/>
                <a:ea typeface="Calibri (MS)"/>
                <a:cs typeface="Calibri (MS)"/>
                <a:sym typeface="Calibri (MS)"/>
              </a:rPr>
              <a:t>Block Diagram</a:t>
            </a:r>
          </a:p>
        </p:txBody>
      </p:sp>
      <p:grpSp>
        <p:nvGrpSpPr>
          <p:cNvPr name="Group 23" id="23"/>
          <p:cNvGrpSpPr/>
          <p:nvPr/>
        </p:nvGrpSpPr>
        <p:grpSpPr>
          <a:xfrm rot="0">
            <a:off x="591312" y="10091176"/>
            <a:ext cx="4811963" cy="230829"/>
            <a:chOff x="0" y="0"/>
            <a:chExt cx="6415951" cy="307772"/>
          </a:xfrm>
        </p:grpSpPr>
        <p:sp>
          <p:nvSpPr>
            <p:cNvPr name="Freeform 24" id="24"/>
            <p:cNvSpPr/>
            <p:nvPr/>
          </p:nvSpPr>
          <p:spPr>
            <a:xfrm flipH="false" flipV="false" rot="0">
              <a:off x="0" y="0"/>
              <a:ext cx="6415948" cy="307776"/>
            </a:xfrm>
            <a:custGeom>
              <a:avLst/>
              <a:gdLst/>
              <a:ahLst/>
              <a:cxnLst/>
              <a:rect r="r" b="b" t="t" l="l"/>
              <a:pathLst>
                <a:path h="307776" w="6415948">
                  <a:moveTo>
                    <a:pt x="0" y="0"/>
                  </a:moveTo>
                  <a:lnTo>
                    <a:pt x="6415948" y="0"/>
                  </a:lnTo>
                  <a:lnTo>
                    <a:pt x="6415948" y="307776"/>
                  </a:lnTo>
                  <a:lnTo>
                    <a:pt x="0" y="307776"/>
                  </a:lnTo>
                  <a:close/>
                </a:path>
              </a:pathLst>
            </a:custGeom>
            <a:blipFill>
              <a:blip r:embed="rId4">
                <a:alphaModFix amt="0"/>
              </a:blip>
              <a:stretch>
                <a:fillRect l="0" t="-356189" r="0" b="-356187"/>
              </a:stretch>
            </a:blipFill>
          </p:spPr>
        </p:sp>
        <p:sp>
          <p:nvSpPr>
            <p:cNvPr name="TextBox 25" id="25"/>
            <p:cNvSpPr txBox="true"/>
            <p:nvPr/>
          </p:nvSpPr>
          <p:spPr>
            <a:xfrm>
              <a:off x="0" y="-38100"/>
              <a:ext cx="6415951" cy="345872"/>
            </a:xfrm>
            <a:prstGeom prst="rect">
              <a:avLst/>
            </a:prstGeom>
          </p:spPr>
          <p:txBody>
            <a:bodyPr anchor="ctr" rtlCol="false" tIns="0" lIns="0" bIns="0" rIns="0"/>
            <a:lstStyle/>
            <a:p>
              <a:pPr algn="l">
                <a:lnSpc>
                  <a:spcPts val="1800"/>
                </a:lnSpc>
              </a:pPr>
              <a:r>
                <a:rPr lang="en-US" sz="1500">
                  <a:solidFill>
                    <a:srgbClr val="000000"/>
                  </a:solidFill>
                  <a:latin typeface="Calibri (MS)"/>
                  <a:ea typeface="Calibri (MS)"/>
                  <a:cs typeface="Calibri (MS)"/>
                  <a:sym typeface="Calibri (MS)"/>
                </a:rPr>
                <a:t>© Mphasis 2025  Proprietary and confidential information</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322803" y="9714938"/>
            <a:ext cx="672560" cy="551593"/>
            <a:chOff x="0" y="0"/>
            <a:chExt cx="896747" cy="735457"/>
          </a:xfrm>
        </p:grpSpPr>
        <p:sp>
          <p:nvSpPr>
            <p:cNvPr name="Freeform 3" id="3"/>
            <p:cNvSpPr/>
            <p:nvPr/>
          </p:nvSpPr>
          <p:spPr>
            <a:xfrm flipH="false" flipV="false" rot="0">
              <a:off x="0" y="0"/>
              <a:ext cx="896747" cy="735457"/>
            </a:xfrm>
            <a:custGeom>
              <a:avLst/>
              <a:gdLst/>
              <a:ahLst/>
              <a:cxnLst/>
              <a:rect r="r" b="b" t="t" l="l"/>
              <a:pathLst>
                <a:path h="735457" w="896747">
                  <a:moveTo>
                    <a:pt x="0" y="0"/>
                  </a:moveTo>
                  <a:lnTo>
                    <a:pt x="896747" y="0"/>
                  </a:lnTo>
                  <a:lnTo>
                    <a:pt x="896747" y="735457"/>
                  </a:lnTo>
                  <a:lnTo>
                    <a:pt x="0" y="735457"/>
                  </a:lnTo>
                  <a:lnTo>
                    <a:pt x="0" y="0"/>
                  </a:lnTo>
                  <a:close/>
                </a:path>
              </a:pathLst>
            </a:custGeom>
            <a:blipFill>
              <a:blip r:embed="rId2"/>
              <a:stretch>
                <a:fillRect l="0" t="-588" r="0" b="-587"/>
              </a:stretch>
            </a:blipFill>
          </p:spPr>
        </p:sp>
      </p:grpSp>
      <p:grpSp>
        <p:nvGrpSpPr>
          <p:cNvPr name="Group 4" id="4"/>
          <p:cNvGrpSpPr/>
          <p:nvPr/>
        </p:nvGrpSpPr>
        <p:grpSpPr>
          <a:xfrm rot="0">
            <a:off x="438912" y="9938776"/>
            <a:ext cx="4811963" cy="230829"/>
            <a:chOff x="0" y="0"/>
            <a:chExt cx="6415951" cy="307772"/>
          </a:xfrm>
        </p:grpSpPr>
        <p:sp>
          <p:nvSpPr>
            <p:cNvPr name="Freeform 5" id="5"/>
            <p:cNvSpPr/>
            <p:nvPr/>
          </p:nvSpPr>
          <p:spPr>
            <a:xfrm flipH="false" flipV="false" rot="0">
              <a:off x="0" y="0"/>
              <a:ext cx="6415913" cy="307721"/>
            </a:xfrm>
            <a:custGeom>
              <a:avLst/>
              <a:gdLst/>
              <a:ahLst/>
              <a:cxnLst/>
              <a:rect r="r" b="b" t="t" l="l"/>
              <a:pathLst>
                <a:path h="307721" w="6415913">
                  <a:moveTo>
                    <a:pt x="0" y="0"/>
                  </a:moveTo>
                  <a:lnTo>
                    <a:pt x="6415913" y="0"/>
                  </a:lnTo>
                  <a:lnTo>
                    <a:pt x="6415913" y="307721"/>
                  </a:lnTo>
                  <a:lnTo>
                    <a:pt x="0" y="307721"/>
                  </a:lnTo>
                  <a:close/>
                </a:path>
              </a:pathLst>
            </a:custGeom>
            <a:blipFill>
              <a:blip r:embed="rId3">
                <a:alphaModFix amt="0"/>
              </a:blip>
              <a:stretch>
                <a:fillRect l="0" t="-355967" r="0" b="-355988"/>
              </a:stretch>
            </a:blipFill>
          </p:spPr>
        </p:sp>
      </p:grpSp>
      <p:grpSp>
        <p:nvGrpSpPr>
          <p:cNvPr name="Group 6" id="6"/>
          <p:cNvGrpSpPr/>
          <p:nvPr/>
        </p:nvGrpSpPr>
        <p:grpSpPr>
          <a:xfrm rot="0">
            <a:off x="15896863" y="9938776"/>
            <a:ext cx="1100138" cy="230829"/>
            <a:chOff x="0" y="0"/>
            <a:chExt cx="1466850" cy="307772"/>
          </a:xfrm>
        </p:grpSpPr>
        <p:sp>
          <p:nvSpPr>
            <p:cNvPr name="Freeform 7" id="7"/>
            <p:cNvSpPr/>
            <p:nvPr/>
          </p:nvSpPr>
          <p:spPr>
            <a:xfrm flipH="false" flipV="false" rot="0">
              <a:off x="0" y="0"/>
              <a:ext cx="1466850" cy="307721"/>
            </a:xfrm>
            <a:custGeom>
              <a:avLst/>
              <a:gdLst/>
              <a:ahLst/>
              <a:cxnLst/>
              <a:rect r="r" b="b" t="t" l="l"/>
              <a:pathLst>
                <a:path h="307721" w="1466850">
                  <a:moveTo>
                    <a:pt x="0" y="0"/>
                  </a:moveTo>
                  <a:lnTo>
                    <a:pt x="1466850" y="0"/>
                  </a:lnTo>
                  <a:lnTo>
                    <a:pt x="1466850" y="307721"/>
                  </a:lnTo>
                  <a:lnTo>
                    <a:pt x="0" y="307721"/>
                  </a:lnTo>
                  <a:close/>
                </a:path>
              </a:pathLst>
            </a:custGeom>
            <a:blipFill>
              <a:blip r:embed="rId3">
                <a:alphaModFix amt="0"/>
              </a:blip>
              <a:stretch>
                <a:fillRect l="0" t="-42806" r="0" b="-42827"/>
              </a:stretch>
            </a:blipFill>
          </p:spPr>
        </p:sp>
      </p:grpSp>
      <p:grpSp>
        <p:nvGrpSpPr>
          <p:cNvPr name="Group 8" id="8"/>
          <p:cNvGrpSpPr/>
          <p:nvPr/>
        </p:nvGrpSpPr>
        <p:grpSpPr>
          <a:xfrm rot="0">
            <a:off x="15896863" y="9910201"/>
            <a:ext cx="1100138" cy="259404"/>
            <a:chOff x="0" y="0"/>
            <a:chExt cx="1466850" cy="345872"/>
          </a:xfrm>
        </p:grpSpPr>
        <p:sp>
          <p:nvSpPr>
            <p:cNvPr name="Freeform 9" id="9"/>
            <p:cNvSpPr/>
            <p:nvPr/>
          </p:nvSpPr>
          <p:spPr>
            <a:xfrm flipH="false" flipV="false" rot="0">
              <a:off x="0" y="0"/>
              <a:ext cx="1466851" cy="345872"/>
            </a:xfrm>
            <a:custGeom>
              <a:avLst/>
              <a:gdLst/>
              <a:ahLst/>
              <a:cxnLst/>
              <a:rect r="r" b="b" t="t" l="l"/>
              <a:pathLst>
                <a:path h="345872" w="1466851">
                  <a:moveTo>
                    <a:pt x="0" y="0"/>
                  </a:moveTo>
                  <a:lnTo>
                    <a:pt x="1466851" y="0"/>
                  </a:lnTo>
                  <a:lnTo>
                    <a:pt x="1466851" y="345872"/>
                  </a:lnTo>
                  <a:lnTo>
                    <a:pt x="0" y="345872"/>
                  </a:lnTo>
                  <a:close/>
                </a:path>
              </a:pathLst>
            </a:custGeom>
            <a:blipFill>
              <a:blip r:embed="rId4">
                <a:alphaModFix amt="0"/>
              </a:blip>
              <a:stretch>
                <a:fillRect l="0" t="-32636" r="0" b="-32636"/>
              </a:stretch>
            </a:blipFill>
          </p:spPr>
        </p:sp>
        <p:sp>
          <p:nvSpPr>
            <p:cNvPr name="TextBox 10" id="10"/>
            <p:cNvSpPr txBox="true"/>
            <p:nvPr/>
          </p:nvSpPr>
          <p:spPr>
            <a:xfrm>
              <a:off x="0" y="-38100"/>
              <a:ext cx="1466850" cy="383972"/>
            </a:xfrm>
            <a:prstGeom prst="rect">
              <a:avLst/>
            </a:prstGeom>
          </p:spPr>
          <p:txBody>
            <a:bodyPr anchor="ctr" rtlCol="false" tIns="0" lIns="0" bIns="0" rIns="0"/>
            <a:lstStyle/>
            <a:p>
              <a:pPr algn="r">
                <a:lnSpc>
                  <a:spcPts val="1800"/>
                </a:lnSpc>
              </a:pPr>
              <a:r>
                <a:rPr lang="en-US" sz="1500">
                  <a:solidFill>
                    <a:srgbClr val="000000"/>
                  </a:solidFill>
                  <a:latin typeface="Calibri (MS)"/>
                  <a:ea typeface="Calibri (MS)"/>
                  <a:cs typeface="Calibri (MS)"/>
                  <a:sym typeface="Calibri (MS)"/>
                </a:rPr>
                <a:t>‹#›</a:t>
              </a:r>
            </a:p>
          </p:txBody>
        </p:sp>
      </p:grpSp>
      <p:grpSp>
        <p:nvGrpSpPr>
          <p:cNvPr name="Group 11" id="11"/>
          <p:cNvGrpSpPr/>
          <p:nvPr/>
        </p:nvGrpSpPr>
        <p:grpSpPr>
          <a:xfrm rot="0">
            <a:off x="16497300" y="387296"/>
            <a:ext cx="1566958" cy="521018"/>
            <a:chOff x="0" y="0"/>
            <a:chExt cx="2089277" cy="694690"/>
          </a:xfrm>
        </p:grpSpPr>
        <p:sp>
          <p:nvSpPr>
            <p:cNvPr name="Freeform 12" id="12"/>
            <p:cNvSpPr/>
            <p:nvPr/>
          </p:nvSpPr>
          <p:spPr>
            <a:xfrm flipH="false" flipV="false" rot="0">
              <a:off x="0" y="0"/>
              <a:ext cx="2089277" cy="694690"/>
            </a:xfrm>
            <a:custGeom>
              <a:avLst/>
              <a:gdLst/>
              <a:ahLst/>
              <a:cxnLst/>
              <a:rect r="r" b="b" t="t" l="l"/>
              <a:pathLst>
                <a:path h="694690" w="2089277">
                  <a:moveTo>
                    <a:pt x="0" y="0"/>
                  </a:moveTo>
                  <a:lnTo>
                    <a:pt x="2089277" y="0"/>
                  </a:lnTo>
                  <a:lnTo>
                    <a:pt x="2089277" y="694690"/>
                  </a:lnTo>
                  <a:lnTo>
                    <a:pt x="0" y="694690"/>
                  </a:lnTo>
                  <a:lnTo>
                    <a:pt x="0" y="0"/>
                  </a:lnTo>
                  <a:close/>
                </a:path>
              </a:pathLst>
            </a:custGeom>
            <a:blipFill>
              <a:blip r:embed="rId5"/>
              <a:stretch>
                <a:fillRect l="-27" t="0" r="-27" b="0"/>
              </a:stretch>
            </a:blipFill>
          </p:spPr>
        </p:sp>
      </p:grpSp>
      <p:grpSp>
        <p:nvGrpSpPr>
          <p:cNvPr name="Group 13" id="13"/>
          <p:cNvGrpSpPr/>
          <p:nvPr/>
        </p:nvGrpSpPr>
        <p:grpSpPr>
          <a:xfrm rot="0">
            <a:off x="16497300" y="387296"/>
            <a:ext cx="1566958" cy="521018"/>
            <a:chOff x="0" y="0"/>
            <a:chExt cx="2089277" cy="694690"/>
          </a:xfrm>
        </p:grpSpPr>
        <p:sp>
          <p:nvSpPr>
            <p:cNvPr name="Freeform 14" id="14"/>
            <p:cNvSpPr/>
            <p:nvPr/>
          </p:nvSpPr>
          <p:spPr>
            <a:xfrm flipH="false" flipV="false" rot="0">
              <a:off x="0" y="0"/>
              <a:ext cx="2089277" cy="694690"/>
            </a:xfrm>
            <a:custGeom>
              <a:avLst/>
              <a:gdLst/>
              <a:ahLst/>
              <a:cxnLst/>
              <a:rect r="r" b="b" t="t" l="l"/>
              <a:pathLst>
                <a:path h="694690" w="2089277">
                  <a:moveTo>
                    <a:pt x="0" y="0"/>
                  </a:moveTo>
                  <a:lnTo>
                    <a:pt x="2089277" y="0"/>
                  </a:lnTo>
                  <a:lnTo>
                    <a:pt x="2089277" y="694690"/>
                  </a:lnTo>
                  <a:lnTo>
                    <a:pt x="0" y="694690"/>
                  </a:lnTo>
                  <a:lnTo>
                    <a:pt x="0" y="0"/>
                  </a:lnTo>
                  <a:close/>
                </a:path>
              </a:pathLst>
            </a:custGeom>
            <a:blipFill>
              <a:blip r:embed="rId5"/>
              <a:stretch>
                <a:fillRect l="-27" t="0" r="-27" b="0"/>
              </a:stretch>
            </a:blipFill>
          </p:spPr>
        </p:sp>
      </p:grpSp>
      <p:grpSp>
        <p:nvGrpSpPr>
          <p:cNvPr name="Group 15" id="15"/>
          <p:cNvGrpSpPr/>
          <p:nvPr/>
        </p:nvGrpSpPr>
        <p:grpSpPr>
          <a:xfrm rot="0">
            <a:off x="420624" y="268024"/>
            <a:ext cx="11110779" cy="554003"/>
            <a:chOff x="0" y="0"/>
            <a:chExt cx="14814372" cy="738670"/>
          </a:xfrm>
        </p:grpSpPr>
        <p:sp>
          <p:nvSpPr>
            <p:cNvPr name="Freeform 16" id="16"/>
            <p:cNvSpPr/>
            <p:nvPr/>
          </p:nvSpPr>
          <p:spPr>
            <a:xfrm flipH="false" flipV="false" rot="0">
              <a:off x="0" y="0"/>
              <a:ext cx="14814423" cy="738632"/>
            </a:xfrm>
            <a:custGeom>
              <a:avLst/>
              <a:gdLst/>
              <a:ahLst/>
              <a:cxnLst/>
              <a:rect r="r" b="b" t="t" l="l"/>
              <a:pathLst>
                <a:path h="738632" w="14814423">
                  <a:moveTo>
                    <a:pt x="0" y="0"/>
                  </a:moveTo>
                  <a:lnTo>
                    <a:pt x="14814423" y="0"/>
                  </a:lnTo>
                  <a:lnTo>
                    <a:pt x="14814423" y="738632"/>
                  </a:lnTo>
                  <a:lnTo>
                    <a:pt x="0" y="738632"/>
                  </a:lnTo>
                  <a:close/>
                </a:path>
              </a:pathLst>
            </a:custGeom>
            <a:blipFill>
              <a:blip r:embed="rId3">
                <a:alphaModFix amt="0"/>
              </a:blip>
              <a:stretch>
                <a:fillRect l="0" t="-340527" r="0" b="-340531"/>
              </a:stretch>
            </a:blipFill>
          </p:spPr>
        </p:sp>
      </p:grpSp>
      <p:grpSp>
        <p:nvGrpSpPr>
          <p:cNvPr name="Group 17" id="17"/>
          <p:cNvGrpSpPr/>
          <p:nvPr/>
        </p:nvGrpSpPr>
        <p:grpSpPr>
          <a:xfrm rot="0">
            <a:off x="420624" y="260880"/>
            <a:ext cx="11110779" cy="561146"/>
            <a:chOff x="0" y="0"/>
            <a:chExt cx="14814372" cy="748195"/>
          </a:xfrm>
        </p:grpSpPr>
        <p:sp>
          <p:nvSpPr>
            <p:cNvPr name="Freeform 18" id="18"/>
            <p:cNvSpPr/>
            <p:nvPr/>
          </p:nvSpPr>
          <p:spPr>
            <a:xfrm flipH="false" flipV="false" rot="0">
              <a:off x="0" y="0"/>
              <a:ext cx="14814372" cy="748196"/>
            </a:xfrm>
            <a:custGeom>
              <a:avLst/>
              <a:gdLst/>
              <a:ahLst/>
              <a:cxnLst/>
              <a:rect r="r" b="b" t="t" l="l"/>
              <a:pathLst>
                <a:path h="748196" w="14814372">
                  <a:moveTo>
                    <a:pt x="0" y="0"/>
                  </a:moveTo>
                  <a:lnTo>
                    <a:pt x="14814372" y="0"/>
                  </a:lnTo>
                  <a:lnTo>
                    <a:pt x="14814372" y="748196"/>
                  </a:lnTo>
                  <a:lnTo>
                    <a:pt x="0" y="748196"/>
                  </a:lnTo>
                  <a:close/>
                </a:path>
              </a:pathLst>
            </a:custGeom>
            <a:blipFill>
              <a:blip r:embed="rId4">
                <a:alphaModFix amt="0"/>
              </a:blip>
              <a:stretch>
                <a:fillRect l="0" t="-335806" r="0" b="-335806"/>
              </a:stretch>
            </a:blipFill>
          </p:spPr>
        </p:sp>
        <p:sp>
          <p:nvSpPr>
            <p:cNvPr name="TextBox 19" id="19"/>
            <p:cNvSpPr txBox="true"/>
            <p:nvPr/>
          </p:nvSpPr>
          <p:spPr>
            <a:xfrm>
              <a:off x="0" y="-9525"/>
              <a:ext cx="14814372" cy="757720"/>
            </a:xfrm>
            <a:prstGeom prst="rect">
              <a:avLst/>
            </a:prstGeom>
          </p:spPr>
          <p:txBody>
            <a:bodyPr anchor="ctr" rtlCol="false" tIns="0" lIns="0" bIns="0" rIns="0"/>
            <a:lstStyle/>
            <a:p>
              <a:pPr algn="l">
                <a:lnSpc>
                  <a:spcPts val="4211"/>
                </a:lnSpc>
              </a:pPr>
              <a:r>
                <a:rPr lang="en-US" sz="3509" b="true">
                  <a:solidFill>
                    <a:srgbClr val="22988A"/>
                  </a:solidFill>
                  <a:latin typeface="Aptos Bold"/>
                  <a:ea typeface="Aptos Bold"/>
                  <a:cs typeface="Aptos Bold"/>
                  <a:sym typeface="Aptos Bold"/>
                </a:rPr>
                <a:t>Solution Implementation</a:t>
              </a:r>
            </a:p>
          </p:txBody>
        </p:sp>
      </p:grpSp>
      <p:sp>
        <p:nvSpPr>
          <p:cNvPr name="TextBox 20" id="20"/>
          <p:cNvSpPr txBox="true"/>
          <p:nvPr/>
        </p:nvSpPr>
        <p:spPr>
          <a:xfrm rot="0">
            <a:off x="512064" y="889016"/>
            <a:ext cx="10876464" cy="576863"/>
          </a:xfrm>
          <a:prstGeom prst="rect">
            <a:avLst/>
          </a:prstGeom>
        </p:spPr>
        <p:txBody>
          <a:bodyPr anchor="t" rtlCol="false" tIns="0" lIns="0" bIns="0" rIns="0">
            <a:spAutoFit/>
          </a:bodyPr>
          <a:lstStyle/>
          <a:p>
            <a:pPr algn="l">
              <a:lnSpc>
                <a:spcPts val="3240"/>
              </a:lnSpc>
            </a:pPr>
            <a:r>
              <a:rPr lang="en-US" sz="2700">
                <a:solidFill>
                  <a:srgbClr val="000000"/>
                </a:solidFill>
                <a:latin typeface="Calibri (MS)"/>
                <a:ea typeface="Calibri (MS)"/>
                <a:cs typeface="Calibri (MS)"/>
                <a:sym typeface="Calibri (MS)"/>
              </a:rPr>
              <a:t>Major components / modules</a:t>
            </a:r>
          </a:p>
        </p:txBody>
      </p:sp>
      <p:sp>
        <p:nvSpPr>
          <p:cNvPr name="TextBox 21" id="21"/>
          <p:cNvSpPr txBox="true"/>
          <p:nvPr/>
        </p:nvSpPr>
        <p:spPr>
          <a:xfrm rot="0">
            <a:off x="753189" y="1642062"/>
            <a:ext cx="16905903" cy="6257925"/>
          </a:xfrm>
          <a:prstGeom prst="rect">
            <a:avLst/>
          </a:prstGeom>
        </p:spPr>
        <p:txBody>
          <a:bodyPr anchor="t" rtlCol="false" tIns="0" lIns="0" bIns="0" rIns="0">
            <a:spAutoFit/>
          </a:bodyPr>
          <a:lstStyle/>
          <a:p>
            <a:pPr algn="l">
              <a:lnSpc>
                <a:spcPts val="3240"/>
              </a:lnSpc>
            </a:pPr>
            <a:r>
              <a:rPr lang="en-US" sz="2700">
                <a:solidFill>
                  <a:srgbClr val="000000"/>
                </a:solidFill>
                <a:latin typeface="Calibri (MS)"/>
                <a:ea typeface="Calibri (MS)"/>
                <a:cs typeface="Calibri (MS)"/>
                <a:sym typeface="Calibri (MS)"/>
              </a:rPr>
              <a:t>The system is built using scalable, serverless, and event-driven components enabling real-time fraud detection, automated security workflows, and intelligent transaction monitoring.</a:t>
            </a:r>
          </a:p>
          <a:p>
            <a:pPr algn="l">
              <a:lnSpc>
                <a:spcPts val="3240"/>
              </a:lnSpc>
            </a:pPr>
          </a:p>
          <a:p>
            <a:pPr algn="l" marL="570071" indent="-190024" lvl="2">
              <a:lnSpc>
                <a:spcPts val="3240"/>
              </a:lnSpc>
              <a:buFont typeface="Arial"/>
              <a:buChar char="⚬"/>
            </a:pPr>
            <a:r>
              <a:rPr lang="en-US" b="true" sz="2700">
                <a:solidFill>
                  <a:srgbClr val="000000"/>
                </a:solidFill>
                <a:latin typeface="Calibri (MS) Bold"/>
                <a:ea typeface="Calibri (MS) Bold"/>
                <a:cs typeface="Calibri (MS) Bold"/>
                <a:sym typeface="Calibri (MS) Bold"/>
              </a:rPr>
              <a:t>Fraud Detection Engine</a:t>
            </a:r>
          </a:p>
          <a:p>
            <a:pPr algn="l" marL="570071" indent="-190024" lvl="2">
              <a:lnSpc>
                <a:spcPts val="3240"/>
              </a:lnSpc>
            </a:pPr>
            <a:r>
              <a:rPr lang="en-US" sz="2700">
                <a:solidFill>
                  <a:srgbClr val="000000"/>
                </a:solidFill>
                <a:latin typeface="Calibri (MS)"/>
                <a:ea typeface="Calibri (MS)"/>
                <a:cs typeface="Calibri (MS)"/>
                <a:sym typeface="Calibri (MS)"/>
              </a:rPr>
              <a:t>Evaluates transactions using SageMaker ML inference and multi-criteria rule evaluation.</a:t>
            </a:r>
          </a:p>
          <a:p>
            <a:pPr algn="l" marL="570071" indent="-190024" lvl="2">
              <a:lnSpc>
                <a:spcPts val="3240"/>
              </a:lnSpc>
              <a:buFont typeface="Arial"/>
              <a:buChar char="⚬"/>
            </a:pPr>
            <a:r>
              <a:rPr lang="en-US" b="true" sz="2700">
                <a:solidFill>
                  <a:srgbClr val="000000"/>
                </a:solidFill>
                <a:latin typeface="Calibri (MS) Bold"/>
                <a:ea typeface="Calibri (MS) Bold"/>
                <a:cs typeface="Calibri (MS) Bold"/>
                <a:sym typeface="Calibri (MS) Bold"/>
              </a:rPr>
              <a:t>API Gateway &amp; Lambda Processing</a:t>
            </a:r>
          </a:p>
          <a:p>
            <a:pPr algn="l" marL="570071" indent="-190024" lvl="2">
              <a:lnSpc>
                <a:spcPts val="3240"/>
              </a:lnSpc>
            </a:pPr>
            <a:r>
              <a:rPr lang="en-US" sz="2700">
                <a:solidFill>
                  <a:srgbClr val="000000"/>
                </a:solidFill>
                <a:latin typeface="Calibri (MS)"/>
                <a:ea typeface="Calibri (MS)"/>
                <a:cs typeface="Calibri (MS)"/>
                <a:sym typeface="Calibri (MS)"/>
              </a:rPr>
              <a:t>Handles transaction upload, OTP verification, and backend orchestration using AWS Lambda.</a:t>
            </a:r>
          </a:p>
          <a:p>
            <a:pPr algn="l" marL="570071" indent="-190024" lvl="2">
              <a:lnSpc>
                <a:spcPts val="3240"/>
              </a:lnSpc>
              <a:buFont typeface="Arial"/>
              <a:buChar char="⚬"/>
            </a:pPr>
            <a:r>
              <a:rPr lang="en-US" b="true" sz="2700">
                <a:solidFill>
                  <a:srgbClr val="000000"/>
                </a:solidFill>
                <a:latin typeface="Calibri (MS) Bold"/>
                <a:ea typeface="Calibri (MS) Bold"/>
                <a:cs typeface="Calibri (MS) Bold"/>
                <a:sym typeface="Calibri (MS) Bold"/>
              </a:rPr>
              <a:t>OTP Verification Module</a:t>
            </a:r>
          </a:p>
          <a:p>
            <a:pPr algn="l" marL="570071" indent="-190024" lvl="2">
              <a:lnSpc>
                <a:spcPts val="3240"/>
              </a:lnSpc>
            </a:pPr>
            <a:r>
              <a:rPr lang="en-US" sz="2700">
                <a:solidFill>
                  <a:srgbClr val="000000"/>
                </a:solidFill>
                <a:latin typeface="Calibri (MS)"/>
                <a:ea typeface="Calibri (MS)"/>
                <a:cs typeface="Calibri (MS)"/>
                <a:sym typeface="Calibri (MS)"/>
              </a:rPr>
              <a:t>Generates secure OTPs, sends them through Amazon SES, and verifies risky transactions</a:t>
            </a:r>
          </a:p>
          <a:p>
            <a:pPr algn="l" marL="570071" indent="-190024" lvl="2">
              <a:lnSpc>
                <a:spcPts val="3240"/>
              </a:lnSpc>
              <a:buFont typeface="Arial"/>
              <a:buChar char="⚬"/>
            </a:pPr>
            <a:r>
              <a:rPr lang="en-US" b="true" sz="2700">
                <a:solidFill>
                  <a:srgbClr val="000000"/>
                </a:solidFill>
                <a:latin typeface="Calibri (MS) Bold"/>
                <a:ea typeface="Calibri (MS) Bold"/>
                <a:cs typeface="Calibri (MS) Bold"/>
                <a:sym typeface="Calibri (MS) Bold"/>
              </a:rPr>
              <a:t>Automated Escalation Pipeline</a:t>
            </a:r>
          </a:p>
          <a:p>
            <a:pPr algn="l" marL="570071" indent="-190024" lvl="2">
              <a:lnSpc>
                <a:spcPts val="3240"/>
              </a:lnSpc>
            </a:pPr>
            <a:r>
              <a:rPr lang="en-US" sz="2700">
                <a:solidFill>
                  <a:srgbClr val="000000"/>
                </a:solidFill>
                <a:latin typeface="Calibri (MS)"/>
                <a:ea typeface="Calibri (MS)"/>
                <a:cs typeface="Calibri (MS)"/>
                <a:sym typeface="Calibri (MS)"/>
              </a:rPr>
              <a:t>Creates Jira tickets and sends SNS alerts automatically for fraudulent transactions.</a:t>
            </a:r>
          </a:p>
          <a:p>
            <a:pPr algn="l" marL="570071" indent="-190024" lvl="2">
              <a:lnSpc>
                <a:spcPts val="3240"/>
              </a:lnSpc>
              <a:buFont typeface="Arial"/>
              <a:buChar char="⚬"/>
            </a:pPr>
            <a:r>
              <a:rPr lang="en-US" b="true" sz="2700">
                <a:solidFill>
                  <a:srgbClr val="000000"/>
                </a:solidFill>
                <a:latin typeface="Calibri (MS) Bold"/>
                <a:ea typeface="Calibri (MS) Bold"/>
                <a:cs typeface="Calibri (MS) Bold"/>
                <a:sym typeface="Calibri (MS) Bold"/>
              </a:rPr>
              <a:t>Data Persistence Layer</a:t>
            </a:r>
          </a:p>
          <a:p>
            <a:pPr algn="l" marL="570071" indent="-190024" lvl="2">
              <a:lnSpc>
                <a:spcPts val="3240"/>
              </a:lnSpc>
            </a:pPr>
            <a:r>
              <a:rPr lang="en-US" sz="2700">
                <a:solidFill>
                  <a:srgbClr val="000000"/>
                </a:solidFill>
                <a:latin typeface="Calibri (MS)"/>
                <a:ea typeface="Calibri (MS)"/>
                <a:cs typeface="Calibri (MS)"/>
                <a:sym typeface="Calibri (MS)"/>
              </a:rPr>
              <a:t>Stores transaction records, OTP lifecycle data, audit logs, and fraud results in DynamoDB and Amazon S3.</a:t>
            </a:r>
          </a:p>
          <a:p>
            <a:pPr algn="l" marL="570071" indent="-190024" lvl="2">
              <a:lnSpc>
                <a:spcPts val="3240"/>
              </a:lnSpc>
              <a:buFont typeface="Arial"/>
              <a:buChar char="⚬"/>
            </a:pPr>
            <a:r>
              <a:rPr lang="en-US" b="true" sz="2700">
                <a:solidFill>
                  <a:srgbClr val="000000"/>
                </a:solidFill>
                <a:latin typeface="Calibri (MS) Bold"/>
                <a:ea typeface="Calibri (MS) Bold"/>
                <a:cs typeface="Calibri (MS) Bold"/>
                <a:sym typeface="Calibri (MS) Bold"/>
              </a:rPr>
              <a:t>Decision Engine</a:t>
            </a:r>
          </a:p>
          <a:p>
            <a:pPr algn="l" marL="570071" indent="-190024" lvl="2">
              <a:lnSpc>
                <a:spcPts val="3240"/>
              </a:lnSpc>
            </a:pPr>
            <a:r>
              <a:rPr lang="en-US" sz="2700">
                <a:solidFill>
                  <a:srgbClr val="000000"/>
                </a:solidFill>
                <a:latin typeface="Calibri (MS)"/>
                <a:ea typeface="Calibri (MS)"/>
                <a:cs typeface="Calibri (MS)"/>
                <a:sym typeface="Calibri (MS)"/>
              </a:rPr>
              <a:t>Classifies every transaction into SAFE, RISKY, or FRAUD based on ML score and rule evaluation.</a:t>
            </a:r>
          </a:p>
        </p:txBody>
      </p:sp>
      <p:grpSp>
        <p:nvGrpSpPr>
          <p:cNvPr name="Group 22" id="22"/>
          <p:cNvGrpSpPr/>
          <p:nvPr/>
        </p:nvGrpSpPr>
        <p:grpSpPr>
          <a:xfrm rot="0">
            <a:off x="438912" y="9938776"/>
            <a:ext cx="4811963" cy="230829"/>
            <a:chOff x="0" y="0"/>
            <a:chExt cx="6415951" cy="307772"/>
          </a:xfrm>
        </p:grpSpPr>
        <p:sp>
          <p:nvSpPr>
            <p:cNvPr name="Freeform 23" id="23"/>
            <p:cNvSpPr/>
            <p:nvPr/>
          </p:nvSpPr>
          <p:spPr>
            <a:xfrm flipH="false" flipV="false" rot="0">
              <a:off x="0" y="0"/>
              <a:ext cx="6415913" cy="307721"/>
            </a:xfrm>
            <a:custGeom>
              <a:avLst/>
              <a:gdLst/>
              <a:ahLst/>
              <a:cxnLst/>
              <a:rect r="r" b="b" t="t" l="l"/>
              <a:pathLst>
                <a:path h="307721" w="6415913">
                  <a:moveTo>
                    <a:pt x="0" y="0"/>
                  </a:moveTo>
                  <a:lnTo>
                    <a:pt x="6415913" y="0"/>
                  </a:lnTo>
                  <a:lnTo>
                    <a:pt x="6415913" y="307721"/>
                  </a:lnTo>
                  <a:lnTo>
                    <a:pt x="0" y="307721"/>
                  </a:lnTo>
                  <a:close/>
                </a:path>
              </a:pathLst>
            </a:custGeom>
            <a:blipFill>
              <a:blip r:embed="rId3">
                <a:alphaModFix amt="0"/>
              </a:blip>
              <a:stretch>
                <a:fillRect l="0" t="-355967" r="0" b="-355988"/>
              </a:stretch>
            </a:blipFill>
          </p:spPr>
        </p:sp>
      </p:grpSp>
      <p:grpSp>
        <p:nvGrpSpPr>
          <p:cNvPr name="Group 24" id="24"/>
          <p:cNvGrpSpPr/>
          <p:nvPr/>
        </p:nvGrpSpPr>
        <p:grpSpPr>
          <a:xfrm rot="0">
            <a:off x="591312" y="10091176"/>
            <a:ext cx="4811963" cy="230829"/>
            <a:chOff x="0" y="0"/>
            <a:chExt cx="6415951" cy="307772"/>
          </a:xfrm>
        </p:grpSpPr>
        <p:sp>
          <p:nvSpPr>
            <p:cNvPr name="Freeform 25" id="25"/>
            <p:cNvSpPr/>
            <p:nvPr/>
          </p:nvSpPr>
          <p:spPr>
            <a:xfrm flipH="false" flipV="false" rot="0">
              <a:off x="0" y="0"/>
              <a:ext cx="6415948" cy="307776"/>
            </a:xfrm>
            <a:custGeom>
              <a:avLst/>
              <a:gdLst/>
              <a:ahLst/>
              <a:cxnLst/>
              <a:rect r="r" b="b" t="t" l="l"/>
              <a:pathLst>
                <a:path h="307776" w="6415948">
                  <a:moveTo>
                    <a:pt x="0" y="0"/>
                  </a:moveTo>
                  <a:lnTo>
                    <a:pt x="6415948" y="0"/>
                  </a:lnTo>
                  <a:lnTo>
                    <a:pt x="6415948" y="307776"/>
                  </a:lnTo>
                  <a:lnTo>
                    <a:pt x="0" y="307776"/>
                  </a:lnTo>
                  <a:close/>
                </a:path>
              </a:pathLst>
            </a:custGeom>
            <a:blipFill>
              <a:blip r:embed="rId4">
                <a:alphaModFix amt="0"/>
              </a:blip>
              <a:stretch>
                <a:fillRect l="0" t="-356189" r="0" b="-356187"/>
              </a:stretch>
            </a:blipFill>
          </p:spPr>
        </p:sp>
        <p:sp>
          <p:nvSpPr>
            <p:cNvPr name="TextBox 26" id="26"/>
            <p:cNvSpPr txBox="true"/>
            <p:nvPr/>
          </p:nvSpPr>
          <p:spPr>
            <a:xfrm>
              <a:off x="0" y="-38100"/>
              <a:ext cx="6415951" cy="345872"/>
            </a:xfrm>
            <a:prstGeom prst="rect">
              <a:avLst/>
            </a:prstGeom>
          </p:spPr>
          <p:txBody>
            <a:bodyPr anchor="ctr" rtlCol="false" tIns="0" lIns="0" bIns="0" rIns="0"/>
            <a:lstStyle/>
            <a:p>
              <a:pPr algn="l">
                <a:lnSpc>
                  <a:spcPts val="1800"/>
                </a:lnSpc>
              </a:pPr>
              <a:r>
                <a:rPr lang="en-US" sz="1500">
                  <a:solidFill>
                    <a:srgbClr val="000000"/>
                  </a:solidFill>
                  <a:latin typeface="Calibri (MS)"/>
                  <a:ea typeface="Calibri (MS)"/>
                  <a:cs typeface="Calibri (MS)"/>
                  <a:sym typeface="Calibri (MS)"/>
                </a:rPr>
                <a:t>© Mphasis 2025  Proprietary and confidential information</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322803" y="9714938"/>
            <a:ext cx="672560" cy="551593"/>
            <a:chOff x="0" y="0"/>
            <a:chExt cx="896747" cy="735457"/>
          </a:xfrm>
        </p:grpSpPr>
        <p:sp>
          <p:nvSpPr>
            <p:cNvPr name="Freeform 3" id="3"/>
            <p:cNvSpPr/>
            <p:nvPr/>
          </p:nvSpPr>
          <p:spPr>
            <a:xfrm flipH="false" flipV="false" rot="0">
              <a:off x="0" y="0"/>
              <a:ext cx="896747" cy="735457"/>
            </a:xfrm>
            <a:custGeom>
              <a:avLst/>
              <a:gdLst/>
              <a:ahLst/>
              <a:cxnLst/>
              <a:rect r="r" b="b" t="t" l="l"/>
              <a:pathLst>
                <a:path h="735457" w="896747">
                  <a:moveTo>
                    <a:pt x="0" y="0"/>
                  </a:moveTo>
                  <a:lnTo>
                    <a:pt x="896747" y="0"/>
                  </a:lnTo>
                  <a:lnTo>
                    <a:pt x="896747" y="735457"/>
                  </a:lnTo>
                  <a:lnTo>
                    <a:pt x="0" y="735457"/>
                  </a:lnTo>
                  <a:lnTo>
                    <a:pt x="0" y="0"/>
                  </a:lnTo>
                  <a:close/>
                </a:path>
              </a:pathLst>
            </a:custGeom>
            <a:blipFill>
              <a:blip r:embed="rId2"/>
              <a:stretch>
                <a:fillRect l="0" t="-588" r="0" b="-587"/>
              </a:stretch>
            </a:blipFill>
          </p:spPr>
        </p:sp>
      </p:grpSp>
      <p:grpSp>
        <p:nvGrpSpPr>
          <p:cNvPr name="Group 4" id="4"/>
          <p:cNvGrpSpPr/>
          <p:nvPr/>
        </p:nvGrpSpPr>
        <p:grpSpPr>
          <a:xfrm rot="0">
            <a:off x="438912" y="9938776"/>
            <a:ext cx="4811963" cy="230829"/>
            <a:chOff x="0" y="0"/>
            <a:chExt cx="6415951" cy="307772"/>
          </a:xfrm>
        </p:grpSpPr>
        <p:sp>
          <p:nvSpPr>
            <p:cNvPr name="Freeform 5" id="5"/>
            <p:cNvSpPr/>
            <p:nvPr/>
          </p:nvSpPr>
          <p:spPr>
            <a:xfrm flipH="false" flipV="false" rot="0">
              <a:off x="0" y="0"/>
              <a:ext cx="6415913" cy="307721"/>
            </a:xfrm>
            <a:custGeom>
              <a:avLst/>
              <a:gdLst/>
              <a:ahLst/>
              <a:cxnLst/>
              <a:rect r="r" b="b" t="t" l="l"/>
              <a:pathLst>
                <a:path h="307721" w="6415913">
                  <a:moveTo>
                    <a:pt x="0" y="0"/>
                  </a:moveTo>
                  <a:lnTo>
                    <a:pt x="6415913" y="0"/>
                  </a:lnTo>
                  <a:lnTo>
                    <a:pt x="6415913" y="307721"/>
                  </a:lnTo>
                  <a:lnTo>
                    <a:pt x="0" y="307721"/>
                  </a:lnTo>
                  <a:close/>
                </a:path>
              </a:pathLst>
            </a:custGeom>
            <a:blipFill>
              <a:blip r:embed="rId3">
                <a:alphaModFix amt="0"/>
              </a:blip>
              <a:stretch>
                <a:fillRect l="0" t="-355967" r="0" b="-355988"/>
              </a:stretch>
            </a:blipFill>
          </p:spPr>
        </p:sp>
      </p:grpSp>
      <p:grpSp>
        <p:nvGrpSpPr>
          <p:cNvPr name="Group 6" id="6"/>
          <p:cNvGrpSpPr/>
          <p:nvPr/>
        </p:nvGrpSpPr>
        <p:grpSpPr>
          <a:xfrm rot="0">
            <a:off x="15896863" y="9938776"/>
            <a:ext cx="1100138" cy="230829"/>
            <a:chOff x="0" y="0"/>
            <a:chExt cx="1466850" cy="307772"/>
          </a:xfrm>
        </p:grpSpPr>
        <p:sp>
          <p:nvSpPr>
            <p:cNvPr name="Freeform 7" id="7"/>
            <p:cNvSpPr/>
            <p:nvPr/>
          </p:nvSpPr>
          <p:spPr>
            <a:xfrm flipH="false" flipV="false" rot="0">
              <a:off x="0" y="0"/>
              <a:ext cx="1466850" cy="307721"/>
            </a:xfrm>
            <a:custGeom>
              <a:avLst/>
              <a:gdLst/>
              <a:ahLst/>
              <a:cxnLst/>
              <a:rect r="r" b="b" t="t" l="l"/>
              <a:pathLst>
                <a:path h="307721" w="1466850">
                  <a:moveTo>
                    <a:pt x="0" y="0"/>
                  </a:moveTo>
                  <a:lnTo>
                    <a:pt x="1466850" y="0"/>
                  </a:lnTo>
                  <a:lnTo>
                    <a:pt x="1466850" y="307721"/>
                  </a:lnTo>
                  <a:lnTo>
                    <a:pt x="0" y="307721"/>
                  </a:lnTo>
                  <a:close/>
                </a:path>
              </a:pathLst>
            </a:custGeom>
            <a:blipFill>
              <a:blip r:embed="rId3">
                <a:alphaModFix amt="0"/>
              </a:blip>
              <a:stretch>
                <a:fillRect l="0" t="-42806" r="0" b="-42827"/>
              </a:stretch>
            </a:blipFill>
          </p:spPr>
        </p:sp>
      </p:grpSp>
      <p:grpSp>
        <p:nvGrpSpPr>
          <p:cNvPr name="Group 8" id="8"/>
          <p:cNvGrpSpPr/>
          <p:nvPr/>
        </p:nvGrpSpPr>
        <p:grpSpPr>
          <a:xfrm rot="0">
            <a:off x="15896863" y="9910201"/>
            <a:ext cx="1100138" cy="259404"/>
            <a:chOff x="0" y="0"/>
            <a:chExt cx="1466850" cy="345872"/>
          </a:xfrm>
        </p:grpSpPr>
        <p:sp>
          <p:nvSpPr>
            <p:cNvPr name="Freeform 9" id="9"/>
            <p:cNvSpPr/>
            <p:nvPr/>
          </p:nvSpPr>
          <p:spPr>
            <a:xfrm flipH="false" flipV="false" rot="0">
              <a:off x="0" y="0"/>
              <a:ext cx="1466851" cy="345872"/>
            </a:xfrm>
            <a:custGeom>
              <a:avLst/>
              <a:gdLst/>
              <a:ahLst/>
              <a:cxnLst/>
              <a:rect r="r" b="b" t="t" l="l"/>
              <a:pathLst>
                <a:path h="345872" w="1466851">
                  <a:moveTo>
                    <a:pt x="0" y="0"/>
                  </a:moveTo>
                  <a:lnTo>
                    <a:pt x="1466851" y="0"/>
                  </a:lnTo>
                  <a:lnTo>
                    <a:pt x="1466851" y="345872"/>
                  </a:lnTo>
                  <a:lnTo>
                    <a:pt x="0" y="345872"/>
                  </a:lnTo>
                  <a:close/>
                </a:path>
              </a:pathLst>
            </a:custGeom>
            <a:blipFill>
              <a:blip r:embed="rId4">
                <a:alphaModFix amt="0"/>
              </a:blip>
              <a:stretch>
                <a:fillRect l="0" t="-32636" r="0" b="-32636"/>
              </a:stretch>
            </a:blipFill>
          </p:spPr>
        </p:sp>
        <p:sp>
          <p:nvSpPr>
            <p:cNvPr name="TextBox 10" id="10"/>
            <p:cNvSpPr txBox="true"/>
            <p:nvPr/>
          </p:nvSpPr>
          <p:spPr>
            <a:xfrm>
              <a:off x="0" y="-38100"/>
              <a:ext cx="1466850" cy="383972"/>
            </a:xfrm>
            <a:prstGeom prst="rect">
              <a:avLst/>
            </a:prstGeom>
          </p:spPr>
          <p:txBody>
            <a:bodyPr anchor="ctr" rtlCol="false" tIns="0" lIns="0" bIns="0" rIns="0"/>
            <a:lstStyle/>
            <a:p>
              <a:pPr algn="r">
                <a:lnSpc>
                  <a:spcPts val="1800"/>
                </a:lnSpc>
              </a:pPr>
              <a:r>
                <a:rPr lang="en-US" sz="1500">
                  <a:solidFill>
                    <a:srgbClr val="000000"/>
                  </a:solidFill>
                  <a:latin typeface="Calibri (MS)"/>
                  <a:ea typeface="Calibri (MS)"/>
                  <a:cs typeface="Calibri (MS)"/>
                  <a:sym typeface="Calibri (MS)"/>
                </a:rPr>
                <a:t>‹#›</a:t>
              </a:r>
            </a:p>
          </p:txBody>
        </p:sp>
      </p:grpSp>
      <p:grpSp>
        <p:nvGrpSpPr>
          <p:cNvPr name="Group 11" id="11"/>
          <p:cNvGrpSpPr/>
          <p:nvPr/>
        </p:nvGrpSpPr>
        <p:grpSpPr>
          <a:xfrm rot="0">
            <a:off x="16497300" y="387296"/>
            <a:ext cx="1566958" cy="521018"/>
            <a:chOff x="0" y="0"/>
            <a:chExt cx="2089277" cy="694690"/>
          </a:xfrm>
        </p:grpSpPr>
        <p:sp>
          <p:nvSpPr>
            <p:cNvPr name="Freeform 12" id="12"/>
            <p:cNvSpPr/>
            <p:nvPr/>
          </p:nvSpPr>
          <p:spPr>
            <a:xfrm flipH="false" flipV="false" rot="0">
              <a:off x="0" y="0"/>
              <a:ext cx="2089277" cy="694690"/>
            </a:xfrm>
            <a:custGeom>
              <a:avLst/>
              <a:gdLst/>
              <a:ahLst/>
              <a:cxnLst/>
              <a:rect r="r" b="b" t="t" l="l"/>
              <a:pathLst>
                <a:path h="694690" w="2089277">
                  <a:moveTo>
                    <a:pt x="0" y="0"/>
                  </a:moveTo>
                  <a:lnTo>
                    <a:pt x="2089277" y="0"/>
                  </a:lnTo>
                  <a:lnTo>
                    <a:pt x="2089277" y="694690"/>
                  </a:lnTo>
                  <a:lnTo>
                    <a:pt x="0" y="694690"/>
                  </a:lnTo>
                  <a:lnTo>
                    <a:pt x="0" y="0"/>
                  </a:lnTo>
                  <a:close/>
                </a:path>
              </a:pathLst>
            </a:custGeom>
            <a:blipFill>
              <a:blip r:embed="rId5"/>
              <a:stretch>
                <a:fillRect l="-27" t="0" r="-27" b="0"/>
              </a:stretch>
            </a:blipFill>
          </p:spPr>
        </p:sp>
      </p:grpSp>
      <p:grpSp>
        <p:nvGrpSpPr>
          <p:cNvPr name="Group 13" id="13"/>
          <p:cNvGrpSpPr/>
          <p:nvPr/>
        </p:nvGrpSpPr>
        <p:grpSpPr>
          <a:xfrm rot="0">
            <a:off x="16497300" y="387296"/>
            <a:ext cx="1566958" cy="521018"/>
            <a:chOff x="0" y="0"/>
            <a:chExt cx="2089277" cy="694690"/>
          </a:xfrm>
        </p:grpSpPr>
        <p:sp>
          <p:nvSpPr>
            <p:cNvPr name="Freeform 14" id="14"/>
            <p:cNvSpPr/>
            <p:nvPr/>
          </p:nvSpPr>
          <p:spPr>
            <a:xfrm flipH="false" flipV="false" rot="0">
              <a:off x="0" y="0"/>
              <a:ext cx="2089277" cy="694690"/>
            </a:xfrm>
            <a:custGeom>
              <a:avLst/>
              <a:gdLst/>
              <a:ahLst/>
              <a:cxnLst/>
              <a:rect r="r" b="b" t="t" l="l"/>
              <a:pathLst>
                <a:path h="694690" w="2089277">
                  <a:moveTo>
                    <a:pt x="0" y="0"/>
                  </a:moveTo>
                  <a:lnTo>
                    <a:pt x="2089277" y="0"/>
                  </a:lnTo>
                  <a:lnTo>
                    <a:pt x="2089277" y="694690"/>
                  </a:lnTo>
                  <a:lnTo>
                    <a:pt x="0" y="694690"/>
                  </a:lnTo>
                  <a:lnTo>
                    <a:pt x="0" y="0"/>
                  </a:lnTo>
                  <a:close/>
                </a:path>
              </a:pathLst>
            </a:custGeom>
            <a:blipFill>
              <a:blip r:embed="rId5"/>
              <a:stretch>
                <a:fillRect l="-27" t="0" r="-27" b="0"/>
              </a:stretch>
            </a:blipFill>
          </p:spPr>
        </p:sp>
      </p:grpSp>
      <p:grpSp>
        <p:nvGrpSpPr>
          <p:cNvPr name="Group 15" id="15"/>
          <p:cNvGrpSpPr/>
          <p:nvPr/>
        </p:nvGrpSpPr>
        <p:grpSpPr>
          <a:xfrm rot="0">
            <a:off x="420624" y="268024"/>
            <a:ext cx="11110779" cy="554003"/>
            <a:chOff x="0" y="0"/>
            <a:chExt cx="14814372" cy="738670"/>
          </a:xfrm>
        </p:grpSpPr>
        <p:sp>
          <p:nvSpPr>
            <p:cNvPr name="Freeform 16" id="16"/>
            <p:cNvSpPr/>
            <p:nvPr/>
          </p:nvSpPr>
          <p:spPr>
            <a:xfrm flipH="false" flipV="false" rot="0">
              <a:off x="0" y="0"/>
              <a:ext cx="14814423" cy="738632"/>
            </a:xfrm>
            <a:custGeom>
              <a:avLst/>
              <a:gdLst/>
              <a:ahLst/>
              <a:cxnLst/>
              <a:rect r="r" b="b" t="t" l="l"/>
              <a:pathLst>
                <a:path h="738632" w="14814423">
                  <a:moveTo>
                    <a:pt x="0" y="0"/>
                  </a:moveTo>
                  <a:lnTo>
                    <a:pt x="14814423" y="0"/>
                  </a:lnTo>
                  <a:lnTo>
                    <a:pt x="14814423" y="738632"/>
                  </a:lnTo>
                  <a:lnTo>
                    <a:pt x="0" y="738632"/>
                  </a:lnTo>
                  <a:close/>
                </a:path>
              </a:pathLst>
            </a:custGeom>
            <a:blipFill>
              <a:blip r:embed="rId3">
                <a:alphaModFix amt="0"/>
              </a:blip>
              <a:stretch>
                <a:fillRect l="0" t="-340527" r="0" b="-340531"/>
              </a:stretch>
            </a:blipFill>
          </p:spPr>
        </p:sp>
      </p:grpSp>
      <p:grpSp>
        <p:nvGrpSpPr>
          <p:cNvPr name="Group 17" id="17"/>
          <p:cNvGrpSpPr/>
          <p:nvPr/>
        </p:nvGrpSpPr>
        <p:grpSpPr>
          <a:xfrm rot="0">
            <a:off x="420624" y="260880"/>
            <a:ext cx="11110779" cy="561146"/>
            <a:chOff x="0" y="0"/>
            <a:chExt cx="14814372" cy="748195"/>
          </a:xfrm>
        </p:grpSpPr>
        <p:sp>
          <p:nvSpPr>
            <p:cNvPr name="Freeform 18" id="18"/>
            <p:cNvSpPr/>
            <p:nvPr/>
          </p:nvSpPr>
          <p:spPr>
            <a:xfrm flipH="false" flipV="false" rot="0">
              <a:off x="0" y="0"/>
              <a:ext cx="14814372" cy="748196"/>
            </a:xfrm>
            <a:custGeom>
              <a:avLst/>
              <a:gdLst/>
              <a:ahLst/>
              <a:cxnLst/>
              <a:rect r="r" b="b" t="t" l="l"/>
              <a:pathLst>
                <a:path h="748196" w="14814372">
                  <a:moveTo>
                    <a:pt x="0" y="0"/>
                  </a:moveTo>
                  <a:lnTo>
                    <a:pt x="14814372" y="0"/>
                  </a:lnTo>
                  <a:lnTo>
                    <a:pt x="14814372" y="748196"/>
                  </a:lnTo>
                  <a:lnTo>
                    <a:pt x="0" y="748196"/>
                  </a:lnTo>
                  <a:close/>
                </a:path>
              </a:pathLst>
            </a:custGeom>
            <a:blipFill>
              <a:blip r:embed="rId4">
                <a:alphaModFix amt="0"/>
              </a:blip>
              <a:stretch>
                <a:fillRect l="0" t="-335806" r="0" b="-335806"/>
              </a:stretch>
            </a:blipFill>
          </p:spPr>
        </p:sp>
        <p:sp>
          <p:nvSpPr>
            <p:cNvPr name="TextBox 19" id="19"/>
            <p:cNvSpPr txBox="true"/>
            <p:nvPr/>
          </p:nvSpPr>
          <p:spPr>
            <a:xfrm>
              <a:off x="0" y="-9525"/>
              <a:ext cx="14814372" cy="757720"/>
            </a:xfrm>
            <a:prstGeom prst="rect">
              <a:avLst/>
            </a:prstGeom>
          </p:spPr>
          <p:txBody>
            <a:bodyPr anchor="ctr" rtlCol="false" tIns="0" lIns="0" bIns="0" rIns="0"/>
            <a:lstStyle/>
            <a:p>
              <a:pPr algn="l">
                <a:lnSpc>
                  <a:spcPts val="4211"/>
                </a:lnSpc>
              </a:pPr>
              <a:r>
                <a:rPr lang="en-US" sz="3509" b="true">
                  <a:solidFill>
                    <a:srgbClr val="22988A"/>
                  </a:solidFill>
                  <a:latin typeface="Aptos Bold"/>
                  <a:ea typeface="Aptos Bold"/>
                  <a:cs typeface="Aptos Bold"/>
                  <a:sym typeface="Aptos Bold"/>
                </a:rPr>
                <a:t>Solution Implementation</a:t>
              </a:r>
            </a:p>
          </p:txBody>
        </p:sp>
      </p:grpSp>
      <p:sp>
        <p:nvSpPr>
          <p:cNvPr name="TextBox 20" id="20"/>
          <p:cNvSpPr txBox="true"/>
          <p:nvPr/>
        </p:nvSpPr>
        <p:spPr>
          <a:xfrm rot="0">
            <a:off x="512064" y="889016"/>
            <a:ext cx="10876464" cy="576863"/>
          </a:xfrm>
          <a:prstGeom prst="rect">
            <a:avLst/>
          </a:prstGeom>
        </p:spPr>
        <p:txBody>
          <a:bodyPr anchor="t" rtlCol="false" tIns="0" lIns="0" bIns="0" rIns="0">
            <a:spAutoFit/>
          </a:bodyPr>
          <a:lstStyle/>
          <a:p>
            <a:pPr algn="l">
              <a:lnSpc>
                <a:spcPts val="3240"/>
              </a:lnSpc>
            </a:pPr>
            <a:r>
              <a:rPr lang="en-US" sz="2700">
                <a:solidFill>
                  <a:srgbClr val="000000"/>
                </a:solidFill>
                <a:latin typeface="Calibri (MS)"/>
                <a:ea typeface="Calibri (MS)"/>
                <a:cs typeface="Calibri (MS)"/>
                <a:sym typeface="Calibri (MS)"/>
              </a:rPr>
              <a:t>Technologies or tools used</a:t>
            </a:r>
          </a:p>
        </p:txBody>
      </p:sp>
      <p:sp>
        <p:nvSpPr>
          <p:cNvPr name="TextBox 21" id="21"/>
          <p:cNvSpPr txBox="true"/>
          <p:nvPr/>
        </p:nvSpPr>
        <p:spPr>
          <a:xfrm rot="0">
            <a:off x="721023" y="2022548"/>
            <a:ext cx="16905903" cy="4210050"/>
          </a:xfrm>
          <a:prstGeom prst="rect">
            <a:avLst/>
          </a:prstGeom>
        </p:spPr>
        <p:txBody>
          <a:bodyPr anchor="t" rtlCol="false" tIns="0" lIns="0" bIns="0" rIns="0">
            <a:spAutoFit/>
          </a:bodyPr>
          <a:lstStyle/>
          <a:p>
            <a:pPr algn="l">
              <a:lnSpc>
                <a:spcPts val="3240"/>
              </a:lnSpc>
            </a:pPr>
            <a:r>
              <a:rPr lang="en-US" sz="2700">
                <a:solidFill>
                  <a:srgbClr val="000000"/>
                </a:solidFill>
                <a:latin typeface="Calibri (MS)"/>
                <a:ea typeface="Calibri (MS)"/>
                <a:cs typeface="Calibri (MS)"/>
                <a:sym typeface="Calibri (MS)"/>
              </a:rPr>
              <a:t>Built on a serverless, scalable AWS architecture with AI-driven intelligence.</a:t>
            </a:r>
          </a:p>
          <a:p>
            <a:pPr algn="l">
              <a:lnSpc>
                <a:spcPts val="3240"/>
              </a:lnSpc>
            </a:pPr>
          </a:p>
          <a:p>
            <a:pPr algn="l">
              <a:lnSpc>
                <a:spcPts val="3240"/>
              </a:lnSpc>
            </a:pPr>
            <a:r>
              <a:rPr lang="en-US" sz="2700" b="true">
                <a:solidFill>
                  <a:srgbClr val="000000"/>
                </a:solidFill>
                <a:latin typeface="Times New Roman Bold"/>
                <a:ea typeface="Times New Roman Bold"/>
                <a:cs typeface="Times New Roman Bold"/>
                <a:sym typeface="Times New Roman Bold"/>
              </a:rPr>
              <a:t>Frontend: </a:t>
            </a:r>
            <a:r>
              <a:rPr lang="en-US" sz="2700">
                <a:solidFill>
                  <a:srgbClr val="000000"/>
                </a:solidFill>
                <a:latin typeface="Times New Roman"/>
                <a:ea typeface="Times New Roman"/>
                <a:cs typeface="Times New Roman"/>
                <a:sym typeface="Times New Roman"/>
              </a:rPr>
              <a:t>React + JavaScript</a:t>
            </a:r>
          </a:p>
          <a:p>
            <a:pPr algn="l">
              <a:lnSpc>
                <a:spcPts val="3240"/>
              </a:lnSpc>
            </a:pPr>
            <a:r>
              <a:rPr lang="en-US" sz="2700" b="true">
                <a:solidFill>
                  <a:srgbClr val="000000"/>
                </a:solidFill>
                <a:latin typeface="Times New Roman Bold"/>
                <a:ea typeface="Times New Roman Bold"/>
                <a:cs typeface="Times New Roman Bold"/>
                <a:sym typeface="Times New Roman Bold"/>
              </a:rPr>
              <a:t>Backend:</a:t>
            </a:r>
            <a:r>
              <a:rPr lang="en-US" sz="2700">
                <a:solidFill>
                  <a:srgbClr val="000000"/>
                </a:solidFill>
                <a:latin typeface="Times New Roman"/>
                <a:ea typeface="Times New Roman"/>
                <a:cs typeface="Times New Roman"/>
                <a:sym typeface="Times New Roman"/>
              </a:rPr>
              <a:t> Python (AWS Lambda)</a:t>
            </a:r>
          </a:p>
          <a:p>
            <a:pPr algn="l">
              <a:lnSpc>
                <a:spcPts val="3240"/>
              </a:lnSpc>
            </a:pPr>
            <a:r>
              <a:rPr lang="en-US" sz="2700" b="true">
                <a:solidFill>
                  <a:srgbClr val="000000"/>
                </a:solidFill>
                <a:latin typeface="Times New Roman Bold"/>
                <a:ea typeface="Times New Roman Bold"/>
                <a:cs typeface="Times New Roman Bold"/>
                <a:sym typeface="Times New Roman Bold"/>
              </a:rPr>
              <a:t>Database:</a:t>
            </a:r>
            <a:r>
              <a:rPr lang="en-US" sz="2700">
                <a:solidFill>
                  <a:srgbClr val="000000"/>
                </a:solidFill>
                <a:latin typeface="Times New Roman"/>
                <a:ea typeface="Times New Roman"/>
                <a:cs typeface="Times New Roman"/>
                <a:sym typeface="Times New Roman"/>
              </a:rPr>
              <a:t> Amazon DynamoDB</a:t>
            </a:r>
          </a:p>
          <a:p>
            <a:pPr algn="l">
              <a:lnSpc>
                <a:spcPts val="3240"/>
              </a:lnSpc>
            </a:pPr>
            <a:r>
              <a:rPr lang="en-US" sz="2700" b="true">
                <a:solidFill>
                  <a:srgbClr val="000000"/>
                </a:solidFill>
                <a:latin typeface="Times New Roman Bold"/>
                <a:ea typeface="Times New Roman Bold"/>
                <a:cs typeface="Times New Roman Bold"/>
                <a:sym typeface="Times New Roman Bold"/>
              </a:rPr>
              <a:t>AI / ML: </a:t>
            </a:r>
            <a:r>
              <a:rPr lang="en-US" sz="2700">
                <a:solidFill>
                  <a:srgbClr val="000000"/>
                </a:solidFill>
                <a:latin typeface="Times New Roman"/>
                <a:ea typeface="Times New Roman"/>
                <a:cs typeface="Times New Roman"/>
                <a:sym typeface="Times New Roman"/>
              </a:rPr>
              <a:t>Amazon SageMaker</a:t>
            </a:r>
          </a:p>
          <a:p>
            <a:pPr algn="l">
              <a:lnSpc>
                <a:spcPts val="3240"/>
              </a:lnSpc>
            </a:pPr>
            <a:r>
              <a:rPr lang="en-US" sz="2700" b="true">
                <a:solidFill>
                  <a:srgbClr val="000000"/>
                </a:solidFill>
                <a:latin typeface="Times New Roman Bold"/>
                <a:ea typeface="Times New Roman Bold"/>
                <a:cs typeface="Times New Roman Bold"/>
                <a:sym typeface="Times New Roman Bold"/>
              </a:rPr>
              <a:t>Notifications: </a:t>
            </a:r>
            <a:r>
              <a:rPr lang="en-US" sz="2700">
                <a:solidFill>
                  <a:srgbClr val="000000"/>
                </a:solidFill>
                <a:latin typeface="Times New Roman"/>
                <a:ea typeface="Times New Roman"/>
                <a:cs typeface="Times New Roman"/>
                <a:sym typeface="Times New Roman"/>
              </a:rPr>
              <a:t>Amazon SES + SNS</a:t>
            </a:r>
          </a:p>
          <a:p>
            <a:pPr algn="l">
              <a:lnSpc>
                <a:spcPts val="3240"/>
              </a:lnSpc>
            </a:pPr>
            <a:r>
              <a:rPr lang="en-US" sz="2700" b="true">
                <a:solidFill>
                  <a:srgbClr val="000000"/>
                </a:solidFill>
                <a:latin typeface="Times New Roman Bold"/>
                <a:ea typeface="Times New Roman Bold"/>
                <a:cs typeface="Times New Roman Bold"/>
                <a:sym typeface="Times New Roman Bold"/>
              </a:rPr>
              <a:t>Storage: </a:t>
            </a:r>
            <a:r>
              <a:rPr lang="en-US" sz="2700">
                <a:solidFill>
                  <a:srgbClr val="000000"/>
                </a:solidFill>
                <a:latin typeface="Times New Roman"/>
                <a:ea typeface="Times New Roman"/>
                <a:cs typeface="Times New Roman"/>
                <a:sym typeface="Times New Roman"/>
              </a:rPr>
              <a:t>Amazon S3</a:t>
            </a:r>
          </a:p>
          <a:p>
            <a:pPr algn="l">
              <a:lnSpc>
                <a:spcPts val="3240"/>
              </a:lnSpc>
            </a:pPr>
            <a:r>
              <a:rPr lang="en-US" sz="2700" b="true">
                <a:solidFill>
                  <a:srgbClr val="000000"/>
                </a:solidFill>
                <a:latin typeface="Times New Roman Bold"/>
                <a:ea typeface="Times New Roman Bold"/>
                <a:cs typeface="Times New Roman Bold"/>
                <a:sym typeface="Times New Roman Bold"/>
              </a:rPr>
              <a:t>API Layer: </a:t>
            </a:r>
            <a:r>
              <a:rPr lang="en-US" sz="2700">
                <a:solidFill>
                  <a:srgbClr val="000000"/>
                </a:solidFill>
                <a:latin typeface="Times New Roman"/>
                <a:ea typeface="Times New Roman"/>
                <a:cs typeface="Times New Roman"/>
                <a:sym typeface="Times New Roman"/>
              </a:rPr>
              <a:t>AWS API Gateway</a:t>
            </a:r>
          </a:p>
          <a:p>
            <a:pPr algn="l">
              <a:lnSpc>
                <a:spcPts val="3240"/>
              </a:lnSpc>
            </a:pPr>
            <a:r>
              <a:rPr lang="en-US" sz="2700" b="true">
                <a:solidFill>
                  <a:srgbClr val="000000"/>
                </a:solidFill>
                <a:latin typeface="Times New Roman Bold"/>
                <a:ea typeface="Times New Roman Bold"/>
                <a:cs typeface="Times New Roman Bold"/>
                <a:sym typeface="Times New Roman Bold"/>
              </a:rPr>
              <a:t>Issue Tracking: </a:t>
            </a:r>
            <a:r>
              <a:rPr lang="en-US" sz="2700">
                <a:solidFill>
                  <a:srgbClr val="000000"/>
                </a:solidFill>
                <a:latin typeface="Times New Roman"/>
                <a:ea typeface="Times New Roman"/>
                <a:cs typeface="Times New Roman"/>
                <a:sym typeface="Times New Roman"/>
              </a:rPr>
              <a:t>Jira REST API</a:t>
            </a:r>
          </a:p>
        </p:txBody>
      </p:sp>
      <p:grpSp>
        <p:nvGrpSpPr>
          <p:cNvPr name="Group 22" id="22"/>
          <p:cNvGrpSpPr/>
          <p:nvPr/>
        </p:nvGrpSpPr>
        <p:grpSpPr>
          <a:xfrm rot="0">
            <a:off x="438912" y="9938776"/>
            <a:ext cx="4811963" cy="230829"/>
            <a:chOff x="0" y="0"/>
            <a:chExt cx="6415951" cy="307772"/>
          </a:xfrm>
        </p:grpSpPr>
        <p:sp>
          <p:nvSpPr>
            <p:cNvPr name="Freeform 23" id="23"/>
            <p:cNvSpPr/>
            <p:nvPr/>
          </p:nvSpPr>
          <p:spPr>
            <a:xfrm flipH="false" flipV="false" rot="0">
              <a:off x="0" y="0"/>
              <a:ext cx="6415913" cy="307721"/>
            </a:xfrm>
            <a:custGeom>
              <a:avLst/>
              <a:gdLst/>
              <a:ahLst/>
              <a:cxnLst/>
              <a:rect r="r" b="b" t="t" l="l"/>
              <a:pathLst>
                <a:path h="307721" w="6415913">
                  <a:moveTo>
                    <a:pt x="0" y="0"/>
                  </a:moveTo>
                  <a:lnTo>
                    <a:pt x="6415913" y="0"/>
                  </a:lnTo>
                  <a:lnTo>
                    <a:pt x="6415913" y="307721"/>
                  </a:lnTo>
                  <a:lnTo>
                    <a:pt x="0" y="307721"/>
                  </a:lnTo>
                  <a:close/>
                </a:path>
              </a:pathLst>
            </a:custGeom>
            <a:blipFill>
              <a:blip r:embed="rId3">
                <a:alphaModFix amt="0"/>
              </a:blip>
              <a:stretch>
                <a:fillRect l="0" t="-355967" r="0" b="-355988"/>
              </a:stretch>
            </a:blipFill>
          </p:spPr>
        </p:sp>
      </p:grpSp>
      <p:grpSp>
        <p:nvGrpSpPr>
          <p:cNvPr name="Group 24" id="24"/>
          <p:cNvGrpSpPr/>
          <p:nvPr/>
        </p:nvGrpSpPr>
        <p:grpSpPr>
          <a:xfrm rot="0">
            <a:off x="591312" y="10091176"/>
            <a:ext cx="4811963" cy="230829"/>
            <a:chOff x="0" y="0"/>
            <a:chExt cx="6415951" cy="307772"/>
          </a:xfrm>
        </p:grpSpPr>
        <p:sp>
          <p:nvSpPr>
            <p:cNvPr name="Freeform 25" id="25"/>
            <p:cNvSpPr/>
            <p:nvPr/>
          </p:nvSpPr>
          <p:spPr>
            <a:xfrm flipH="false" flipV="false" rot="0">
              <a:off x="0" y="0"/>
              <a:ext cx="6415948" cy="307776"/>
            </a:xfrm>
            <a:custGeom>
              <a:avLst/>
              <a:gdLst/>
              <a:ahLst/>
              <a:cxnLst/>
              <a:rect r="r" b="b" t="t" l="l"/>
              <a:pathLst>
                <a:path h="307776" w="6415948">
                  <a:moveTo>
                    <a:pt x="0" y="0"/>
                  </a:moveTo>
                  <a:lnTo>
                    <a:pt x="6415948" y="0"/>
                  </a:lnTo>
                  <a:lnTo>
                    <a:pt x="6415948" y="307776"/>
                  </a:lnTo>
                  <a:lnTo>
                    <a:pt x="0" y="307776"/>
                  </a:lnTo>
                  <a:close/>
                </a:path>
              </a:pathLst>
            </a:custGeom>
            <a:blipFill>
              <a:blip r:embed="rId4">
                <a:alphaModFix amt="0"/>
              </a:blip>
              <a:stretch>
                <a:fillRect l="0" t="-356189" r="0" b="-356187"/>
              </a:stretch>
            </a:blipFill>
          </p:spPr>
        </p:sp>
        <p:sp>
          <p:nvSpPr>
            <p:cNvPr name="TextBox 26" id="26"/>
            <p:cNvSpPr txBox="true"/>
            <p:nvPr/>
          </p:nvSpPr>
          <p:spPr>
            <a:xfrm>
              <a:off x="0" y="-38100"/>
              <a:ext cx="6415951" cy="345872"/>
            </a:xfrm>
            <a:prstGeom prst="rect">
              <a:avLst/>
            </a:prstGeom>
          </p:spPr>
          <p:txBody>
            <a:bodyPr anchor="ctr" rtlCol="false" tIns="0" lIns="0" bIns="0" rIns="0"/>
            <a:lstStyle/>
            <a:p>
              <a:pPr algn="l">
                <a:lnSpc>
                  <a:spcPts val="1800"/>
                </a:lnSpc>
              </a:pPr>
              <a:r>
                <a:rPr lang="en-US" sz="1500">
                  <a:solidFill>
                    <a:srgbClr val="000000"/>
                  </a:solidFill>
                  <a:latin typeface="Calibri (MS)"/>
                  <a:ea typeface="Calibri (MS)"/>
                  <a:cs typeface="Calibri (MS)"/>
                  <a:sym typeface="Calibri (MS)"/>
                </a:rPr>
                <a:t>© Mphasis 2025  Proprietary and confidential information</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322803" y="9714938"/>
            <a:ext cx="672560" cy="551593"/>
            <a:chOff x="0" y="0"/>
            <a:chExt cx="896747" cy="735457"/>
          </a:xfrm>
        </p:grpSpPr>
        <p:sp>
          <p:nvSpPr>
            <p:cNvPr name="Freeform 3" id="3"/>
            <p:cNvSpPr/>
            <p:nvPr/>
          </p:nvSpPr>
          <p:spPr>
            <a:xfrm flipH="false" flipV="false" rot="0">
              <a:off x="0" y="0"/>
              <a:ext cx="896747" cy="735457"/>
            </a:xfrm>
            <a:custGeom>
              <a:avLst/>
              <a:gdLst/>
              <a:ahLst/>
              <a:cxnLst/>
              <a:rect r="r" b="b" t="t" l="l"/>
              <a:pathLst>
                <a:path h="735457" w="896747">
                  <a:moveTo>
                    <a:pt x="0" y="0"/>
                  </a:moveTo>
                  <a:lnTo>
                    <a:pt x="896747" y="0"/>
                  </a:lnTo>
                  <a:lnTo>
                    <a:pt x="896747" y="735457"/>
                  </a:lnTo>
                  <a:lnTo>
                    <a:pt x="0" y="735457"/>
                  </a:lnTo>
                  <a:lnTo>
                    <a:pt x="0" y="0"/>
                  </a:lnTo>
                  <a:close/>
                </a:path>
              </a:pathLst>
            </a:custGeom>
            <a:blipFill>
              <a:blip r:embed="rId2"/>
              <a:stretch>
                <a:fillRect l="0" t="-588" r="0" b="-587"/>
              </a:stretch>
            </a:blipFill>
          </p:spPr>
        </p:sp>
      </p:grpSp>
      <p:grpSp>
        <p:nvGrpSpPr>
          <p:cNvPr name="Group 4" id="4"/>
          <p:cNvGrpSpPr/>
          <p:nvPr/>
        </p:nvGrpSpPr>
        <p:grpSpPr>
          <a:xfrm rot="0">
            <a:off x="438912" y="9938776"/>
            <a:ext cx="4811963" cy="230829"/>
            <a:chOff x="0" y="0"/>
            <a:chExt cx="6415951" cy="307772"/>
          </a:xfrm>
        </p:grpSpPr>
        <p:sp>
          <p:nvSpPr>
            <p:cNvPr name="Freeform 5" id="5"/>
            <p:cNvSpPr/>
            <p:nvPr/>
          </p:nvSpPr>
          <p:spPr>
            <a:xfrm flipH="false" flipV="false" rot="0">
              <a:off x="0" y="0"/>
              <a:ext cx="6415913" cy="307721"/>
            </a:xfrm>
            <a:custGeom>
              <a:avLst/>
              <a:gdLst/>
              <a:ahLst/>
              <a:cxnLst/>
              <a:rect r="r" b="b" t="t" l="l"/>
              <a:pathLst>
                <a:path h="307721" w="6415913">
                  <a:moveTo>
                    <a:pt x="0" y="0"/>
                  </a:moveTo>
                  <a:lnTo>
                    <a:pt x="6415913" y="0"/>
                  </a:lnTo>
                  <a:lnTo>
                    <a:pt x="6415913" y="307721"/>
                  </a:lnTo>
                  <a:lnTo>
                    <a:pt x="0" y="307721"/>
                  </a:lnTo>
                  <a:close/>
                </a:path>
              </a:pathLst>
            </a:custGeom>
            <a:blipFill>
              <a:blip r:embed="rId3">
                <a:alphaModFix amt="0"/>
              </a:blip>
              <a:stretch>
                <a:fillRect l="0" t="-355967" r="0" b="-355988"/>
              </a:stretch>
            </a:blipFill>
          </p:spPr>
        </p:sp>
      </p:grpSp>
      <p:grpSp>
        <p:nvGrpSpPr>
          <p:cNvPr name="Group 6" id="6"/>
          <p:cNvGrpSpPr/>
          <p:nvPr/>
        </p:nvGrpSpPr>
        <p:grpSpPr>
          <a:xfrm rot="0">
            <a:off x="15896863" y="9938776"/>
            <a:ext cx="1100138" cy="230829"/>
            <a:chOff x="0" y="0"/>
            <a:chExt cx="1466850" cy="307772"/>
          </a:xfrm>
        </p:grpSpPr>
        <p:sp>
          <p:nvSpPr>
            <p:cNvPr name="Freeform 7" id="7"/>
            <p:cNvSpPr/>
            <p:nvPr/>
          </p:nvSpPr>
          <p:spPr>
            <a:xfrm flipH="false" flipV="false" rot="0">
              <a:off x="0" y="0"/>
              <a:ext cx="1466850" cy="307721"/>
            </a:xfrm>
            <a:custGeom>
              <a:avLst/>
              <a:gdLst/>
              <a:ahLst/>
              <a:cxnLst/>
              <a:rect r="r" b="b" t="t" l="l"/>
              <a:pathLst>
                <a:path h="307721" w="1466850">
                  <a:moveTo>
                    <a:pt x="0" y="0"/>
                  </a:moveTo>
                  <a:lnTo>
                    <a:pt x="1466850" y="0"/>
                  </a:lnTo>
                  <a:lnTo>
                    <a:pt x="1466850" y="307721"/>
                  </a:lnTo>
                  <a:lnTo>
                    <a:pt x="0" y="307721"/>
                  </a:lnTo>
                  <a:close/>
                </a:path>
              </a:pathLst>
            </a:custGeom>
            <a:blipFill>
              <a:blip r:embed="rId3">
                <a:alphaModFix amt="0"/>
              </a:blip>
              <a:stretch>
                <a:fillRect l="0" t="-42806" r="0" b="-42827"/>
              </a:stretch>
            </a:blipFill>
          </p:spPr>
        </p:sp>
      </p:grpSp>
      <p:grpSp>
        <p:nvGrpSpPr>
          <p:cNvPr name="Group 8" id="8"/>
          <p:cNvGrpSpPr/>
          <p:nvPr/>
        </p:nvGrpSpPr>
        <p:grpSpPr>
          <a:xfrm rot="0">
            <a:off x="15896863" y="9910201"/>
            <a:ext cx="1100138" cy="259404"/>
            <a:chOff x="0" y="0"/>
            <a:chExt cx="1466850" cy="345872"/>
          </a:xfrm>
        </p:grpSpPr>
        <p:sp>
          <p:nvSpPr>
            <p:cNvPr name="Freeform 9" id="9"/>
            <p:cNvSpPr/>
            <p:nvPr/>
          </p:nvSpPr>
          <p:spPr>
            <a:xfrm flipH="false" flipV="false" rot="0">
              <a:off x="0" y="0"/>
              <a:ext cx="1466851" cy="345872"/>
            </a:xfrm>
            <a:custGeom>
              <a:avLst/>
              <a:gdLst/>
              <a:ahLst/>
              <a:cxnLst/>
              <a:rect r="r" b="b" t="t" l="l"/>
              <a:pathLst>
                <a:path h="345872" w="1466851">
                  <a:moveTo>
                    <a:pt x="0" y="0"/>
                  </a:moveTo>
                  <a:lnTo>
                    <a:pt x="1466851" y="0"/>
                  </a:lnTo>
                  <a:lnTo>
                    <a:pt x="1466851" y="345872"/>
                  </a:lnTo>
                  <a:lnTo>
                    <a:pt x="0" y="345872"/>
                  </a:lnTo>
                  <a:close/>
                </a:path>
              </a:pathLst>
            </a:custGeom>
            <a:blipFill>
              <a:blip r:embed="rId4">
                <a:alphaModFix amt="0"/>
              </a:blip>
              <a:stretch>
                <a:fillRect l="0" t="-32636" r="0" b="-32636"/>
              </a:stretch>
            </a:blipFill>
          </p:spPr>
        </p:sp>
        <p:sp>
          <p:nvSpPr>
            <p:cNvPr name="TextBox 10" id="10"/>
            <p:cNvSpPr txBox="true"/>
            <p:nvPr/>
          </p:nvSpPr>
          <p:spPr>
            <a:xfrm>
              <a:off x="0" y="-38100"/>
              <a:ext cx="1466850" cy="383972"/>
            </a:xfrm>
            <a:prstGeom prst="rect">
              <a:avLst/>
            </a:prstGeom>
          </p:spPr>
          <p:txBody>
            <a:bodyPr anchor="ctr" rtlCol="false" tIns="0" lIns="0" bIns="0" rIns="0"/>
            <a:lstStyle/>
            <a:p>
              <a:pPr algn="r">
                <a:lnSpc>
                  <a:spcPts val="1800"/>
                </a:lnSpc>
              </a:pPr>
              <a:r>
                <a:rPr lang="en-US" sz="1500">
                  <a:solidFill>
                    <a:srgbClr val="000000"/>
                  </a:solidFill>
                  <a:latin typeface="Calibri (MS)"/>
                  <a:ea typeface="Calibri (MS)"/>
                  <a:cs typeface="Calibri (MS)"/>
                  <a:sym typeface="Calibri (MS)"/>
                </a:rPr>
                <a:t>‹#›</a:t>
              </a:r>
            </a:p>
          </p:txBody>
        </p:sp>
      </p:grpSp>
      <p:grpSp>
        <p:nvGrpSpPr>
          <p:cNvPr name="Group 11" id="11"/>
          <p:cNvGrpSpPr/>
          <p:nvPr/>
        </p:nvGrpSpPr>
        <p:grpSpPr>
          <a:xfrm rot="0">
            <a:off x="16497300" y="387296"/>
            <a:ext cx="1566958" cy="521018"/>
            <a:chOff x="0" y="0"/>
            <a:chExt cx="2089277" cy="694690"/>
          </a:xfrm>
        </p:grpSpPr>
        <p:sp>
          <p:nvSpPr>
            <p:cNvPr name="Freeform 12" id="12"/>
            <p:cNvSpPr/>
            <p:nvPr/>
          </p:nvSpPr>
          <p:spPr>
            <a:xfrm flipH="false" flipV="false" rot="0">
              <a:off x="0" y="0"/>
              <a:ext cx="2089277" cy="694690"/>
            </a:xfrm>
            <a:custGeom>
              <a:avLst/>
              <a:gdLst/>
              <a:ahLst/>
              <a:cxnLst/>
              <a:rect r="r" b="b" t="t" l="l"/>
              <a:pathLst>
                <a:path h="694690" w="2089277">
                  <a:moveTo>
                    <a:pt x="0" y="0"/>
                  </a:moveTo>
                  <a:lnTo>
                    <a:pt x="2089277" y="0"/>
                  </a:lnTo>
                  <a:lnTo>
                    <a:pt x="2089277" y="694690"/>
                  </a:lnTo>
                  <a:lnTo>
                    <a:pt x="0" y="694690"/>
                  </a:lnTo>
                  <a:lnTo>
                    <a:pt x="0" y="0"/>
                  </a:lnTo>
                  <a:close/>
                </a:path>
              </a:pathLst>
            </a:custGeom>
            <a:blipFill>
              <a:blip r:embed="rId5"/>
              <a:stretch>
                <a:fillRect l="-27" t="0" r="-27" b="0"/>
              </a:stretch>
            </a:blipFill>
          </p:spPr>
        </p:sp>
      </p:grpSp>
      <p:grpSp>
        <p:nvGrpSpPr>
          <p:cNvPr name="Group 13" id="13"/>
          <p:cNvGrpSpPr/>
          <p:nvPr/>
        </p:nvGrpSpPr>
        <p:grpSpPr>
          <a:xfrm rot="0">
            <a:off x="16497300" y="387296"/>
            <a:ext cx="1566958" cy="521018"/>
            <a:chOff x="0" y="0"/>
            <a:chExt cx="2089277" cy="694690"/>
          </a:xfrm>
        </p:grpSpPr>
        <p:sp>
          <p:nvSpPr>
            <p:cNvPr name="Freeform 14" id="14"/>
            <p:cNvSpPr/>
            <p:nvPr/>
          </p:nvSpPr>
          <p:spPr>
            <a:xfrm flipH="false" flipV="false" rot="0">
              <a:off x="0" y="0"/>
              <a:ext cx="2089277" cy="694690"/>
            </a:xfrm>
            <a:custGeom>
              <a:avLst/>
              <a:gdLst/>
              <a:ahLst/>
              <a:cxnLst/>
              <a:rect r="r" b="b" t="t" l="l"/>
              <a:pathLst>
                <a:path h="694690" w="2089277">
                  <a:moveTo>
                    <a:pt x="0" y="0"/>
                  </a:moveTo>
                  <a:lnTo>
                    <a:pt x="2089277" y="0"/>
                  </a:lnTo>
                  <a:lnTo>
                    <a:pt x="2089277" y="694690"/>
                  </a:lnTo>
                  <a:lnTo>
                    <a:pt x="0" y="694690"/>
                  </a:lnTo>
                  <a:lnTo>
                    <a:pt x="0" y="0"/>
                  </a:lnTo>
                  <a:close/>
                </a:path>
              </a:pathLst>
            </a:custGeom>
            <a:blipFill>
              <a:blip r:embed="rId5"/>
              <a:stretch>
                <a:fillRect l="-27" t="0" r="-27" b="0"/>
              </a:stretch>
            </a:blipFill>
          </p:spPr>
        </p:sp>
      </p:grpSp>
      <p:grpSp>
        <p:nvGrpSpPr>
          <p:cNvPr name="Group 15" id="15"/>
          <p:cNvGrpSpPr/>
          <p:nvPr/>
        </p:nvGrpSpPr>
        <p:grpSpPr>
          <a:xfrm rot="0">
            <a:off x="523494" y="545363"/>
            <a:ext cx="11110779" cy="554003"/>
            <a:chOff x="0" y="0"/>
            <a:chExt cx="14814372" cy="738670"/>
          </a:xfrm>
        </p:grpSpPr>
        <p:sp>
          <p:nvSpPr>
            <p:cNvPr name="Freeform 16" id="16"/>
            <p:cNvSpPr/>
            <p:nvPr/>
          </p:nvSpPr>
          <p:spPr>
            <a:xfrm flipH="false" flipV="false" rot="0">
              <a:off x="0" y="0"/>
              <a:ext cx="14814423" cy="738632"/>
            </a:xfrm>
            <a:custGeom>
              <a:avLst/>
              <a:gdLst/>
              <a:ahLst/>
              <a:cxnLst/>
              <a:rect r="r" b="b" t="t" l="l"/>
              <a:pathLst>
                <a:path h="738632" w="14814423">
                  <a:moveTo>
                    <a:pt x="0" y="0"/>
                  </a:moveTo>
                  <a:lnTo>
                    <a:pt x="14814423" y="0"/>
                  </a:lnTo>
                  <a:lnTo>
                    <a:pt x="14814423" y="738632"/>
                  </a:lnTo>
                  <a:lnTo>
                    <a:pt x="0" y="738632"/>
                  </a:lnTo>
                  <a:close/>
                </a:path>
              </a:pathLst>
            </a:custGeom>
            <a:blipFill>
              <a:blip r:embed="rId3">
                <a:alphaModFix amt="0"/>
              </a:blip>
              <a:stretch>
                <a:fillRect l="0" t="-340527" r="0" b="-340531"/>
              </a:stretch>
            </a:blipFill>
          </p:spPr>
        </p:sp>
      </p:grpSp>
      <p:grpSp>
        <p:nvGrpSpPr>
          <p:cNvPr name="Group 17" id="17"/>
          <p:cNvGrpSpPr/>
          <p:nvPr/>
        </p:nvGrpSpPr>
        <p:grpSpPr>
          <a:xfrm rot="0">
            <a:off x="523494" y="538220"/>
            <a:ext cx="11110779" cy="561146"/>
            <a:chOff x="0" y="0"/>
            <a:chExt cx="14814372" cy="748195"/>
          </a:xfrm>
        </p:grpSpPr>
        <p:sp>
          <p:nvSpPr>
            <p:cNvPr name="Freeform 18" id="18"/>
            <p:cNvSpPr/>
            <p:nvPr/>
          </p:nvSpPr>
          <p:spPr>
            <a:xfrm flipH="false" flipV="false" rot="0">
              <a:off x="0" y="0"/>
              <a:ext cx="14814372" cy="748196"/>
            </a:xfrm>
            <a:custGeom>
              <a:avLst/>
              <a:gdLst/>
              <a:ahLst/>
              <a:cxnLst/>
              <a:rect r="r" b="b" t="t" l="l"/>
              <a:pathLst>
                <a:path h="748196" w="14814372">
                  <a:moveTo>
                    <a:pt x="0" y="0"/>
                  </a:moveTo>
                  <a:lnTo>
                    <a:pt x="14814372" y="0"/>
                  </a:lnTo>
                  <a:lnTo>
                    <a:pt x="14814372" y="748196"/>
                  </a:lnTo>
                  <a:lnTo>
                    <a:pt x="0" y="748196"/>
                  </a:lnTo>
                  <a:close/>
                </a:path>
              </a:pathLst>
            </a:custGeom>
            <a:blipFill>
              <a:blip r:embed="rId4">
                <a:alphaModFix amt="0"/>
              </a:blip>
              <a:stretch>
                <a:fillRect l="0" t="-335806" r="0" b="-335806"/>
              </a:stretch>
            </a:blipFill>
          </p:spPr>
        </p:sp>
        <p:sp>
          <p:nvSpPr>
            <p:cNvPr name="TextBox 19" id="19"/>
            <p:cNvSpPr txBox="true"/>
            <p:nvPr/>
          </p:nvSpPr>
          <p:spPr>
            <a:xfrm>
              <a:off x="0" y="-9525"/>
              <a:ext cx="14814372" cy="757720"/>
            </a:xfrm>
            <a:prstGeom prst="rect">
              <a:avLst/>
            </a:prstGeom>
          </p:spPr>
          <p:txBody>
            <a:bodyPr anchor="ctr" rtlCol="false" tIns="0" lIns="0" bIns="0" rIns="0"/>
            <a:lstStyle/>
            <a:p>
              <a:pPr algn="l">
                <a:lnSpc>
                  <a:spcPts val="4211"/>
                </a:lnSpc>
              </a:pPr>
              <a:r>
                <a:rPr lang="en-US" sz="3509" b="true">
                  <a:solidFill>
                    <a:srgbClr val="22988A"/>
                  </a:solidFill>
                  <a:latin typeface="Aptos Bold"/>
                  <a:ea typeface="Aptos Bold"/>
                  <a:cs typeface="Aptos Bold"/>
                  <a:sym typeface="Aptos Bold"/>
                </a:rPr>
                <a:t>Three Key Features</a:t>
              </a:r>
            </a:p>
          </p:txBody>
        </p:sp>
      </p:grpSp>
      <p:graphicFrame>
        <p:nvGraphicFramePr>
          <p:cNvPr name="Table 20" id="20"/>
          <p:cNvGraphicFramePr>
            <a:graphicFrameLocks noGrp="true"/>
          </p:cNvGraphicFramePr>
          <p:nvPr/>
        </p:nvGraphicFramePr>
        <p:xfrm>
          <a:off x="437231" y="1336094"/>
          <a:ext cx="17106900" cy="7175500"/>
        </p:xfrm>
        <a:graphic>
          <a:graphicData uri="http://schemas.openxmlformats.org/drawingml/2006/table">
            <a:tbl>
              <a:tblPr/>
              <a:tblGrid>
                <a:gridCol w="7975511"/>
                <a:gridCol w="9131389"/>
              </a:tblGrid>
              <a:tr h="805352">
                <a:tc>
                  <a:txBody>
                    <a:bodyPr anchor="t" rtlCol="false"/>
                    <a:lstStyle/>
                    <a:p>
                      <a:pPr algn="ctr">
                        <a:lnSpc>
                          <a:spcPts val="3600"/>
                        </a:lnSpc>
                        <a:defRPr/>
                      </a:pPr>
                      <a:r>
                        <a:rPr lang="en-US" sz="3000" b="true">
                          <a:solidFill>
                            <a:srgbClr val="FFFFFF"/>
                          </a:solidFill>
                          <a:latin typeface="Calibri (MS) Bold"/>
                          <a:ea typeface="Calibri (MS) Bold"/>
                          <a:cs typeface="Calibri (MS) Bold"/>
                          <a:sym typeface="Calibri (MS) Bold"/>
                        </a:rPr>
                        <a:t>Questions</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99DD1"/>
                    </a:solidFill>
                  </a:tcPr>
                </a:tc>
                <a:tc>
                  <a:txBody>
                    <a:bodyPr anchor="t" rtlCol="false"/>
                    <a:lstStyle/>
                    <a:p>
                      <a:pPr algn="ctr">
                        <a:lnSpc>
                          <a:spcPts val="3600"/>
                        </a:lnSpc>
                        <a:defRPr/>
                      </a:pPr>
                      <a:r>
                        <a:rPr lang="en-US" sz="3000" b="true">
                          <a:solidFill>
                            <a:srgbClr val="FFFFFF"/>
                          </a:solidFill>
                          <a:latin typeface="Calibri (MS) Bold"/>
                          <a:ea typeface="Calibri (MS) Bold"/>
                          <a:cs typeface="Calibri (MS) Bold"/>
                          <a:sym typeface="Calibri (MS) Bold"/>
                        </a:rPr>
                        <a:t>Answers</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99DD1"/>
                    </a:solidFill>
                  </a:tcPr>
                </a:tc>
              </a:tr>
              <a:tr h="3183533">
                <a:tc>
                  <a:txBody>
                    <a:bodyPr anchor="t" rtlCol="false"/>
                    <a:lstStyle/>
                    <a:p>
                      <a:pPr algn="l">
                        <a:lnSpc>
                          <a:spcPts val="3240"/>
                        </a:lnSpc>
                        <a:defRPr/>
                      </a:pPr>
                      <a:r>
                        <a:rPr lang="en-US" sz="2700" b="true">
                          <a:solidFill>
                            <a:srgbClr val="000000"/>
                          </a:solidFill>
                          <a:latin typeface="Calibri (MS) Bold"/>
                          <a:ea typeface="Calibri (MS) Bold"/>
                          <a:cs typeface="Calibri (MS) Bold"/>
                          <a:sym typeface="Calibri (MS) Bold"/>
                        </a:rPr>
                        <a:t>Please elaborate Feature1:</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CCDFEE"/>
                    </a:solidFill>
                  </a:tcPr>
                </a:tc>
                <a:tc>
                  <a:txBody>
                    <a:bodyPr anchor="t" rtlCol="false"/>
                    <a:lstStyle/>
                    <a:p>
                      <a:pPr algn="l">
                        <a:lnSpc>
                          <a:spcPts val="3240"/>
                        </a:lnSpc>
                        <a:defRPr/>
                      </a:pPr>
                      <a:r>
                        <a:rPr lang="en-US" sz="2700" b="true">
                          <a:solidFill>
                            <a:srgbClr val="000000"/>
                          </a:solidFill>
                          <a:latin typeface="Calibri (MS) Bold"/>
                          <a:ea typeface="Calibri (MS) Bold"/>
                          <a:cs typeface="Calibri (MS) Bold"/>
                          <a:sym typeface="Calibri (MS) Bold"/>
                        </a:rPr>
                        <a:t>Name: </a:t>
                      </a:r>
                      <a:r>
                        <a:rPr lang="en-US" sz="2700">
                          <a:solidFill>
                            <a:srgbClr val="000000"/>
                          </a:solidFill>
                          <a:latin typeface="Calibri (MS)"/>
                          <a:ea typeface="Calibri (MS)"/>
                          <a:cs typeface="Calibri (MS)"/>
                          <a:sym typeface="Calibri (MS)"/>
                        </a:rPr>
                        <a:t>AI-Powered Fraud Detection Engine</a:t>
                      </a:r>
                      <a:endParaRPr lang="en-US" sz="1100"/>
                    </a:p>
                    <a:p>
                      <a:pPr algn="l">
                        <a:lnSpc>
                          <a:spcPts val="3240"/>
                        </a:lnSpc>
                      </a:pPr>
                      <a:r>
                        <a:rPr lang="en-US" sz="2700" b="true">
                          <a:solidFill>
                            <a:srgbClr val="000000"/>
                          </a:solidFill>
                          <a:latin typeface="Calibri (MS) Bold"/>
                          <a:ea typeface="Calibri (MS) Bold"/>
                          <a:cs typeface="Calibri (MS) Bold"/>
                          <a:sym typeface="Calibri (MS) Bold"/>
                        </a:rPr>
                        <a:t>Business description:</a:t>
                      </a:r>
                      <a:r>
                        <a:rPr lang="en-US" sz="2700">
                          <a:solidFill>
                            <a:srgbClr val="000000"/>
                          </a:solidFill>
                          <a:latin typeface="Calibri (MS)"/>
                          <a:ea typeface="Calibri (MS)"/>
                          <a:cs typeface="Calibri (MS)"/>
                          <a:sym typeface="Calibri (MS)"/>
                        </a:rPr>
                        <a:t> Evaluates banking transactions in real</a:t>
                      </a:r>
                      <a:r>
                        <a:rPr lang="en-US" sz="2700" b="true">
                          <a:solidFill>
                            <a:srgbClr val="000000"/>
                          </a:solidFill>
                          <a:latin typeface="Calibri (MS) Bold"/>
                          <a:ea typeface="Calibri (MS) Bold"/>
                          <a:cs typeface="Calibri (MS) Bold"/>
                          <a:sym typeface="Calibri (MS) Bold"/>
                        </a:rPr>
                        <a:t> </a:t>
                      </a:r>
                      <a:r>
                        <a:rPr lang="en-US" sz="2700">
                          <a:solidFill>
                            <a:srgbClr val="000000"/>
                          </a:solidFill>
                          <a:latin typeface="Calibri (MS)"/>
                          <a:ea typeface="Calibri (MS)"/>
                          <a:cs typeface="Calibri (MS)"/>
                          <a:sym typeface="Calibri (MS)"/>
                        </a:rPr>
                        <a:t>time using machine learning and multi-criteria risk analysis.</a:t>
                      </a:r>
                    </a:p>
                    <a:p>
                      <a:pPr algn="l">
                        <a:lnSpc>
                          <a:spcPts val="3240"/>
                        </a:lnSpc>
                      </a:pPr>
                      <a:r>
                        <a:rPr lang="en-US" sz="2700" b="true">
                          <a:solidFill>
                            <a:srgbClr val="000000"/>
                          </a:solidFill>
                          <a:latin typeface="Calibri (MS) Bold"/>
                          <a:ea typeface="Calibri (MS) Bold"/>
                          <a:cs typeface="Calibri (MS) Bold"/>
                          <a:sym typeface="Calibri (MS) Bold"/>
                        </a:rPr>
                        <a:t>Achievements:</a:t>
                      </a:r>
                    </a:p>
                    <a:p>
                      <a:pPr algn="l">
                        <a:lnSpc>
                          <a:spcPts val="3240"/>
                        </a:lnSpc>
                      </a:pPr>
                      <a:r>
                        <a:rPr lang="en-US" sz="2700" b="true">
                          <a:solidFill>
                            <a:srgbClr val="000000"/>
                          </a:solidFill>
                          <a:latin typeface="Calibri (MS) Bold"/>
                          <a:ea typeface="Calibri (MS) Bold"/>
                          <a:cs typeface="Calibri (MS) Bold"/>
                          <a:sym typeface="Calibri (MS) Bold"/>
                        </a:rPr>
                        <a:t> • </a:t>
                      </a:r>
                      <a:r>
                        <a:rPr lang="en-US" sz="2700">
                          <a:solidFill>
                            <a:srgbClr val="000000"/>
                          </a:solidFill>
                          <a:latin typeface="Calibri (MS)"/>
                          <a:ea typeface="Calibri (MS)"/>
                          <a:cs typeface="Calibri (MS)"/>
                          <a:sym typeface="Calibri (MS)"/>
                        </a:rPr>
                        <a:t>Real-time fraud detection</a:t>
                      </a:r>
                    </a:p>
                    <a:p>
                      <a:pPr algn="l">
                        <a:lnSpc>
                          <a:spcPts val="3240"/>
                        </a:lnSpc>
                      </a:pPr>
                      <a:r>
                        <a:rPr lang="en-US" sz="2700" b="true">
                          <a:solidFill>
                            <a:srgbClr val="000000"/>
                          </a:solidFill>
                          <a:latin typeface="Calibri (MS) Bold"/>
                          <a:ea typeface="Calibri (MS) Bold"/>
                          <a:cs typeface="Calibri (MS) Bold"/>
                          <a:sym typeface="Calibri (MS) Bold"/>
                        </a:rPr>
                        <a:t> • </a:t>
                      </a:r>
                      <a:r>
                        <a:rPr lang="en-US" sz="2700">
                          <a:solidFill>
                            <a:srgbClr val="000000"/>
                          </a:solidFill>
                          <a:latin typeface="Calibri (MS)"/>
                          <a:ea typeface="Calibri (MS)"/>
                          <a:cs typeface="Calibri (MS)"/>
                          <a:sym typeface="Calibri (MS)"/>
                        </a:rPr>
                        <a:t>Reduced false positives</a:t>
                      </a:r>
                    </a:p>
                    <a:p>
                      <a:pPr algn="l">
                        <a:lnSpc>
                          <a:spcPts val="3240"/>
                        </a:lnSpc>
                      </a:pPr>
                      <a:r>
                        <a:rPr lang="en-US" sz="2700" b="true">
                          <a:solidFill>
                            <a:srgbClr val="000000"/>
                          </a:solidFill>
                          <a:latin typeface="Calibri (MS) Bold"/>
                          <a:ea typeface="Calibri (MS) Bold"/>
                          <a:cs typeface="Calibri (MS) Bold"/>
                          <a:sym typeface="Calibri (MS) Bold"/>
                        </a:rPr>
                        <a:t> • </a:t>
                      </a:r>
                      <a:r>
                        <a:rPr lang="en-US" sz="2700">
                          <a:solidFill>
                            <a:srgbClr val="000000"/>
                          </a:solidFill>
                          <a:latin typeface="Calibri (MS)"/>
                          <a:ea typeface="Calibri (MS)"/>
                          <a:cs typeface="Calibri (MS)"/>
                          <a:sym typeface="Calibri (MS)"/>
                        </a:rPr>
                        <a:t>Intelligent risk classification (SAFE / RISKY / FRAUD)</a:t>
                      </a:r>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CCDFEE"/>
                    </a:solidFill>
                  </a:tcPr>
                </a:tc>
              </a:tr>
              <a:tr h="3186615">
                <a:tc>
                  <a:txBody>
                    <a:bodyPr anchor="t" rtlCol="false"/>
                    <a:lstStyle/>
                    <a:p>
                      <a:pPr algn="l">
                        <a:lnSpc>
                          <a:spcPts val="3240"/>
                        </a:lnSpc>
                        <a:defRPr/>
                      </a:pPr>
                      <a:r>
                        <a:rPr lang="en-US" sz="2700" b="true">
                          <a:solidFill>
                            <a:srgbClr val="000000"/>
                          </a:solidFill>
                          <a:latin typeface="Calibri (MS) Bold"/>
                          <a:ea typeface="Calibri (MS) Bold"/>
                          <a:cs typeface="Calibri (MS) Bold"/>
                          <a:sym typeface="Calibri (MS) Bold"/>
                        </a:rPr>
                        <a:t>Please elaborate Feature2:</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7F0F7"/>
                    </a:solidFill>
                  </a:tcPr>
                </a:tc>
                <a:tc>
                  <a:txBody>
                    <a:bodyPr anchor="t" rtlCol="false"/>
                    <a:lstStyle/>
                    <a:p>
                      <a:pPr algn="l">
                        <a:lnSpc>
                          <a:spcPts val="3240"/>
                        </a:lnSpc>
                        <a:defRPr/>
                      </a:pPr>
                      <a:r>
                        <a:rPr lang="en-US" sz="2700" b="true">
                          <a:solidFill>
                            <a:srgbClr val="000000"/>
                          </a:solidFill>
                          <a:latin typeface="Calibri (MS) Bold"/>
                          <a:ea typeface="Calibri (MS) Bold"/>
                          <a:cs typeface="Calibri (MS) Bold"/>
                          <a:sym typeface="Calibri (MS) Bold"/>
                        </a:rPr>
                        <a:t>Name: </a:t>
                      </a:r>
                      <a:r>
                        <a:rPr lang="en-US" sz="2700">
                          <a:solidFill>
                            <a:srgbClr val="000000"/>
                          </a:solidFill>
                          <a:latin typeface="Calibri (MS)"/>
                          <a:ea typeface="Calibri (MS)"/>
                          <a:cs typeface="Calibri (MS)"/>
                          <a:sym typeface="Calibri (MS)"/>
                        </a:rPr>
                        <a:t>OTP Verification System</a:t>
                      </a:r>
                      <a:endParaRPr lang="en-US" sz="1100"/>
                    </a:p>
                    <a:p>
                      <a:pPr algn="l">
                        <a:lnSpc>
                          <a:spcPts val="3240"/>
                        </a:lnSpc>
                      </a:pPr>
                      <a:r>
                        <a:rPr lang="en-US" sz="2700" b="true">
                          <a:solidFill>
                            <a:srgbClr val="000000"/>
                          </a:solidFill>
                          <a:latin typeface="Calibri (MS) Bold"/>
                          <a:ea typeface="Calibri (MS) Bold"/>
                          <a:cs typeface="Calibri (MS) Bold"/>
                          <a:sym typeface="Calibri (MS) Bold"/>
                        </a:rPr>
                        <a:t>Business description: </a:t>
                      </a:r>
                      <a:r>
                        <a:rPr lang="en-US" sz="2700">
                          <a:solidFill>
                            <a:srgbClr val="000000"/>
                          </a:solidFill>
                          <a:latin typeface="Calibri (MS)"/>
                          <a:ea typeface="Calibri (MS)"/>
                          <a:cs typeface="Calibri (MS)"/>
                          <a:sym typeface="Calibri (MS)"/>
                        </a:rPr>
                        <a:t>Automatically generates and verifies OTPs for risky transactions using Amazon SES and DynamoDB.</a:t>
                      </a:r>
                    </a:p>
                    <a:p>
                      <a:pPr algn="l">
                        <a:lnSpc>
                          <a:spcPts val="3240"/>
                        </a:lnSpc>
                      </a:pPr>
                      <a:r>
                        <a:rPr lang="en-US" sz="2700" b="true">
                          <a:solidFill>
                            <a:srgbClr val="000000"/>
                          </a:solidFill>
                          <a:latin typeface="Calibri (MS) Bold"/>
                          <a:ea typeface="Calibri (MS) Bold"/>
                          <a:cs typeface="Calibri (MS) Bold"/>
                          <a:sym typeface="Calibri (MS) Bold"/>
                        </a:rPr>
                        <a:t>Achievements:</a:t>
                      </a:r>
                    </a:p>
                    <a:p>
                      <a:pPr algn="l">
                        <a:lnSpc>
                          <a:spcPts val="3240"/>
                        </a:lnSpc>
                      </a:pPr>
                      <a:r>
                        <a:rPr lang="en-US" sz="2700" b="true">
                          <a:solidFill>
                            <a:srgbClr val="000000"/>
                          </a:solidFill>
                          <a:latin typeface="Calibri (MS) Bold"/>
                          <a:ea typeface="Calibri (MS) Bold"/>
                          <a:cs typeface="Calibri (MS) Bold"/>
                          <a:sym typeface="Calibri (MS) Bold"/>
                        </a:rPr>
                        <a:t> • </a:t>
                      </a:r>
                      <a:r>
                        <a:rPr lang="en-US" sz="2700">
                          <a:solidFill>
                            <a:srgbClr val="000000"/>
                          </a:solidFill>
                          <a:latin typeface="Calibri (MS)"/>
                          <a:ea typeface="Calibri (MS)"/>
                          <a:cs typeface="Calibri (MS)"/>
                          <a:sym typeface="Calibri (MS)"/>
                        </a:rPr>
                        <a:t>Secure transaction verification</a:t>
                      </a:r>
                    </a:p>
                    <a:p>
                      <a:pPr algn="l">
                        <a:lnSpc>
                          <a:spcPts val="3240"/>
                        </a:lnSpc>
                      </a:pPr>
                      <a:r>
                        <a:rPr lang="en-US" sz="2700" b="true">
                          <a:solidFill>
                            <a:srgbClr val="000000"/>
                          </a:solidFill>
                          <a:latin typeface="Calibri (MS) Bold"/>
                          <a:ea typeface="Calibri (MS) Bold"/>
                          <a:cs typeface="Calibri (MS) Bold"/>
                          <a:sym typeface="Calibri (MS) Bold"/>
                        </a:rPr>
                        <a:t> • </a:t>
                      </a:r>
                      <a:r>
                        <a:rPr lang="en-US" sz="2700">
                          <a:solidFill>
                            <a:srgbClr val="000000"/>
                          </a:solidFill>
                          <a:latin typeface="Calibri (MS)"/>
                          <a:ea typeface="Calibri (MS)"/>
                          <a:cs typeface="Calibri (MS)"/>
                          <a:sym typeface="Calibri (MS)"/>
                        </a:rPr>
                        <a:t>40-second OTP validation window</a:t>
                      </a:r>
                    </a:p>
                    <a:p>
                      <a:pPr algn="l">
                        <a:lnSpc>
                          <a:spcPts val="3240"/>
                        </a:lnSpc>
                      </a:pPr>
                      <a:r>
                        <a:rPr lang="en-US" sz="2700" b="true">
                          <a:solidFill>
                            <a:srgbClr val="000000"/>
                          </a:solidFill>
                          <a:latin typeface="Calibri (MS) Bold"/>
                          <a:ea typeface="Calibri (MS) Bold"/>
                          <a:cs typeface="Calibri (MS) Bold"/>
                          <a:sym typeface="Calibri (MS) Bold"/>
                        </a:rPr>
                        <a:t> • </a:t>
                      </a:r>
                      <a:r>
                        <a:rPr lang="en-US" sz="2700">
                          <a:solidFill>
                            <a:srgbClr val="000000"/>
                          </a:solidFill>
                          <a:latin typeface="Calibri (MS)"/>
                          <a:ea typeface="Calibri (MS)"/>
                          <a:cs typeface="Calibri (MS)"/>
                          <a:sym typeface="Calibri (MS)"/>
                        </a:rPr>
                        <a:t>Reduced unauthorized transaction approvals</a:t>
                      </a:r>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7F0F7"/>
                    </a:solidFill>
                  </a:tcPr>
                </a:tc>
              </a:tr>
            </a:tbl>
          </a:graphicData>
        </a:graphic>
      </p:graphicFrame>
      <p:grpSp>
        <p:nvGrpSpPr>
          <p:cNvPr name="Group 21" id="21"/>
          <p:cNvGrpSpPr/>
          <p:nvPr/>
        </p:nvGrpSpPr>
        <p:grpSpPr>
          <a:xfrm rot="0">
            <a:off x="438912" y="9938776"/>
            <a:ext cx="4811963" cy="230829"/>
            <a:chOff x="0" y="0"/>
            <a:chExt cx="6415951" cy="307772"/>
          </a:xfrm>
        </p:grpSpPr>
        <p:sp>
          <p:nvSpPr>
            <p:cNvPr name="Freeform 22" id="22"/>
            <p:cNvSpPr/>
            <p:nvPr/>
          </p:nvSpPr>
          <p:spPr>
            <a:xfrm flipH="false" flipV="false" rot="0">
              <a:off x="0" y="0"/>
              <a:ext cx="6415913" cy="307721"/>
            </a:xfrm>
            <a:custGeom>
              <a:avLst/>
              <a:gdLst/>
              <a:ahLst/>
              <a:cxnLst/>
              <a:rect r="r" b="b" t="t" l="l"/>
              <a:pathLst>
                <a:path h="307721" w="6415913">
                  <a:moveTo>
                    <a:pt x="0" y="0"/>
                  </a:moveTo>
                  <a:lnTo>
                    <a:pt x="6415913" y="0"/>
                  </a:lnTo>
                  <a:lnTo>
                    <a:pt x="6415913" y="307721"/>
                  </a:lnTo>
                  <a:lnTo>
                    <a:pt x="0" y="307721"/>
                  </a:lnTo>
                  <a:close/>
                </a:path>
              </a:pathLst>
            </a:custGeom>
            <a:blipFill>
              <a:blip r:embed="rId3">
                <a:alphaModFix amt="0"/>
              </a:blip>
              <a:stretch>
                <a:fillRect l="0" t="-355967" r="0" b="-355988"/>
              </a:stretch>
            </a:blipFill>
          </p:spPr>
        </p:sp>
      </p:grpSp>
      <p:grpSp>
        <p:nvGrpSpPr>
          <p:cNvPr name="Group 23" id="23"/>
          <p:cNvGrpSpPr/>
          <p:nvPr/>
        </p:nvGrpSpPr>
        <p:grpSpPr>
          <a:xfrm rot="0">
            <a:off x="591312" y="10091176"/>
            <a:ext cx="4811963" cy="230829"/>
            <a:chOff x="0" y="0"/>
            <a:chExt cx="6415951" cy="307772"/>
          </a:xfrm>
        </p:grpSpPr>
        <p:sp>
          <p:nvSpPr>
            <p:cNvPr name="Freeform 24" id="24"/>
            <p:cNvSpPr/>
            <p:nvPr/>
          </p:nvSpPr>
          <p:spPr>
            <a:xfrm flipH="false" flipV="false" rot="0">
              <a:off x="0" y="0"/>
              <a:ext cx="6415948" cy="307776"/>
            </a:xfrm>
            <a:custGeom>
              <a:avLst/>
              <a:gdLst/>
              <a:ahLst/>
              <a:cxnLst/>
              <a:rect r="r" b="b" t="t" l="l"/>
              <a:pathLst>
                <a:path h="307776" w="6415948">
                  <a:moveTo>
                    <a:pt x="0" y="0"/>
                  </a:moveTo>
                  <a:lnTo>
                    <a:pt x="6415948" y="0"/>
                  </a:lnTo>
                  <a:lnTo>
                    <a:pt x="6415948" y="307776"/>
                  </a:lnTo>
                  <a:lnTo>
                    <a:pt x="0" y="307776"/>
                  </a:lnTo>
                  <a:close/>
                </a:path>
              </a:pathLst>
            </a:custGeom>
            <a:blipFill>
              <a:blip r:embed="rId4">
                <a:alphaModFix amt="0"/>
              </a:blip>
              <a:stretch>
                <a:fillRect l="0" t="-356189" r="0" b="-356187"/>
              </a:stretch>
            </a:blipFill>
          </p:spPr>
        </p:sp>
        <p:sp>
          <p:nvSpPr>
            <p:cNvPr name="TextBox 25" id="25"/>
            <p:cNvSpPr txBox="true"/>
            <p:nvPr/>
          </p:nvSpPr>
          <p:spPr>
            <a:xfrm>
              <a:off x="0" y="-38100"/>
              <a:ext cx="6415951" cy="345872"/>
            </a:xfrm>
            <a:prstGeom prst="rect">
              <a:avLst/>
            </a:prstGeom>
          </p:spPr>
          <p:txBody>
            <a:bodyPr anchor="ctr" rtlCol="false" tIns="0" lIns="0" bIns="0" rIns="0"/>
            <a:lstStyle/>
            <a:p>
              <a:pPr algn="l">
                <a:lnSpc>
                  <a:spcPts val="1800"/>
                </a:lnSpc>
              </a:pPr>
              <a:r>
                <a:rPr lang="en-US" sz="1500">
                  <a:solidFill>
                    <a:srgbClr val="000000"/>
                  </a:solidFill>
                  <a:latin typeface="Calibri (MS)"/>
                  <a:ea typeface="Calibri (MS)"/>
                  <a:cs typeface="Calibri (MS)"/>
                  <a:sym typeface="Calibri (MS)"/>
                </a:rPr>
                <a:t>© Mphasis 2025  Proprietary and confidential information</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322803" y="9714938"/>
            <a:ext cx="672560" cy="551593"/>
            <a:chOff x="0" y="0"/>
            <a:chExt cx="896747" cy="735457"/>
          </a:xfrm>
        </p:grpSpPr>
        <p:sp>
          <p:nvSpPr>
            <p:cNvPr name="Freeform 3" id="3"/>
            <p:cNvSpPr/>
            <p:nvPr/>
          </p:nvSpPr>
          <p:spPr>
            <a:xfrm flipH="false" flipV="false" rot="0">
              <a:off x="0" y="0"/>
              <a:ext cx="896747" cy="735457"/>
            </a:xfrm>
            <a:custGeom>
              <a:avLst/>
              <a:gdLst/>
              <a:ahLst/>
              <a:cxnLst/>
              <a:rect r="r" b="b" t="t" l="l"/>
              <a:pathLst>
                <a:path h="735457" w="896747">
                  <a:moveTo>
                    <a:pt x="0" y="0"/>
                  </a:moveTo>
                  <a:lnTo>
                    <a:pt x="896747" y="0"/>
                  </a:lnTo>
                  <a:lnTo>
                    <a:pt x="896747" y="735457"/>
                  </a:lnTo>
                  <a:lnTo>
                    <a:pt x="0" y="735457"/>
                  </a:lnTo>
                  <a:lnTo>
                    <a:pt x="0" y="0"/>
                  </a:lnTo>
                  <a:close/>
                </a:path>
              </a:pathLst>
            </a:custGeom>
            <a:blipFill>
              <a:blip r:embed="rId2"/>
              <a:stretch>
                <a:fillRect l="0" t="-588" r="0" b="-587"/>
              </a:stretch>
            </a:blipFill>
          </p:spPr>
        </p:sp>
      </p:grpSp>
      <p:grpSp>
        <p:nvGrpSpPr>
          <p:cNvPr name="Group 4" id="4"/>
          <p:cNvGrpSpPr/>
          <p:nvPr/>
        </p:nvGrpSpPr>
        <p:grpSpPr>
          <a:xfrm rot="0">
            <a:off x="438912" y="9938776"/>
            <a:ext cx="4811963" cy="230829"/>
            <a:chOff x="0" y="0"/>
            <a:chExt cx="6415951" cy="307772"/>
          </a:xfrm>
        </p:grpSpPr>
        <p:sp>
          <p:nvSpPr>
            <p:cNvPr name="Freeform 5" id="5"/>
            <p:cNvSpPr/>
            <p:nvPr/>
          </p:nvSpPr>
          <p:spPr>
            <a:xfrm flipH="false" flipV="false" rot="0">
              <a:off x="0" y="0"/>
              <a:ext cx="6415913" cy="307721"/>
            </a:xfrm>
            <a:custGeom>
              <a:avLst/>
              <a:gdLst/>
              <a:ahLst/>
              <a:cxnLst/>
              <a:rect r="r" b="b" t="t" l="l"/>
              <a:pathLst>
                <a:path h="307721" w="6415913">
                  <a:moveTo>
                    <a:pt x="0" y="0"/>
                  </a:moveTo>
                  <a:lnTo>
                    <a:pt x="6415913" y="0"/>
                  </a:lnTo>
                  <a:lnTo>
                    <a:pt x="6415913" y="307721"/>
                  </a:lnTo>
                  <a:lnTo>
                    <a:pt x="0" y="307721"/>
                  </a:lnTo>
                  <a:close/>
                </a:path>
              </a:pathLst>
            </a:custGeom>
            <a:blipFill>
              <a:blip r:embed="rId3">
                <a:alphaModFix amt="0"/>
              </a:blip>
              <a:stretch>
                <a:fillRect l="0" t="-355967" r="0" b="-355988"/>
              </a:stretch>
            </a:blipFill>
          </p:spPr>
        </p:sp>
      </p:grpSp>
      <p:grpSp>
        <p:nvGrpSpPr>
          <p:cNvPr name="Group 6" id="6"/>
          <p:cNvGrpSpPr/>
          <p:nvPr/>
        </p:nvGrpSpPr>
        <p:grpSpPr>
          <a:xfrm rot="0">
            <a:off x="15896863" y="9938776"/>
            <a:ext cx="1100138" cy="230829"/>
            <a:chOff x="0" y="0"/>
            <a:chExt cx="1466850" cy="307772"/>
          </a:xfrm>
        </p:grpSpPr>
        <p:sp>
          <p:nvSpPr>
            <p:cNvPr name="Freeform 7" id="7"/>
            <p:cNvSpPr/>
            <p:nvPr/>
          </p:nvSpPr>
          <p:spPr>
            <a:xfrm flipH="false" flipV="false" rot="0">
              <a:off x="0" y="0"/>
              <a:ext cx="1466850" cy="307721"/>
            </a:xfrm>
            <a:custGeom>
              <a:avLst/>
              <a:gdLst/>
              <a:ahLst/>
              <a:cxnLst/>
              <a:rect r="r" b="b" t="t" l="l"/>
              <a:pathLst>
                <a:path h="307721" w="1466850">
                  <a:moveTo>
                    <a:pt x="0" y="0"/>
                  </a:moveTo>
                  <a:lnTo>
                    <a:pt x="1466850" y="0"/>
                  </a:lnTo>
                  <a:lnTo>
                    <a:pt x="1466850" y="307721"/>
                  </a:lnTo>
                  <a:lnTo>
                    <a:pt x="0" y="307721"/>
                  </a:lnTo>
                  <a:close/>
                </a:path>
              </a:pathLst>
            </a:custGeom>
            <a:blipFill>
              <a:blip r:embed="rId3">
                <a:alphaModFix amt="0"/>
              </a:blip>
              <a:stretch>
                <a:fillRect l="0" t="-42806" r="0" b="-42827"/>
              </a:stretch>
            </a:blipFill>
          </p:spPr>
        </p:sp>
      </p:grpSp>
      <p:grpSp>
        <p:nvGrpSpPr>
          <p:cNvPr name="Group 8" id="8"/>
          <p:cNvGrpSpPr/>
          <p:nvPr/>
        </p:nvGrpSpPr>
        <p:grpSpPr>
          <a:xfrm rot="0">
            <a:off x="15896863" y="9910201"/>
            <a:ext cx="1100138" cy="259404"/>
            <a:chOff x="0" y="0"/>
            <a:chExt cx="1466850" cy="345872"/>
          </a:xfrm>
        </p:grpSpPr>
        <p:sp>
          <p:nvSpPr>
            <p:cNvPr name="Freeform 9" id="9"/>
            <p:cNvSpPr/>
            <p:nvPr/>
          </p:nvSpPr>
          <p:spPr>
            <a:xfrm flipH="false" flipV="false" rot="0">
              <a:off x="0" y="0"/>
              <a:ext cx="1466851" cy="345872"/>
            </a:xfrm>
            <a:custGeom>
              <a:avLst/>
              <a:gdLst/>
              <a:ahLst/>
              <a:cxnLst/>
              <a:rect r="r" b="b" t="t" l="l"/>
              <a:pathLst>
                <a:path h="345872" w="1466851">
                  <a:moveTo>
                    <a:pt x="0" y="0"/>
                  </a:moveTo>
                  <a:lnTo>
                    <a:pt x="1466851" y="0"/>
                  </a:lnTo>
                  <a:lnTo>
                    <a:pt x="1466851" y="345872"/>
                  </a:lnTo>
                  <a:lnTo>
                    <a:pt x="0" y="345872"/>
                  </a:lnTo>
                  <a:close/>
                </a:path>
              </a:pathLst>
            </a:custGeom>
            <a:blipFill>
              <a:blip r:embed="rId4">
                <a:alphaModFix amt="0"/>
              </a:blip>
              <a:stretch>
                <a:fillRect l="0" t="-32636" r="0" b="-32636"/>
              </a:stretch>
            </a:blipFill>
          </p:spPr>
        </p:sp>
        <p:sp>
          <p:nvSpPr>
            <p:cNvPr name="TextBox 10" id="10"/>
            <p:cNvSpPr txBox="true"/>
            <p:nvPr/>
          </p:nvSpPr>
          <p:spPr>
            <a:xfrm>
              <a:off x="0" y="-38100"/>
              <a:ext cx="1466850" cy="383972"/>
            </a:xfrm>
            <a:prstGeom prst="rect">
              <a:avLst/>
            </a:prstGeom>
          </p:spPr>
          <p:txBody>
            <a:bodyPr anchor="ctr" rtlCol="false" tIns="0" lIns="0" bIns="0" rIns="0"/>
            <a:lstStyle/>
            <a:p>
              <a:pPr algn="r">
                <a:lnSpc>
                  <a:spcPts val="1800"/>
                </a:lnSpc>
              </a:pPr>
              <a:r>
                <a:rPr lang="en-US" sz="1500">
                  <a:solidFill>
                    <a:srgbClr val="000000"/>
                  </a:solidFill>
                  <a:latin typeface="Calibri (MS)"/>
                  <a:ea typeface="Calibri (MS)"/>
                  <a:cs typeface="Calibri (MS)"/>
                  <a:sym typeface="Calibri (MS)"/>
                </a:rPr>
                <a:t>‹#›</a:t>
              </a:r>
            </a:p>
          </p:txBody>
        </p:sp>
      </p:grpSp>
      <p:grpSp>
        <p:nvGrpSpPr>
          <p:cNvPr name="Group 11" id="11"/>
          <p:cNvGrpSpPr/>
          <p:nvPr/>
        </p:nvGrpSpPr>
        <p:grpSpPr>
          <a:xfrm rot="0">
            <a:off x="16497300" y="387296"/>
            <a:ext cx="1566958" cy="521018"/>
            <a:chOff x="0" y="0"/>
            <a:chExt cx="2089277" cy="694690"/>
          </a:xfrm>
        </p:grpSpPr>
        <p:sp>
          <p:nvSpPr>
            <p:cNvPr name="Freeform 12" id="12"/>
            <p:cNvSpPr/>
            <p:nvPr/>
          </p:nvSpPr>
          <p:spPr>
            <a:xfrm flipH="false" flipV="false" rot="0">
              <a:off x="0" y="0"/>
              <a:ext cx="2089277" cy="694690"/>
            </a:xfrm>
            <a:custGeom>
              <a:avLst/>
              <a:gdLst/>
              <a:ahLst/>
              <a:cxnLst/>
              <a:rect r="r" b="b" t="t" l="l"/>
              <a:pathLst>
                <a:path h="694690" w="2089277">
                  <a:moveTo>
                    <a:pt x="0" y="0"/>
                  </a:moveTo>
                  <a:lnTo>
                    <a:pt x="2089277" y="0"/>
                  </a:lnTo>
                  <a:lnTo>
                    <a:pt x="2089277" y="694690"/>
                  </a:lnTo>
                  <a:lnTo>
                    <a:pt x="0" y="694690"/>
                  </a:lnTo>
                  <a:lnTo>
                    <a:pt x="0" y="0"/>
                  </a:lnTo>
                  <a:close/>
                </a:path>
              </a:pathLst>
            </a:custGeom>
            <a:blipFill>
              <a:blip r:embed="rId5"/>
              <a:stretch>
                <a:fillRect l="-27" t="0" r="-27" b="0"/>
              </a:stretch>
            </a:blipFill>
          </p:spPr>
        </p:sp>
      </p:grpSp>
      <p:grpSp>
        <p:nvGrpSpPr>
          <p:cNvPr name="Group 13" id="13"/>
          <p:cNvGrpSpPr/>
          <p:nvPr/>
        </p:nvGrpSpPr>
        <p:grpSpPr>
          <a:xfrm rot="0">
            <a:off x="16497300" y="387296"/>
            <a:ext cx="1566958" cy="521018"/>
            <a:chOff x="0" y="0"/>
            <a:chExt cx="2089277" cy="694690"/>
          </a:xfrm>
        </p:grpSpPr>
        <p:sp>
          <p:nvSpPr>
            <p:cNvPr name="Freeform 14" id="14"/>
            <p:cNvSpPr/>
            <p:nvPr/>
          </p:nvSpPr>
          <p:spPr>
            <a:xfrm flipH="false" flipV="false" rot="0">
              <a:off x="0" y="0"/>
              <a:ext cx="2089277" cy="694690"/>
            </a:xfrm>
            <a:custGeom>
              <a:avLst/>
              <a:gdLst/>
              <a:ahLst/>
              <a:cxnLst/>
              <a:rect r="r" b="b" t="t" l="l"/>
              <a:pathLst>
                <a:path h="694690" w="2089277">
                  <a:moveTo>
                    <a:pt x="0" y="0"/>
                  </a:moveTo>
                  <a:lnTo>
                    <a:pt x="2089277" y="0"/>
                  </a:lnTo>
                  <a:lnTo>
                    <a:pt x="2089277" y="694690"/>
                  </a:lnTo>
                  <a:lnTo>
                    <a:pt x="0" y="694690"/>
                  </a:lnTo>
                  <a:lnTo>
                    <a:pt x="0" y="0"/>
                  </a:lnTo>
                  <a:close/>
                </a:path>
              </a:pathLst>
            </a:custGeom>
            <a:blipFill>
              <a:blip r:embed="rId5"/>
              <a:stretch>
                <a:fillRect l="-27" t="0" r="-27" b="0"/>
              </a:stretch>
            </a:blipFill>
          </p:spPr>
        </p:sp>
      </p:grpSp>
      <p:grpSp>
        <p:nvGrpSpPr>
          <p:cNvPr name="Group 15" id="15"/>
          <p:cNvGrpSpPr/>
          <p:nvPr/>
        </p:nvGrpSpPr>
        <p:grpSpPr>
          <a:xfrm rot="0">
            <a:off x="523494" y="447904"/>
            <a:ext cx="11110779" cy="554003"/>
            <a:chOff x="0" y="0"/>
            <a:chExt cx="14814372" cy="738670"/>
          </a:xfrm>
        </p:grpSpPr>
        <p:sp>
          <p:nvSpPr>
            <p:cNvPr name="Freeform 16" id="16"/>
            <p:cNvSpPr/>
            <p:nvPr/>
          </p:nvSpPr>
          <p:spPr>
            <a:xfrm flipH="false" flipV="false" rot="0">
              <a:off x="0" y="0"/>
              <a:ext cx="14814423" cy="738632"/>
            </a:xfrm>
            <a:custGeom>
              <a:avLst/>
              <a:gdLst/>
              <a:ahLst/>
              <a:cxnLst/>
              <a:rect r="r" b="b" t="t" l="l"/>
              <a:pathLst>
                <a:path h="738632" w="14814423">
                  <a:moveTo>
                    <a:pt x="0" y="0"/>
                  </a:moveTo>
                  <a:lnTo>
                    <a:pt x="14814423" y="0"/>
                  </a:lnTo>
                  <a:lnTo>
                    <a:pt x="14814423" y="738632"/>
                  </a:lnTo>
                  <a:lnTo>
                    <a:pt x="0" y="738632"/>
                  </a:lnTo>
                  <a:close/>
                </a:path>
              </a:pathLst>
            </a:custGeom>
            <a:blipFill>
              <a:blip r:embed="rId3">
                <a:alphaModFix amt="0"/>
              </a:blip>
              <a:stretch>
                <a:fillRect l="0" t="-340527" r="0" b="-340531"/>
              </a:stretch>
            </a:blipFill>
          </p:spPr>
        </p:sp>
      </p:grpSp>
      <p:grpSp>
        <p:nvGrpSpPr>
          <p:cNvPr name="Group 17" id="17"/>
          <p:cNvGrpSpPr/>
          <p:nvPr/>
        </p:nvGrpSpPr>
        <p:grpSpPr>
          <a:xfrm rot="0">
            <a:off x="523494" y="440760"/>
            <a:ext cx="11110779" cy="561146"/>
            <a:chOff x="0" y="0"/>
            <a:chExt cx="14814372" cy="748195"/>
          </a:xfrm>
        </p:grpSpPr>
        <p:sp>
          <p:nvSpPr>
            <p:cNvPr name="Freeform 18" id="18"/>
            <p:cNvSpPr/>
            <p:nvPr/>
          </p:nvSpPr>
          <p:spPr>
            <a:xfrm flipH="false" flipV="false" rot="0">
              <a:off x="0" y="0"/>
              <a:ext cx="14814372" cy="748196"/>
            </a:xfrm>
            <a:custGeom>
              <a:avLst/>
              <a:gdLst/>
              <a:ahLst/>
              <a:cxnLst/>
              <a:rect r="r" b="b" t="t" l="l"/>
              <a:pathLst>
                <a:path h="748196" w="14814372">
                  <a:moveTo>
                    <a:pt x="0" y="0"/>
                  </a:moveTo>
                  <a:lnTo>
                    <a:pt x="14814372" y="0"/>
                  </a:lnTo>
                  <a:lnTo>
                    <a:pt x="14814372" y="748196"/>
                  </a:lnTo>
                  <a:lnTo>
                    <a:pt x="0" y="748196"/>
                  </a:lnTo>
                  <a:close/>
                </a:path>
              </a:pathLst>
            </a:custGeom>
            <a:blipFill>
              <a:blip r:embed="rId4">
                <a:alphaModFix amt="0"/>
              </a:blip>
              <a:stretch>
                <a:fillRect l="0" t="-335806" r="0" b="-335806"/>
              </a:stretch>
            </a:blipFill>
          </p:spPr>
        </p:sp>
        <p:sp>
          <p:nvSpPr>
            <p:cNvPr name="TextBox 19" id="19"/>
            <p:cNvSpPr txBox="true"/>
            <p:nvPr/>
          </p:nvSpPr>
          <p:spPr>
            <a:xfrm>
              <a:off x="0" y="-9525"/>
              <a:ext cx="14814372" cy="757720"/>
            </a:xfrm>
            <a:prstGeom prst="rect">
              <a:avLst/>
            </a:prstGeom>
          </p:spPr>
          <p:txBody>
            <a:bodyPr anchor="ctr" rtlCol="false" tIns="0" lIns="0" bIns="0" rIns="0"/>
            <a:lstStyle/>
            <a:p>
              <a:pPr algn="l">
                <a:lnSpc>
                  <a:spcPts val="4211"/>
                </a:lnSpc>
              </a:pPr>
              <a:r>
                <a:rPr lang="en-US" sz="3509" b="true">
                  <a:solidFill>
                    <a:srgbClr val="22988A"/>
                  </a:solidFill>
                  <a:latin typeface="Aptos Bold"/>
                  <a:ea typeface="Aptos Bold"/>
                  <a:cs typeface="Aptos Bold"/>
                  <a:sym typeface="Aptos Bold"/>
                </a:rPr>
                <a:t>Three Key Features</a:t>
              </a:r>
            </a:p>
          </p:txBody>
        </p:sp>
      </p:grpSp>
      <p:graphicFrame>
        <p:nvGraphicFramePr>
          <p:cNvPr name="Table 20" id="20"/>
          <p:cNvGraphicFramePr>
            <a:graphicFrameLocks noGrp="true"/>
          </p:cNvGraphicFramePr>
          <p:nvPr/>
        </p:nvGraphicFramePr>
        <p:xfrm>
          <a:off x="523495" y="1411744"/>
          <a:ext cx="17106900" cy="5321300"/>
        </p:xfrm>
        <a:graphic>
          <a:graphicData uri="http://schemas.openxmlformats.org/drawingml/2006/table">
            <a:tbl>
              <a:tblPr/>
              <a:tblGrid>
                <a:gridCol w="7975511"/>
                <a:gridCol w="9131389"/>
              </a:tblGrid>
              <a:tr h="1732226">
                <a:tc>
                  <a:txBody>
                    <a:bodyPr anchor="t" rtlCol="false"/>
                    <a:lstStyle/>
                    <a:p>
                      <a:pPr algn="ctr">
                        <a:lnSpc>
                          <a:spcPts val="3600"/>
                        </a:lnSpc>
                        <a:defRPr/>
                      </a:pPr>
                      <a:r>
                        <a:rPr lang="en-US" sz="3000" b="true">
                          <a:solidFill>
                            <a:srgbClr val="FFFFFF"/>
                          </a:solidFill>
                          <a:latin typeface="Calibri (MS) Bold"/>
                          <a:ea typeface="Calibri (MS) Bold"/>
                          <a:cs typeface="Calibri (MS) Bold"/>
                          <a:sym typeface="Calibri (MS) Bold"/>
                        </a:rPr>
                        <a:t>Questions</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99DD1"/>
                    </a:solidFill>
                  </a:tcPr>
                </a:tc>
                <a:tc>
                  <a:txBody>
                    <a:bodyPr anchor="t" rtlCol="false"/>
                    <a:lstStyle/>
                    <a:p>
                      <a:pPr algn="ctr">
                        <a:lnSpc>
                          <a:spcPts val="3600"/>
                        </a:lnSpc>
                        <a:defRPr/>
                      </a:pPr>
                      <a:r>
                        <a:rPr lang="en-US" sz="3000" b="true">
                          <a:solidFill>
                            <a:srgbClr val="FFFFFF"/>
                          </a:solidFill>
                          <a:latin typeface="Calibri (MS) Bold"/>
                          <a:ea typeface="Calibri (MS) Bold"/>
                          <a:cs typeface="Calibri (MS) Bold"/>
                          <a:sym typeface="Calibri (MS) Bold"/>
                        </a:rPr>
                        <a:t>Answers</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99DD1"/>
                    </a:solidFill>
                  </a:tcPr>
                </a:tc>
              </a:tr>
              <a:tr h="3589074">
                <a:tc>
                  <a:txBody>
                    <a:bodyPr anchor="t" rtlCol="false"/>
                    <a:lstStyle/>
                    <a:p>
                      <a:pPr algn="l">
                        <a:lnSpc>
                          <a:spcPts val="3240"/>
                        </a:lnSpc>
                        <a:defRPr/>
                      </a:pPr>
                      <a:r>
                        <a:rPr lang="en-US" sz="2700" b="true">
                          <a:solidFill>
                            <a:srgbClr val="000000"/>
                          </a:solidFill>
                          <a:latin typeface="Calibri (MS) Bold"/>
                          <a:ea typeface="Calibri (MS) Bold"/>
                          <a:cs typeface="Calibri (MS) Bold"/>
                          <a:sym typeface="Calibri (MS) Bold"/>
                        </a:rPr>
                        <a:t>Please elaborate Feature3:</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CCDFEE"/>
                    </a:solidFill>
                  </a:tcPr>
                </a:tc>
                <a:tc>
                  <a:txBody>
                    <a:bodyPr anchor="t" rtlCol="false"/>
                    <a:lstStyle/>
                    <a:p>
                      <a:pPr algn="l">
                        <a:lnSpc>
                          <a:spcPts val="3240"/>
                        </a:lnSpc>
                        <a:defRPr/>
                      </a:pPr>
                      <a:r>
                        <a:rPr lang="en-US" sz="2700" b="true">
                          <a:solidFill>
                            <a:srgbClr val="000000"/>
                          </a:solidFill>
                          <a:latin typeface="Calibri (MS) Bold"/>
                          <a:ea typeface="Calibri (MS) Bold"/>
                          <a:cs typeface="Calibri (MS) Bold"/>
                          <a:sym typeface="Calibri (MS) Bold"/>
                        </a:rPr>
                        <a:t>Name: </a:t>
                      </a:r>
                      <a:r>
                        <a:rPr lang="en-US" sz="2700">
                          <a:solidFill>
                            <a:srgbClr val="000000"/>
                          </a:solidFill>
                          <a:latin typeface="Calibri (MS)"/>
                          <a:ea typeface="Calibri (MS)"/>
                          <a:cs typeface="Calibri (MS)"/>
                          <a:sym typeface="Calibri (MS)"/>
                        </a:rPr>
                        <a:t>Automated Fraud Escalation &amp; Alerts</a:t>
                      </a:r>
                      <a:endParaRPr lang="en-US" sz="1100"/>
                    </a:p>
                    <a:p>
                      <a:pPr algn="l">
                        <a:lnSpc>
                          <a:spcPts val="3240"/>
                        </a:lnSpc>
                      </a:pPr>
                      <a:r>
                        <a:rPr lang="en-US" sz="2700" b="true">
                          <a:solidFill>
                            <a:srgbClr val="000000"/>
                          </a:solidFill>
                          <a:latin typeface="Calibri (MS) Bold"/>
                          <a:ea typeface="Calibri (MS) Bold"/>
                          <a:cs typeface="Calibri (MS) Bold"/>
                          <a:sym typeface="Calibri (MS) Bold"/>
                        </a:rPr>
                        <a:t>Business description:</a:t>
                      </a:r>
                      <a:r>
                        <a:rPr lang="en-US" sz="2700">
                          <a:solidFill>
                            <a:srgbClr val="000000"/>
                          </a:solidFill>
                          <a:latin typeface="Calibri (MS)"/>
                          <a:ea typeface="Calibri (MS)"/>
                          <a:cs typeface="Calibri (MS)"/>
                          <a:sym typeface="Calibri (MS)"/>
                        </a:rPr>
                        <a:t> Automatically blocks fraudulent transactions and triggers Jira ticket creation with SNS fraud alerts.</a:t>
                      </a:r>
                    </a:p>
                    <a:p>
                      <a:pPr algn="l">
                        <a:lnSpc>
                          <a:spcPts val="3240"/>
                        </a:lnSpc>
                      </a:pPr>
                      <a:r>
                        <a:rPr lang="en-US" sz="2700" b="true">
                          <a:solidFill>
                            <a:srgbClr val="000000"/>
                          </a:solidFill>
                          <a:latin typeface="Calibri (MS) Bold"/>
                          <a:ea typeface="Calibri (MS) Bold"/>
                          <a:cs typeface="Calibri (MS) Bold"/>
                          <a:sym typeface="Calibri (MS) Bold"/>
                        </a:rPr>
                        <a:t>Achievements:</a:t>
                      </a:r>
                    </a:p>
                    <a:p>
                      <a:pPr algn="l">
                        <a:lnSpc>
                          <a:spcPts val="3240"/>
                        </a:lnSpc>
                      </a:pPr>
                      <a:r>
                        <a:rPr lang="en-US" sz="2700" b="true">
                          <a:solidFill>
                            <a:srgbClr val="000000"/>
                          </a:solidFill>
                          <a:latin typeface="Calibri (MS) Bold"/>
                          <a:ea typeface="Calibri (MS) Bold"/>
                          <a:cs typeface="Calibri (MS) Bold"/>
                          <a:sym typeface="Calibri (MS) Bold"/>
                        </a:rPr>
                        <a:t> • Zero-touch fraud escalation</a:t>
                      </a:r>
                    </a:p>
                    <a:p>
                      <a:pPr algn="l">
                        <a:lnSpc>
                          <a:spcPts val="3240"/>
                        </a:lnSpc>
                      </a:pPr>
                      <a:r>
                        <a:rPr lang="en-US" sz="2700" b="true">
                          <a:solidFill>
                            <a:srgbClr val="000000"/>
                          </a:solidFill>
                          <a:latin typeface="Calibri (MS) Bold"/>
                          <a:ea typeface="Calibri (MS) Bold"/>
                          <a:cs typeface="Calibri (MS) Bold"/>
                          <a:sym typeface="Calibri (MS) Bold"/>
                        </a:rPr>
                        <a:t> • </a:t>
                      </a:r>
                      <a:r>
                        <a:rPr lang="en-US" sz="2700">
                          <a:solidFill>
                            <a:srgbClr val="000000"/>
                          </a:solidFill>
                          <a:latin typeface="Calibri (MS)"/>
                          <a:ea typeface="Calibri (MS)"/>
                          <a:cs typeface="Calibri (MS)"/>
                          <a:sym typeface="Calibri (MS)"/>
                        </a:rPr>
                        <a:t>Real-time incident notifications</a:t>
                      </a:r>
                    </a:p>
                    <a:p>
                      <a:pPr algn="l">
                        <a:lnSpc>
                          <a:spcPts val="3240"/>
                        </a:lnSpc>
                      </a:pPr>
                      <a:r>
                        <a:rPr lang="en-US" sz="2700" b="true">
                          <a:solidFill>
                            <a:srgbClr val="000000"/>
                          </a:solidFill>
                          <a:latin typeface="Calibri (MS) Bold"/>
                          <a:ea typeface="Calibri (MS) Bold"/>
                          <a:cs typeface="Calibri (MS) Bold"/>
                          <a:sym typeface="Calibri (MS) Bold"/>
                        </a:rPr>
                        <a:t> • </a:t>
                      </a:r>
                      <a:r>
                        <a:rPr lang="en-US" sz="2700">
                          <a:solidFill>
                            <a:srgbClr val="000000"/>
                          </a:solidFill>
                          <a:latin typeface="Calibri (MS)"/>
                          <a:ea typeface="Calibri (MS)"/>
                          <a:cs typeface="Calibri (MS)"/>
                          <a:sym typeface="Calibri (MS)"/>
                        </a:rPr>
                        <a:t>Faster fraud investigation workflow</a:t>
                      </a:r>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CCDFEE"/>
                    </a:solidFill>
                  </a:tcPr>
                </a:tc>
              </a:tr>
            </a:tbl>
          </a:graphicData>
        </a:graphic>
      </p:graphicFrame>
      <p:grpSp>
        <p:nvGrpSpPr>
          <p:cNvPr name="Group 21" id="21"/>
          <p:cNvGrpSpPr/>
          <p:nvPr/>
        </p:nvGrpSpPr>
        <p:grpSpPr>
          <a:xfrm rot="0">
            <a:off x="438912" y="9938776"/>
            <a:ext cx="4811963" cy="230829"/>
            <a:chOff x="0" y="0"/>
            <a:chExt cx="6415951" cy="307772"/>
          </a:xfrm>
        </p:grpSpPr>
        <p:sp>
          <p:nvSpPr>
            <p:cNvPr name="Freeform 22" id="22"/>
            <p:cNvSpPr/>
            <p:nvPr/>
          </p:nvSpPr>
          <p:spPr>
            <a:xfrm flipH="false" flipV="false" rot="0">
              <a:off x="0" y="0"/>
              <a:ext cx="6415913" cy="307721"/>
            </a:xfrm>
            <a:custGeom>
              <a:avLst/>
              <a:gdLst/>
              <a:ahLst/>
              <a:cxnLst/>
              <a:rect r="r" b="b" t="t" l="l"/>
              <a:pathLst>
                <a:path h="307721" w="6415913">
                  <a:moveTo>
                    <a:pt x="0" y="0"/>
                  </a:moveTo>
                  <a:lnTo>
                    <a:pt x="6415913" y="0"/>
                  </a:lnTo>
                  <a:lnTo>
                    <a:pt x="6415913" y="307721"/>
                  </a:lnTo>
                  <a:lnTo>
                    <a:pt x="0" y="307721"/>
                  </a:lnTo>
                  <a:close/>
                </a:path>
              </a:pathLst>
            </a:custGeom>
            <a:blipFill>
              <a:blip r:embed="rId3">
                <a:alphaModFix amt="0"/>
              </a:blip>
              <a:stretch>
                <a:fillRect l="0" t="-355967" r="0" b="-355988"/>
              </a:stretch>
            </a:blipFill>
          </p:spPr>
        </p:sp>
      </p:grpSp>
      <p:grpSp>
        <p:nvGrpSpPr>
          <p:cNvPr name="Group 23" id="23"/>
          <p:cNvGrpSpPr/>
          <p:nvPr/>
        </p:nvGrpSpPr>
        <p:grpSpPr>
          <a:xfrm rot="0">
            <a:off x="591312" y="10091176"/>
            <a:ext cx="4811963" cy="230829"/>
            <a:chOff x="0" y="0"/>
            <a:chExt cx="6415951" cy="307772"/>
          </a:xfrm>
        </p:grpSpPr>
        <p:sp>
          <p:nvSpPr>
            <p:cNvPr name="Freeform 24" id="24"/>
            <p:cNvSpPr/>
            <p:nvPr/>
          </p:nvSpPr>
          <p:spPr>
            <a:xfrm flipH="false" flipV="false" rot="0">
              <a:off x="0" y="0"/>
              <a:ext cx="6415948" cy="307776"/>
            </a:xfrm>
            <a:custGeom>
              <a:avLst/>
              <a:gdLst/>
              <a:ahLst/>
              <a:cxnLst/>
              <a:rect r="r" b="b" t="t" l="l"/>
              <a:pathLst>
                <a:path h="307776" w="6415948">
                  <a:moveTo>
                    <a:pt x="0" y="0"/>
                  </a:moveTo>
                  <a:lnTo>
                    <a:pt x="6415948" y="0"/>
                  </a:lnTo>
                  <a:lnTo>
                    <a:pt x="6415948" y="307776"/>
                  </a:lnTo>
                  <a:lnTo>
                    <a:pt x="0" y="307776"/>
                  </a:lnTo>
                  <a:close/>
                </a:path>
              </a:pathLst>
            </a:custGeom>
            <a:blipFill>
              <a:blip r:embed="rId4">
                <a:alphaModFix amt="0"/>
              </a:blip>
              <a:stretch>
                <a:fillRect l="0" t="-356189" r="0" b="-356187"/>
              </a:stretch>
            </a:blipFill>
          </p:spPr>
        </p:sp>
        <p:sp>
          <p:nvSpPr>
            <p:cNvPr name="TextBox 25" id="25"/>
            <p:cNvSpPr txBox="true"/>
            <p:nvPr/>
          </p:nvSpPr>
          <p:spPr>
            <a:xfrm>
              <a:off x="0" y="-38100"/>
              <a:ext cx="6415951" cy="345872"/>
            </a:xfrm>
            <a:prstGeom prst="rect">
              <a:avLst/>
            </a:prstGeom>
          </p:spPr>
          <p:txBody>
            <a:bodyPr anchor="ctr" rtlCol="false" tIns="0" lIns="0" bIns="0" rIns="0"/>
            <a:lstStyle/>
            <a:p>
              <a:pPr algn="l">
                <a:lnSpc>
                  <a:spcPts val="1800"/>
                </a:lnSpc>
              </a:pPr>
              <a:r>
                <a:rPr lang="en-US" sz="1500">
                  <a:solidFill>
                    <a:srgbClr val="000000"/>
                  </a:solidFill>
                  <a:latin typeface="Calibri (MS)"/>
                  <a:ea typeface="Calibri (MS)"/>
                  <a:cs typeface="Calibri (MS)"/>
                  <a:sym typeface="Calibri (MS)"/>
                </a:rPr>
                <a:t>© Mphasis 2025  Proprietary and confidential information</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322803" y="9714938"/>
            <a:ext cx="672560" cy="551593"/>
            <a:chOff x="0" y="0"/>
            <a:chExt cx="896747" cy="735457"/>
          </a:xfrm>
        </p:grpSpPr>
        <p:sp>
          <p:nvSpPr>
            <p:cNvPr name="Freeform 3" id="3"/>
            <p:cNvSpPr/>
            <p:nvPr/>
          </p:nvSpPr>
          <p:spPr>
            <a:xfrm flipH="false" flipV="false" rot="0">
              <a:off x="0" y="0"/>
              <a:ext cx="896747" cy="735457"/>
            </a:xfrm>
            <a:custGeom>
              <a:avLst/>
              <a:gdLst/>
              <a:ahLst/>
              <a:cxnLst/>
              <a:rect r="r" b="b" t="t" l="l"/>
              <a:pathLst>
                <a:path h="735457" w="896747">
                  <a:moveTo>
                    <a:pt x="0" y="0"/>
                  </a:moveTo>
                  <a:lnTo>
                    <a:pt x="896747" y="0"/>
                  </a:lnTo>
                  <a:lnTo>
                    <a:pt x="896747" y="735457"/>
                  </a:lnTo>
                  <a:lnTo>
                    <a:pt x="0" y="735457"/>
                  </a:lnTo>
                  <a:lnTo>
                    <a:pt x="0" y="0"/>
                  </a:lnTo>
                  <a:close/>
                </a:path>
              </a:pathLst>
            </a:custGeom>
            <a:blipFill>
              <a:blip r:embed="rId2"/>
              <a:stretch>
                <a:fillRect l="0" t="-588" r="0" b="-587"/>
              </a:stretch>
            </a:blipFill>
          </p:spPr>
        </p:sp>
      </p:grpSp>
      <p:grpSp>
        <p:nvGrpSpPr>
          <p:cNvPr name="Group 4" id="4"/>
          <p:cNvGrpSpPr/>
          <p:nvPr/>
        </p:nvGrpSpPr>
        <p:grpSpPr>
          <a:xfrm rot="0">
            <a:off x="438912" y="9938776"/>
            <a:ext cx="4811963" cy="230829"/>
            <a:chOff x="0" y="0"/>
            <a:chExt cx="6415951" cy="307772"/>
          </a:xfrm>
        </p:grpSpPr>
        <p:sp>
          <p:nvSpPr>
            <p:cNvPr name="Freeform 5" id="5"/>
            <p:cNvSpPr/>
            <p:nvPr/>
          </p:nvSpPr>
          <p:spPr>
            <a:xfrm flipH="false" flipV="false" rot="0">
              <a:off x="0" y="0"/>
              <a:ext cx="6415913" cy="307721"/>
            </a:xfrm>
            <a:custGeom>
              <a:avLst/>
              <a:gdLst/>
              <a:ahLst/>
              <a:cxnLst/>
              <a:rect r="r" b="b" t="t" l="l"/>
              <a:pathLst>
                <a:path h="307721" w="6415913">
                  <a:moveTo>
                    <a:pt x="0" y="0"/>
                  </a:moveTo>
                  <a:lnTo>
                    <a:pt x="6415913" y="0"/>
                  </a:lnTo>
                  <a:lnTo>
                    <a:pt x="6415913" y="307721"/>
                  </a:lnTo>
                  <a:lnTo>
                    <a:pt x="0" y="307721"/>
                  </a:lnTo>
                  <a:close/>
                </a:path>
              </a:pathLst>
            </a:custGeom>
            <a:blipFill>
              <a:blip r:embed="rId3">
                <a:alphaModFix amt="0"/>
              </a:blip>
              <a:stretch>
                <a:fillRect l="0" t="-355967" r="0" b="-355988"/>
              </a:stretch>
            </a:blipFill>
          </p:spPr>
        </p:sp>
      </p:grpSp>
      <p:grpSp>
        <p:nvGrpSpPr>
          <p:cNvPr name="Group 6" id="6"/>
          <p:cNvGrpSpPr/>
          <p:nvPr/>
        </p:nvGrpSpPr>
        <p:grpSpPr>
          <a:xfrm rot="0">
            <a:off x="438912" y="9910201"/>
            <a:ext cx="4811963" cy="259404"/>
            <a:chOff x="0" y="0"/>
            <a:chExt cx="6415951" cy="345872"/>
          </a:xfrm>
        </p:grpSpPr>
        <p:sp>
          <p:nvSpPr>
            <p:cNvPr name="Freeform 7" id="7"/>
            <p:cNvSpPr/>
            <p:nvPr/>
          </p:nvSpPr>
          <p:spPr>
            <a:xfrm flipH="false" flipV="false" rot="0">
              <a:off x="0" y="0"/>
              <a:ext cx="6415951" cy="345872"/>
            </a:xfrm>
            <a:custGeom>
              <a:avLst/>
              <a:gdLst/>
              <a:ahLst/>
              <a:cxnLst/>
              <a:rect r="r" b="b" t="t" l="l"/>
              <a:pathLst>
                <a:path h="345872" w="6415951">
                  <a:moveTo>
                    <a:pt x="0" y="0"/>
                  </a:moveTo>
                  <a:lnTo>
                    <a:pt x="6415951" y="0"/>
                  </a:lnTo>
                  <a:lnTo>
                    <a:pt x="6415951" y="345872"/>
                  </a:lnTo>
                  <a:lnTo>
                    <a:pt x="0" y="345872"/>
                  </a:lnTo>
                  <a:close/>
                </a:path>
              </a:pathLst>
            </a:custGeom>
            <a:blipFill>
              <a:blip r:embed="rId4">
                <a:alphaModFix amt="0"/>
              </a:blip>
              <a:stretch>
                <a:fillRect l="0" t="-311448" r="0" b="-311448"/>
              </a:stretch>
            </a:blipFill>
          </p:spPr>
        </p:sp>
        <p:sp>
          <p:nvSpPr>
            <p:cNvPr name="TextBox 8" id="8"/>
            <p:cNvSpPr txBox="true"/>
            <p:nvPr/>
          </p:nvSpPr>
          <p:spPr>
            <a:xfrm>
              <a:off x="0" y="-38100"/>
              <a:ext cx="6415951" cy="383972"/>
            </a:xfrm>
            <a:prstGeom prst="rect">
              <a:avLst/>
            </a:prstGeom>
          </p:spPr>
          <p:txBody>
            <a:bodyPr anchor="ctr" rtlCol="false" tIns="0" lIns="0" bIns="0" rIns="0"/>
            <a:lstStyle/>
            <a:p>
              <a:pPr algn="l">
                <a:lnSpc>
                  <a:spcPts val="1800"/>
                </a:lnSpc>
              </a:pPr>
              <a:r>
                <a:rPr lang="en-US" sz="1500">
                  <a:solidFill>
                    <a:srgbClr val="000000"/>
                  </a:solidFill>
                  <a:latin typeface="Calibri (MS)"/>
                  <a:ea typeface="Calibri (MS)"/>
                  <a:cs typeface="Calibri (MS)"/>
                  <a:sym typeface="Calibri (MS)"/>
                </a:rPr>
                <a:t>© Mphasis 2025  Proprietary and confidential information</a:t>
              </a:r>
            </a:p>
          </p:txBody>
        </p:sp>
      </p:grpSp>
      <p:grpSp>
        <p:nvGrpSpPr>
          <p:cNvPr name="Group 9" id="9"/>
          <p:cNvGrpSpPr/>
          <p:nvPr/>
        </p:nvGrpSpPr>
        <p:grpSpPr>
          <a:xfrm rot="0">
            <a:off x="15896863" y="9938776"/>
            <a:ext cx="1100138" cy="230829"/>
            <a:chOff x="0" y="0"/>
            <a:chExt cx="1466850" cy="307772"/>
          </a:xfrm>
        </p:grpSpPr>
        <p:sp>
          <p:nvSpPr>
            <p:cNvPr name="Freeform 10" id="10"/>
            <p:cNvSpPr/>
            <p:nvPr/>
          </p:nvSpPr>
          <p:spPr>
            <a:xfrm flipH="false" flipV="false" rot="0">
              <a:off x="0" y="0"/>
              <a:ext cx="1466850" cy="307721"/>
            </a:xfrm>
            <a:custGeom>
              <a:avLst/>
              <a:gdLst/>
              <a:ahLst/>
              <a:cxnLst/>
              <a:rect r="r" b="b" t="t" l="l"/>
              <a:pathLst>
                <a:path h="307721" w="1466850">
                  <a:moveTo>
                    <a:pt x="0" y="0"/>
                  </a:moveTo>
                  <a:lnTo>
                    <a:pt x="1466850" y="0"/>
                  </a:lnTo>
                  <a:lnTo>
                    <a:pt x="1466850" y="307721"/>
                  </a:lnTo>
                  <a:lnTo>
                    <a:pt x="0" y="307721"/>
                  </a:lnTo>
                  <a:close/>
                </a:path>
              </a:pathLst>
            </a:custGeom>
            <a:blipFill>
              <a:blip r:embed="rId3">
                <a:alphaModFix amt="0"/>
              </a:blip>
              <a:stretch>
                <a:fillRect l="0" t="-42806" r="0" b="-42827"/>
              </a:stretch>
            </a:blipFill>
          </p:spPr>
        </p:sp>
      </p:grpSp>
      <p:grpSp>
        <p:nvGrpSpPr>
          <p:cNvPr name="Group 11" id="11"/>
          <p:cNvGrpSpPr/>
          <p:nvPr/>
        </p:nvGrpSpPr>
        <p:grpSpPr>
          <a:xfrm rot="0">
            <a:off x="15896863" y="9910201"/>
            <a:ext cx="1100138" cy="259404"/>
            <a:chOff x="0" y="0"/>
            <a:chExt cx="1466850" cy="345872"/>
          </a:xfrm>
        </p:grpSpPr>
        <p:sp>
          <p:nvSpPr>
            <p:cNvPr name="Freeform 12" id="12"/>
            <p:cNvSpPr/>
            <p:nvPr/>
          </p:nvSpPr>
          <p:spPr>
            <a:xfrm flipH="false" flipV="false" rot="0">
              <a:off x="0" y="0"/>
              <a:ext cx="1466851" cy="345872"/>
            </a:xfrm>
            <a:custGeom>
              <a:avLst/>
              <a:gdLst/>
              <a:ahLst/>
              <a:cxnLst/>
              <a:rect r="r" b="b" t="t" l="l"/>
              <a:pathLst>
                <a:path h="345872" w="1466851">
                  <a:moveTo>
                    <a:pt x="0" y="0"/>
                  </a:moveTo>
                  <a:lnTo>
                    <a:pt x="1466851" y="0"/>
                  </a:lnTo>
                  <a:lnTo>
                    <a:pt x="1466851" y="345872"/>
                  </a:lnTo>
                  <a:lnTo>
                    <a:pt x="0" y="345872"/>
                  </a:lnTo>
                  <a:close/>
                </a:path>
              </a:pathLst>
            </a:custGeom>
            <a:blipFill>
              <a:blip r:embed="rId4">
                <a:alphaModFix amt="0"/>
              </a:blip>
              <a:stretch>
                <a:fillRect l="0" t="-32636" r="0" b="-32636"/>
              </a:stretch>
            </a:blipFill>
          </p:spPr>
        </p:sp>
        <p:sp>
          <p:nvSpPr>
            <p:cNvPr name="TextBox 13" id="13"/>
            <p:cNvSpPr txBox="true"/>
            <p:nvPr/>
          </p:nvSpPr>
          <p:spPr>
            <a:xfrm>
              <a:off x="0" y="-38100"/>
              <a:ext cx="1466850" cy="383972"/>
            </a:xfrm>
            <a:prstGeom prst="rect">
              <a:avLst/>
            </a:prstGeom>
          </p:spPr>
          <p:txBody>
            <a:bodyPr anchor="ctr" rtlCol="false" tIns="0" lIns="0" bIns="0" rIns="0"/>
            <a:lstStyle/>
            <a:p>
              <a:pPr algn="r">
                <a:lnSpc>
                  <a:spcPts val="1800"/>
                </a:lnSpc>
              </a:pPr>
              <a:r>
                <a:rPr lang="en-US" sz="1500">
                  <a:solidFill>
                    <a:srgbClr val="000000"/>
                  </a:solidFill>
                  <a:latin typeface="Calibri (MS)"/>
                  <a:ea typeface="Calibri (MS)"/>
                  <a:cs typeface="Calibri (MS)"/>
                  <a:sym typeface="Calibri (MS)"/>
                </a:rPr>
                <a:t>‹#›</a:t>
              </a:r>
            </a:p>
          </p:txBody>
        </p:sp>
      </p:grpSp>
      <p:grpSp>
        <p:nvGrpSpPr>
          <p:cNvPr name="Group 14" id="14"/>
          <p:cNvGrpSpPr/>
          <p:nvPr/>
        </p:nvGrpSpPr>
        <p:grpSpPr>
          <a:xfrm rot="0">
            <a:off x="16497300" y="387296"/>
            <a:ext cx="1566958" cy="521018"/>
            <a:chOff x="0" y="0"/>
            <a:chExt cx="2089277" cy="694690"/>
          </a:xfrm>
        </p:grpSpPr>
        <p:sp>
          <p:nvSpPr>
            <p:cNvPr name="Freeform 15" id="15"/>
            <p:cNvSpPr/>
            <p:nvPr/>
          </p:nvSpPr>
          <p:spPr>
            <a:xfrm flipH="false" flipV="false" rot="0">
              <a:off x="0" y="0"/>
              <a:ext cx="2089277" cy="694690"/>
            </a:xfrm>
            <a:custGeom>
              <a:avLst/>
              <a:gdLst/>
              <a:ahLst/>
              <a:cxnLst/>
              <a:rect r="r" b="b" t="t" l="l"/>
              <a:pathLst>
                <a:path h="694690" w="2089277">
                  <a:moveTo>
                    <a:pt x="0" y="0"/>
                  </a:moveTo>
                  <a:lnTo>
                    <a:pt x="2089277" y="0"/>
                  </a:lnTo>
                  <a:lnTo>
                    <a:pt x="2089277" y="694690"/>
                  </a:lnTo>
                  <a:lnTo>
                    <a:pt x="0" y="694690"/>
                  </a:lnTo>
                  <a:lnTo>
                    <a:pt x="0" y="0"/>
                  </a:lnTo>
                  <a:close/>
                </a:path>
              </a:pathLst>
            </a:custGeom>
            <a:blipFill>
              <a:blip r:embed="rId5"/>
              <a:stretch>
                <a:fillRect l="-27" t="0" r="-27" b="0"/>
              </a:stretch>
            </a:blipFill>
          </p:spPr>
        </p:sp>
      </p:grpSp>
      <p:grpSp>
        <p:nvGrpSpPr>
          <p:cNvPr name="Group 16" id="16"/>
          <p:cNvGrpSpPr/>
          <p:nvPr/>
        </p:nvGrpSpPr>
        <p:grpSpPr>
          <a:xfrm rot="0">
            <a:off x="16497300" y="387296"/>
            <a:ext cx="1566958" cy="521018"/>
            <a:chOff x="0" y="0"/>
            <a:chExt cx="2089277" cy="694690"/>
          </a:xfrm>
        </p:grpSpPr>
        <p:sp>
          <p:nvSpPr>
            <p:cNvPr name="Freeform 17" id="17"/>
            <p:cNvSpPr/>
            <p:nvPr/>
          </p:nvSpPr>
          <p:spPr>
            <a:xfrm flipH="false" flipV="false" rot="0">
              <a:off x="0" y="0"/>
              <a:ext cx="2089277" cy="694690"/>
            </a:xfrm>
            <a:custGeom>
              <a:avLst/>
              <a:gdLst/>
              <a:ahLst/>
              <a:cxnLst/>
              <a:rect r="r" b="b" t="t" l="l"/>
              <a:pathLst>
                <a:path h="694690" w="2089277">
                  <a:moveTo>
                    <a:pt x="0" y="0"/>
                  </a:moveTo>
                  <a:lnTo>
                    <a:pt x="2089277" y="0"/>
                  </a:lnTo>
                  <a:lnTo>
                    <a:pt x="2089277" y="694690"/>
                  </a:lnTo>
                  <a:lnTo>
                    <a:pt x="0" y="694690"/>
                  </a:lnTo>
                  <a:lnTo>
                    <a:pt x="0" y="0"/>
                  </a:lnTo>
                  <a:close/>
                </a:path>
              </a:pathLst>
            </a:custGeom>
            <a:blipFill>
              <a:blip r:embed="rId5"/>
              <a:stretch>
                <a:fillRect l="-27" t="0" r="-27" b="0"/>
              </a:stretch>
            </a:blipFill>
          </p:spPr>
        </p:sp>
      </p:grpSp>
      <p:grpSp>
        <p:nvGrpSpPr>
          <p:cNvPr name="Group 18" id="18"/>
          <p:cNvGrpSpPr/>
          <p:nvPr/>
        </p:nvGrpSpPr>
        <p:grpSpPr>
          <a:xfrm rot="0">
            <a:off x="420624" y="622144"/>
            <a:ext cx="2322576" cy="554003"/>
            <a:chOff x="0" y="0"/>
            <a:chExt cx="3096768" cy="738670"/>
          </a:xfrm>
        </p:grpSpPr>
        <p:sp>
          <p:nvSpPr>
            <p:cNvPr name="Freeform 19" id="19"/>
            <p:cNvSpPr/>
            <p:nvPr/>
          </p:nvSpPr>
          <p:spPr>
            <a:xfrm flipH="false" flipV="false" rot="0">
              <a:off x="0" y="0"/>
              <a:ext cx="3096768" cy="738632"/>
            </a:xfrm>
            <a:custGeom>
              <a:avLst/>
              <a:gdLst/>
              <a:ahLst/>
              <a:cxnLst/>
              <a:rect r="r" b="b" t="t" l="l"/>
              <a:pathLst>
                <a:path h="738632" w="3096768">
                  <a:moveTo>
                    <a:pt x="0" y="0"/>
                  </a:moveTo>
                  <a:lnTo>
                    <a:pt x="3096768" y="0"/>
                  </a:lnTo>
                  <a:lnTo>
                    <a:pt x="3096768" y="738632"/>
                  </a:lnTo>
                  <a:lnTo>
                    <a:pt x="0" y="738632"/>
                  </a:lnTo>
                  <a:close/>
                </a:path>
              </a:pathLst>
            </a:custGeom>
            <a:blipFill>
              <a:blip r:embed="rId3">
                <a:alphaModFix amt="0"/>
              </a:blip>
              <a:stretch>
                <a:fillRect l="0" t="-31633" r="0" b="-31636"/>
              </a:stretch>
            </a:blipFill>
          </p:spPr>
        </p:sp>
      </p:grpSp>
      <p:grpSp>
        <p:nvGrpSpPr>
          <p:cNvPr name="Group 20" id="20"/>
          <p:cNvGrpSpPr/>
          <p:nvPr/>
        </p:nvGrpSpPr>
        <p:grpSpPr>
          <a:xfrm rot="0">
            <a:off x="420624" y="615001"/>
            <a:ext cx="2322576" cy="561146"/>
            <a:chOff x="0" y="0"/>
            <a:chExt cx="3096768" cy="748195"/>
          </a:xfrm>
        </p:grpSpPr>
        <p:sp>
          <p:nvSpPr>
            <p:cNvPr name="Freeform 21" id="21"/>
            <p:cNvSpPr/>
            <p:nvPr/>
          </p:nvSpPr>
          <p:spPr>
            <a:xfrm flipH="false" flipV="false" rot="0">
              <a:off x="0" y="0"/>
              <a:ext cx="3096768" cy="748196"/>
            </a:xfrm>
            <a:custGeom>
              <a:avLst/>
              <a:gdLst/>
              <a:ahLst/>
              <a:cxnLst/>
              <a:rect r="r" b="b" t="t" l="l"/>
              <a:pathLst>
                <a:path h="748196" w="3096768">
                  <a:moveTo>
                    <a:pt x="0" y="0"/>
                  </a:moveTo>
                  <a:lnTo>
                    <a:pt x="3096768" y="0"/>
                  </a:lnTo>
                  <a:lnTo>
                    <a:pt x="3096768" y="748196"/>
                  </a:lnTo>
                  <a:lnTo>
                    <a:pt x="0" y="748196"/>
                  </a:lnTo>
                  <a:close/>
                </a:path>
              </a:pathLst>
            </a:custGeom>
            <a:blipFill>
              <a:blip r:embed="rId4">
                <a:alphaModFix amt="0"/>
              </a:blip>
              <a:stretch>
                <a:fillRect l="0" t="-30648" r="0" b="-30648"/>
              </a:stretch>
            </a:blipFill>
          </p:spPr>
        </p:sp>
        <p:sp>
          <p:nvSpPr>
            <p:cNvPr name="TextBox 22" id="22"/>
            <p:cNvSpPr txBox="true"/>
            <p:nvPr/>
          </p:nvSpPr>
          <p:spPr>
            <a:xfrm>
              <a:off x="0" y="-9525"/>
              <a:ext cx="3096768" cy="757720"/>
            </a:xfrm>
            <a:prstGeom prst="rect">
              <a:avLst/>
            </a:prstGeom>
          </p:spPr>
          <p:txBody>
            <a:bodyPr anchor="ctr" rtlCol="false" tIns="0" lIns="0" bIns="0" rIns="0"/>
            <a:lstStyle/>
            <a:p>
              <a:pPr algn="l">
                <a:lnSpc>
                  <a:spcPts val="4211"/>
                </a:lnSpc>
              </a:pPr>
              <a:r>
                <a:rPr lang="en-US" sz="3509" b="true">
                  <a:solidFill>
                    <a:srgbClr val="22988A"/>
                  </a:solidFill>
                  <a:latin typeface="Aptos Bold"/>
                  <a:ea typeface="Aptos Bold"/>
                  <a:cs typeface="Aptos Bold"/>
                  <a:sym typeface="Aptos Bold"/>
                </a:rPr>
                <a:t>Outcomes</a:t>
              </a:r>
            </a:p>
          </p:txBody>
        </p:sp>
      </p:grpSp>
      <p:graphicFrame>
        <p:nvGraphicFramePr>
          <p:cNvPr name="Table 23" id="23"/>
          <p:cNvGraphicFramePr>
            <a:graphicFrameLocks noGrp="true"/>
          </p:cNvGraphicFramePr>
          <p:nvPr/>
        </p:nvGraphicFramePr>
        <p:xfrm>
          <a:off x="400407" y="1555493"/>
          <a:ext cx="17462500" cy="8293100"/>
        </p:xfrm>
        <a:graphic>
          <a:graphicData uri="http://schemas.openxmlformats.org/drawingml/2006/table">
            <a:tbl>
              <a:tblPr/>
              <a:tblGrid>
                <a:gridCol w="8141286"/>
                <a:gridCol w="9321214"/>
              </a:tblGrid>
              <a:tr h="1013332">
                <a:tc>
                  <a:txBody>
                    <a:bodyPr anchor="t" rtlCol="false"/>
                    <a:lstStyle/>
                    <a:p>
                      <a:pPr algn="ctr">
                        <a:lnSpc>
                          <a:spcPts val="3600"/>
                        </a:lnSpc>
                        <a:defRPr/>
                      </a:pPr>
                      <a:r>
                        <a:rPr lang="en-US" sz="3000" b="true">
                          <a:solidFill>
                            <a:srgbClr val="FFFFFF"/>
                          </a:solidFill>
                          <a:latin typeface="Calibri (MS) Bold"/>
                          <a:ea typeface="Calibri (MS) Bold"/>
                          <a:cs typeface="Calibri (MS) Bold"/>
                          <a:sym typeface="Calibri (MS) Bold"/>
                        </a:rPr>
                        <a:t>Questions</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99DD1"/>
                    </a:solidFill>
                  </a:tcPr>
                </a:tc>
                <a:tc>
                  <a:txBody>
                    <a:bodyPr anchor="t" rtlCol="false"/>
                    <a:lstStyle/>
                    <a:p>
                      <a:pPr algn="ctr">
                        <a:lnSpc>
                          <a:spcPts val="3600"/>
                        </a:lnSpc>
                        <a:defRPr/>
                      </a:pPr>
                      <a:r>
                        <a:rPr lang="en-US" sz="3000" b="true">
                          <a:solidFill>
                            <a:srgbClr val="FFFFFF"/>
                          </a:solidFill>
                          <a:latin typeface="Calibri (MS) Bold"/>
                          <a:ea typeface="Calibri (MS) Bold"/>
                          <a:cs typeface="Calibri (MS) Bold"/>
                          <a:sym typeface="Calibri (MS) Bold"/>
                        </a:rPr>
                        <a:t>Answers</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99DD1"/>
                    </a:solidFill>
                  </a:tcPr>
                </a:tc>
              </a:tr>
              <a:tr h="1953565">
                <a:tc>
                  <a:txBody>
                    <a:bodyPr anchor="t" rtlCol="false"/>
                    <a:lstStyle/>
                    <a:p>
                      <a:pPr algn="l">
                        <a:lnSpc>
                          <a:spcPts val="3240"/>
                        </a:lnSpc>
                        <a:defRPr/>
                      </a:pPr>
                      <a:r>
                        <a:rPr lang="en-US" sz="2700">
                          <a:solidFill>
                            <a:srgbClr val="000000"/>
                          </a:solidFill>
                          <a:latin typeface="Calibri (MS)"/>
                          <a:ea typeface="Calibri (MS)"/>
                          <a:cs typeface="Calibri (MS)"/>
                          <a:sym typeface="Calibri (MS)"/>
                        </a:rPr>
                        <a:t>Business impact</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CCDFEE"/>
                    </a:solidFill>
                  </a:tcPr>
                </a:tc>
                <a:tc>
                  <a:txBody>
                    <a:bodyPr anchor="t" rtlCol="false"/>
                    <a:lstStyle/>
                    <a:p>
                      <a:pPr algn="l">
                        <a:lnSpc>
                          <a:spcPts val="3240"/>
                        </a:lnSpc>
                        <a:defRPr/>
                      </a:pPr>
                      <a:r>
                        <a:rPr lang="en-US" sz="2700">
                          <a:solidFill>
                            <a:srgbClr val="000000"/>
                          </a:solidFill>
                          <a:latin typeface="Calibri (MS)"/>
                          <a:ea typeface="Calibri (MS)"/>
                          <a:cs typeface="Calibri (MS)"/>
                          <a:sym typeface="Calibri (MS)"/>
                        </a:rPr>
                        <a:t>• Real-time fraud detection with reduced manual monitoring </a:t>
                      </a:r>
                      <a:endParaRPr lang="en-US" sz="1100"/>
                    </a:p>
                    <a:p>
                      <a:pPr algn="l">
                        <a:lnSpc>
                          <a:spcPts val="3240"/>
                        </a:lnSpc>
                      </a:pPr>
                      <a:r>
                        <a:rPr lang="en-US" sz="2700">
                          <a:solidFill>
                            <a:srgbClr val="000000"/>
                          </a:solidFill>
                          <a:latin typeface="Calibri (MS)"/>
                          <a:ea typeface="Calibri (MS)"/>
                          <a:cs typeface="Calibri (MS)"/>
                          <a:sym typeface="Calibri (MS)"/>
                        </a:rPr>
                        <a:t>• Improved banking security using AI-driven risk analysis </a:t>
                      </a:r>
                    </a:p>
                    <a:p>
                      <a:pPr algn="l">
                        <a:lnSpc>
                          <a:spcPts val="3240"/>
                        </a:lnSpc>
                      </a:pPr>
                      <a:r>
                        <a:rPr lang="en-US" sz="2700">
                          <a:solidFill>
                            <a:srgbClr val="000000"/>
                          </a:solidFill>
                          <a:latin typeface="Calibri (MS)"/>
                          <a:ea typeface="Calibri (MS)"/>
                          <a:cs typeface="Calibri (MS)"/>
                          <a:sym typeface="Calibri (MS)"/>
                        </a:rPr>
                        <a:t>• Enhanced customer trust through secure transaction              verification</a:t>
                      </a:r>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CCDFEE"/>
                    </a:solidFill>
                  </a:tcPr>
                </a:tc>
              </a:tr>
              <a:tr h="1687855">
                <a:tc>
                  <a:txBody>
                    <a:bodyPr anchor="t" rtlCol="false"/>
                    <a:lstStyle/>
                    <a:p>
                      <a:pPr algn="l">
                        <a:lnSpc>
                          <a:spcPts val="3240"/>
                        </a:lnSpc>
                        <a:defRPr/>
                      </a:pPr>
                      <a:r>
                        <a:rPr lang="en-US" sz="2700">
                          <a:solidFill>
                            <a:srgbClr val="000000"/>
                          </a:solidFill>
                          <a:latin typeface="Calibri (MS)"/>
                          <a:ea typeface="Calibri (MS)"/>
                          <a:cs typeface="Calibri (MS)"/>
                          <a:sym typeface="Calibri (MS)"/>
                        </a:rPr>
                        <a:t>Achieved Technical benefits</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7F0F7"/>
                    </a:solidFill>
                  </a:tcPr>
                </a:tc>
                <a:tc>
                  <a:txBody>
                    <a:bodyPr anchor="t" rtlCol="false"/>
                    <a:lstStyle/>
                    <a:p>
                      <a:pPr algn="just">
                        <a:lnSpc>
                          <a:spcPts val="3240"/>
                        </a:lnSpc>
                        <a:defRPr/>
                      </a:pPr>
                      <a:r>
                        <a:rPr lang="en-US" sz="2700">
                          <a:solidFill>
                            <a:srgbClr val="000000"/>
                          </a:solidFill>
                          <a:latin typeface="Calibri (MS)"/>
                          <a:ea typeface="Calibri (MS)"/>
                          <a:cs typeface="Calibri (MS)"/>
                          <a:sym typeface="Calibri (MS)"/>
                        </a:rPr>
                        <a:t>• Scalable serverless architecture using AWS </a:t>
                      </a:r>
                      <a:endParaRPr lang="en-US" sz="1100"/>
                    </a:p>
                    <a:p>
                      <a:pPr algn="just">
                        <a:lnSpc>
                          <a:spcPts val="3240"/>
                        </a:lnSpc>
                      </a:pPr>
                      <a:r>
                        <a:rPr lang="en-US" sz="2700">
                          <a:solidFill>
                            <a:srgbClr val="000000"/>
                          </a:solidFill>
                          <a:latin typeface="Calibri (MS)"/>
                          <a:ea typeface="Calibri (MS)"/>
                          <a:cs typeface="Calibri (MS)"/>
                          <a:sym typeface="Calibri (MS)"/>
                        </a:rPr>
                        <a:t>• Real-time ML inference using Amazon SageMaker </a:t>
                      </a:r>
                    </a:p>
                    <a:p>
                      <a:pPr algn="just">
                        <a:lnSpc>
                          <a:spcPts val="3240"/>
                        </a:lnSpc>
                      </a:pPr>
                      <a:r>
                        <a:rPr lang="en-US" sz="2700">
                          <a:solidFill>
                            <a:srgbClr val="000000"/>
                          </a:solidFill>
                          <a:latin typeface="Calibri (MS)"/>
                          <a:ea typeface="Calibri (MS)"/>
                          <a:cs typeface="Calibri (MS)"/>
                          <a:sym typeface="Calibri (MS)"/>
                        </a:rPr>
                        <a:t>• Automated OTP verification and fraud escalation workflows</a:t>
                      </a:r>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7F0F7"/>
                    </a:solidFill>
                  </a:tcPr>
                </a:tc>
              </a:tr>
              <a:tr h="1684783">
                <a:tc>
                  <a:txBody>
                    <a:bodyPr anchor="t" rtlCol="false"/>
                    <a:lstStyle/>
                    <a:p>
                      <a:pPr algn="l">
                        <a:lnSpc>
                          <a:spcPts val="3240"/>
                        </a:lnSpc>
                        <a:defRPr/>
                      </a:pPr>
                      <a:r>
                        <a:rPr lang="en-US" sz="2700">
                          <a:solidFill>
                            <a:srgbClr val="000000"/>
                          </a:solidFill>
                          <a:latin typeface="Calibri (MS)"/>
                          <a:ea typeface="Calibri (MS)"/>
                          <a:cs typeface="Calibri (MS)"/>
                          <a:sym typeface="Calibri (MS)"/>
                        </a:rPr>
                        <a:t>Cost/time/value improvements</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CCDFEE"/>
                    </a:solidFill>
                  </a:tcPr>
                </a:tc>
                <a:tc>
                  <a:txBody>
                    <a:bodyPr anchor="t" rtlCol="false"/>
                    <a:lstStyle/>
                    <a:p>
                      <a:pPr algn="l">
                        <a:lnSpc>
                          <a:spcPts val="3240"/>
                        </a:lnSpc>
                        <a:defRPr/>
                      </a:pPr>
                      <a:r>
                        <a:rPr lang="en-US" sz="2700">
                          <a:solidFill>
                            <a:srgbClr val="000000"/>
                          </a:solidFill>
                          <a:latin typeface="Calibri (MS)"/>
                          <a:ea typeface="Calibri (MS)"/>
                          <a:cs typeface="Calibri (MS)"/>
                          <a:sym typeface="Calibri (MS)"/>
                        </a:rPr>
                        <a:t>• Reduced fraud investigation time </a:t>
                      </a:r>
                      <a:endParaRPr lang="en-US" sz="1100"/>
                    </a:p>
                    <a:p>
                      <a:pPr algn="l">
                        <a:lnSpc>
                          <a:spcPts val="3240"/>
                        </a:lnSpc>
                      </a:pPr>
                      <a:r>
                        <a:rPr lang="en-US" sz="2700">
                          <a:solidFill>
                            <a:srgbClr val="000000"/>
                          </a:solidFill>
                          <a:latin typeface="Calibri (MS)"/>
                          <a:ea typeface="Calibri (MS)"/>
                          <a:cs typeface="Calibri (MS)"/>
                          <a:sym typeface="Calibri (MS)"/>
                        </a:rPr>
                        <a:t>• Lower operational overhead through automation </a:t>
                      </a:r>
                    </a:p>
                    <a:p>
                      <a:pPr algn="l">
                        <a:lnSpc>
                          <a:spcPts val="3240"/>
                        </a:lnSpc>
                      </a:pPr>
                      <a:r>
                        <a:rPr lang="en-US" sz="2700">
                          <a:solidFill>
                            <a:srgbClr val="000000"/>
                          </a:solidFill>
                          <a:latin typeface="Calibri (MS)"/>
                          <a:ea typeface="Calibri (MS)"/>
                          <a:cs typeface="Calibri (MS)"/>
                          <a:sym typeface="Calibri (MS)"/>
                        </a:rPr>
                        <a:t>• Faster response to suspicious transactions</a:t>
                      </a:r>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CCDFEE"/>
                    </a:solidFill>
                  </a:tcPr>
                </a:tc>
              </a:tr>
              <a:tr h="1953565">
                <a:tc>
                  <a:txBody>
                    <a:bodyPr anchor="t" rtlCol="false"/>
                    <a:lstStyle/>
                    <a:p>
                      <a:pPr algn="l">
                        <a:lnSpc>
                          <a:spcPts val="3240"/>
                        </a:lnSpc>
                        <a:defRPr/>
                      </a:pPr>
                      <a:r>
                        <a:rPr lang="en-US" sz="2700">
                          <a:solidFill>
                            <a:srgbClr val="000000"/>
                          </a:solidFill>
                          <a:latin typeface="Calibri (MS)"/>
                          <a:ea typeface="Calibri (MS)"/>
                          <a:cs typeface="Calibri (MS)"/>
                          <a:sym typeface="Calibri (MS)"/>
                        </a:rPr>
                        <a:t>Key Metrics</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7F0F7"/>
                    </a:solidFill>
                  </a:tcPr>
                </a:tc>
                <a:tc>
                  <a:txBody>
                    <a:bodyPr anchor="t" rtlCol="false"/>
                    <a:lstStyle/>
                    <a:p>
                      <a:pPr algn="l">
                        <a:lnSpc>
                          <a:spcPts val="3240"/>
                        </a:lnSpc>
                        <a:defRPr/>
                      </a:pPr>
                      <a:r>
                        <a:rPr lang="en-US" sz="2700">
                          <a:solidFill>
                            <a:srgbClr val="000000"/>
                          </a:solidFill>
                          <a:latin typeface="Calibri (MS)"/>
                          <a:ea typeface="Calibri (MS)"/>
                          <a:cs typeface="Calibri (MS)"/>
                          <a:sym typeface="Calibri (MS)"/>
                        </a:rPr>
                        <a:t>• 3-tier risk classification system </a:t>
                      </a:r>
                      <a:endParaRPr lang="en-US" sz="1100"/>
                    </a:p>
                    <a:p>
                      <a:pPr algn="l">
                        <a:lnSpc>
                          <a:spcPts val="3240"/>
                        </a:lnSpc>
                      </a:pPr>
                      <a:r>
                        <a:rPr lang="en-US" sz="2700">
                          <a:solidFill>
                            <a:srgbClr val="000000"/>
                          </a:solidFill>
                          <a:latin typeface="Calibri (MS)"/>
                          <a:ea typeface="Calibri (MS)"/>
                          <a:cs typeface="Calibri (MS)"/>
                          <a:sym typeface="Calibri (MS)"/>
                        </a:rPr>
                        <a:t>• 40-second OTP verification window </a:t>
                      </a:r>
                    </a:p>
                    <a:p>
                      <a:pPr algn="l">
                        <a:lnSpc>
                          <a:spcPts val="3240"/>
                        </a:lnSpc>
                      </a:pPr>
                      <a:r>
                        <a:rPr lang="en-US" sz="2700">
                          <a:solidFill>
                            <a:srgbClr val="000000"/>
                          </a:solidFill>
                          <a:latin typeface="Calibri (MS)"/>
                          <a:ea typeface="Calibri (MS)"/>
                          <a:cs typeface="Calibri (MS)"/>
                          <a:sym typeface="Calibri (MS)"/>
                        </a:rPr>
                        <a:t>• 100% serverless deployment</a:t>
                      </a:r>
                    </a:p>
                    <a:p>
                      <a:pPr algn="l">
                        <a:lnSpc>
                          <a:spcPts val="3240"/>
                        </a:lnSpc>
                      </a:pPr>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7F0F7"/>
                    </a:solidFill>
                  </a:tcPr>
                </a:tc>
              </a:tr>
            </a:tbl>
          </a:graphicData>
        </a:graphic>
      </p:graphicFrame>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322803" y="9714938"/>
            <a:ext cx="672560" cy="551593"/>
            <a:chOff x="0" y="0"/>
            <a:chExt cx="896747" cy="735457"/>
          </a:xfrm>
        </p:grpSpPr>
        <p:sp>
          <p:nvSpPr>
            <p:cNvPr name="Freeform 3" id="3"/>
            <p:cNvSpPr/>
            <p:nvPr/>
          </p:nvSpPr>
          <p:spPr>
            <a:xfrm flipH="false" flipV="false" rot="0">
              <a:off x="0" y="0"/>
              <a:ext cx="896747" cy="735457"/>
            </a:xfrm>
            <a:custGeom>
              <a:avLst/>
              <a:gdLst/>
              <a:ahLst/>
              <a:cxnLst/>
              <a:rect r="r" b="b" t="t" l="l"/>
              <a:pathLst>
                <a:path h="735457" w="896747">
                  <a:moveTo>
                    <a:pt x="0" y="0"/>
                  </a:moveTo>
                  <a:lnTo>
                    <a:pt x="896747" y="0"/>
                  </a:lnTo>
                  <a:lnTo>
                    <a:pt x="896747" y="735457"/>
                  </a:lnTo>
                  <a:lnTo>
                    <a:pt x="0" y="735457"/>
                  </a:lnTo>
                  <a:lnTo>
                    <a:pt x="0" y="0"/>
                  </a:lnTo>
                  <a:close/>
                </a:path>
              </a:pathLst>
            </a:custGeom>
            <a:blipFill>
              <a:blip r:embed="rId2"/>
              <a:stretch>
                <a:fillRect l="0" t="-588" r="0" b="-587"/>
              </a:stretch>
            </a:blipFill>
          </p:spPr>
        </p:sp>
      </p:grpSp>
      <p:grpSp>
        <p:nvGrpSpPr>
          <p:cNvPr name="Group 4" id="4"/>
          <p:cNvGrpSpPr/>
          <p:nvPr/>
        </p:nvGrpSpPr>
        <p:grpSpPr>
          <a:xfrm rot="0">
            <a:off x="438912" y="9938776"/>
            <a:ext cx="4811963" cy="230829"/>
            <a:chOff x="0" y="0"/>
            <a:chExt cx="6415951" cy="307772"/>
          </a:xfrm>
        </p:grpSpPr>
        <p:sp>
          <p:nvSpPr>
            <p:cNvPr name="Freeform 5" id="5"/>
            <p:cNvSpPr/>
            <p:nvPr/>
          </p:nvSpPr>
          <p:spPr>
            <a:xfrm flipH="false" flipV="false" rot="0">
              <a:off x="0" y="0"/>
              <a:ext cx="6415913" cy="307721"/>
            </a:xfrm>
            <a:custGeom>
              <a:avLst/>
              <a:gdLst/>
              <a:ahLst/>
              <a:cxnLst/>
              <a:rect r="r" b="b" t="t" l="l"/>
              <a:pathLst>
                <a:path h="307721" w="6415913">
                  <a:moveTo>
                    <a:pt x="0" y="0"/>
                  </a:moveTo>
                  <a:lnTo>
                    <a:pt x="6415913" y="0"/>
                  </a:lnTo>
                  <a:lnTo>
                    <a:pt x="6415913" y="307721"/>
                  </a:lnTo>
                  <a:lnTo>
                    <a:pt x="0" y="307721"/>
                  </a:lnTo>
                  <a:close/>
                </a:path>
              </a:pathLst>
            </a:custGeom>
            <a:blipFill>
              <a:blip r:embed="rId3">
                <a:alphaModFix amt="0"/>
              </a:blip>
              <a:stretch>
                <a:fillRect l="0" t="-355967" r="0" b="-355988"/>
              </a:stretch>
            </a:blipFill>
          </p:spPr>
        </p:sp>
      </p:grpSp>
      <p:grpSp>
        <p:nvGrpSpPr>
          <p:cNvPr name="Group 6" id="6"/>
          <p:cNvGrpSpPr/>
          <p:nvPr/>
        </p:nvGrpSpPr>
        <p:grpSpPr>
          <a:xfrm rot="0">
            <a:off x="438912" y="9910201"/>
            <a:ext cx="4811963" cy="259404"/>
            <a:chOff x="0" y="0"/>
            <a:chExt cx="6415951" cy="345872"/>
          </a:xfrm>
        </p:grpSpPr>
        <p:sp>
          <p:nvSpPr>
            <p:cNvPr name="Freeform 7" id="7"/>
            <p:cNvSpPr/>
            <p:nvPr/>
          </p:nvSpPr>
          <p:spPr>
            <a:xfrm flipH="false" flipV="false" rot="0">
              <a:off x="0" y="0"/>
              <a:ext cx="6415951" cy="345872"/>
            </a:xfrm>
            <a:custGeom>
              <a:avLst/>
              <a:gdLst/>
              <a:ahLst/>
              <a:cxnLst/>
              <a:rect r="r" b="b" t="t" l="l"/>
              <a:pathLst>
                <a:path h="345872" w="6415951">
                  <a:moveTo>
                    <a:pt x="0" y="0"/>
                  </a:moveTo>
                  <a:lnTo>
                    <a:pt x="6415951" y="0"/>
                  </a:lnTo>
                  <a:lnTo>
                    <a:pt x="6415951" y="345872"/>
                  </a:lnTo>
                  <a:lnTo>
                    <a:pt x="0" y="345872"/>
                  </a:lnTo>
                  <a:close/>
                </a:path>
              </a:pathLst>
            </a:custGeom>
            <a:blipFill>
              <a:blip r:embed="rId4">
                <a:alphaModFix amt="0"/>
              </a:blip>
              <a:stretch>
                <a:fillRect l="0" t="-311448" r="0" b="-311448"/>
              </a:stretch>
            </a:blipFill>
          </p:spPr>
        </p:sp>
        <p:sp>
          <p:nvSpPr>
            <p:cNvPr name="TextBox 8" id="8"/>
            <p:cNvSpPr txBox="true"/>
            <p:nvPr/>
          </p:nvSpPr>
          <p:spPr>
            <a:xfrm>
              <a:off x="0" y="-38100"/>
              <a:ext cx="6415951" cy="383972"/>
            </a:xfrm>
            <a:prstGeom prst="rect">
              <a:avLst/>
            </a:prstGeom>
          </p:spPr>
          <p:txBody>
            <a:bodyPr anchor="ctr" rtlCol="false" tIns="0" lIns="0" bIns="0" rIns="0"/>
            <a:lstStyle/>
            <a:p>
              <a:pPr algn="l">
                <a:lnSpc>
                  <a:spcPts val="1800"/>
                </a:lnSpc>
              </a:pPr>
              <a:r>
                <a:rPr lang="en-US" sz="1500">
                  <a:solidFill>
                    <a:srgbClr val="000000"/>
                  </a:solidFill>
                  <a:latin typeface="Calibri (MS)"/>
                  <a:ea typeface="Calibri (MS)"/>
                  <a:cs typeface="Calibri (MS)"/>
                  <a:sym typeface="Calibri (MS)"/>
                </a:rPr>
                <a:t>© Mphasis 2025  Proprietary and confidential information</a:t>
              </a:r>
            </a:p>
          </p:txBody>
        </p:sp>
      </p:grpSp>
      <p:grpSp>
        <p:nvGrpSpPr>
          <p:cNvPr name="Group 9" id="9"/>
          <p:cNvGrpSpPr/>
          <p:nvPr/>
        </p:nvGrpSpPr>
        <p:grpSpPr>
          <a:xfrm rot="0">
            <a:off x="8390830" y="9938776"/>
            <a:ext cx="1506331" cy="230829"/>
            <a:chOff x="0" y="0"/>
            <a:chExt cx="2008442" cy="307772"/>
          </a:xfrm>
        </p:grpSpPr>
        <p:sp>
          <p:nvSpPr>
            <p:cNvPr name="Freeform 10" id="10"/>
            <p:cNvSpPr/>
            <p:nvPr/>
          </p:nvSpPr>
          <p:spPr>
            <a:xfrm flipH="false" flipV="false" rot="0">
              <a:off x="0" y="0"/>
              <a:ext cx="2008505" cy="307721"/>
            </a:xfrm>
            <a:custGeom>
              <a:avLst/>
              <a:gdLst/>
              <a:ahLst/>
              <a:cxnLst/>
              <a:rect r="r" b="b" t="t" l="l"/>
              <a:pathLst>
                <a:path h="307721" w="2008505">
                  <a:moveTo>
                    <a:pt x="0" y="0"/>
                  </a:moveTo>
                  <a:lnTo>
                    <a:pt x="2008505" y="0"/>
                  </a:lnTo>
                  <a:lnTo>
                    <a:pt x="2008505" y="307721"/>
                  </a:lnTo>
                  <a:lnTo>
                    <a:pt x="0" y="307721"/>
                  </a:lnTo>
                  <a:close/>
                </a:path>
              </a:pathLst>
            </a:custGeom>
            <a:blipFill>
              <a:blip r:embed="rId3">
                <a:alphaModFix amt="0"/>
              </a:blip>
              <a:stretch>
                <a:fillRect l="0" t="-77078" r="3" b="-77094"/>
              </a:stretch>
            </a:blipFill>
          </p:spPr>
        </p:sp>
      </p:grpSp>
      <p:grpSp>
        <p:nvGrpSpPr>
          <p:cNvPr name="Group 11" id="11"/>
          <p:cNvGrpSpPr/>
          <p:nvPr/>
        </p:nvGrpSpPr>
        <p:grpSpPr>
          <a:xfrm rot="0">
            <a:off x="8390830" y="9910201"/>
            <a:ext cx="1506331" cy="259404"/>
            <a:chOff x="0" y="0"/>
            <a:chExt cx="2008442" cy="345872"/>
          </a:xfrm>
        </p:grpSpPr>
        <p:sp>
          <p:nvSpPr>
            <p:cNvPr name="Freeform 12" id="12"/>
            <p:cNvSpPr/>
            <p:nvPr/>
          </p:nvSpPr>
          <p:spPr>
            <a:xfrm flipH="false" flipV="false" rot="0">
              <a:off x="0" y="0"/>
              <a:ext cx="2008441" cy="345872"/>
            </a:xfrm>
            <a:custGeom>
              <a:avLst/>
              <a:gdLst/>
              <a:ahLst/>
              <a:cxnLst/>
              <a:rect r="r" b="b" t="t" l="l"/>
              <a:pathLst>
                <a:path h="345872" w="2008441">
                  <a:moveTo>
                    <a:pt x="0" y="0"/>
                  </a:moveTo>
                  <a:lnTo>
                    <a:pt x="2008441" y="0"/>
                  </a:lnTo>
                  <a:lnTo>
                    <a:pt x="2008441" y="345872"/>
                  </a:lnTo>
                  <a:lnTo>
                    <a:pt x="0" y="345872"/>
                  </a:lnTo>
                  <a:close/>
                </a:path>
              </a:pathLst>
            </a:custGeom>
            <a:blipFill>
              <a:blip r:embed="rId4">
                <a:alphaModFix amt="0"/>
              </a:blip>
              <a:stretch>
                <a:fillRect l="0" t="-63147" r="0" b="-63147"/>
              </a:stretch>
            </a:blipFill>
          </p:spPr>
        </p:sp>
        <p:sp>
          <p:nvSpPr>
            <p:cNvPr name="TextBox 13" id="13"/>
            <p:cNvSpPr txBox="true"/>
            <p:nvPr/>
          </p:nvSpPr>
          <p:spPr>
            <a:xfrm>
              <a:off x="0" y="-38100"/>
              <a:ext cx="2008442" cy="383972"/>
            </a:xfrm>
            <a:prstGeom prst="rect">
              <a:avLst/>
            </a:prstGeom>
          </p:spPr>
          <p:txBody>
            <a:bodyPr anchor="ctr" rtlCol="false" tIns="0" lIns="0" bIns="0" rIns="0"/>
            <a:lstStyle/>
            <a:p>
              <a:pPr algn="ctr">
                <a:lnSpc>
                  <a:spcPts val="1800"/>
                </a:lnSpc>
              </a:pPr>
              <a:r>
                <a:rPr lang="en-US" sz="1500">
                  <a:solidFill>
                    <a:srgbClr val="000000"/>
                  </a:solidFill>
                  <a:latin typeface="Calibri (MS)"/>
                  <a:ea typeface="Calibri (MS)"/>
                  <a:cs typeface="Calibri (MS)"/>
                  <a:sym typeface="Calibri (MS)"/>
                </a:rPr>
                <a:t>19-05-2026</a:t>
              </a:r>
            </a:p>
          </p:txBody>
        </p:sp>
      </p:grpSp>
      <p:grpSp>
        <p:nvGrpSpPr>
          <p:cNvPr name="Group 14" id="14"/>
          <p:cNvGrpSpPr/>
          <p:nvPr/>
        </p:nvGrpSpPr>
        <p:grpSpPr>
          <a:xfrm rot="0">
            <a:off x="15896863" y="9938776"/>
            <a:ext cx="1100138" cy="230829"/>
            <a:chOff x="0" y="0"/>
            <a:chExt cx="1466850" cy="307772"/>
          </a:xfrm>
        </p:grpSpPr>
        <p:sp>
          <p:nvSpPr>
            <p:cNvPr name="Freeform 15" id="15"/>
            <p:cNvSpPr/>
            <p:nvPr/>
          </p:nvSpPr>
          <p:spPr>
            <a:xfrm flipH="false" flipV="false" rot="0">
              <a:off x="0" y="0"/>
              <a:ext cx="1466850" cy="307721"/>
            </a:xfrm>
            <a:custGeom>
              <a:avLst/>
              <a:gdLst/>
              <a:ahLst/>
              <a:cxnLst/>
              <a:rect r="r" b="b" t="t" l="l"/>
              <a:pathLst>
                <a:path h="307721" w="1466850">
                  <a:moveTo>
                    <a:pt x="0" y="0"/>
                  </a:moveTo>
                  <a:lnTo>
                    <a:pt x="1466850" y="0"/>
                  </a:lnTo>
                  <a:lnTo>
                    <a:pt x="1466850" y="307721"/>
                  </a:lnTo>
                  <a:lnTo>
                    <a:pt x="0" y="307721"/>
                  </a:lnTo>
                  <a:close/>
                </a:path>
              </a:pathLst>
            </a:custGeom>
            <a:blipFill>
              <a:blip r:embed="rId3">
                <a:alphaModFix amt="0"/>
              </a:blip>
              <a:stretch>
                <a:fillRect l="0" t="-42806" r="0" b="-42827"/>
              </a:stretch>
            </a:blipFill>
          </p:spPr>
        </p:sp>
      </p:grpSp>
      <p:grpSp>
        <p:nvGrpSpPr>
          <p:cNvPr name="Group 16" id="16"/>
          <p:cNvGrpSpPr/>
          <p:nvPr/>
        </p:nvGrpSpPr>
        <p:grpSpPr>
          <a:xfrm rot="0">
            <a:off x="15896863" y="9910201"/>
            <a:ext cx="1100138" cy="259404"/>
            <a:chOff x="0" y="0"/>
            <a:chExt cx="1466850" cy="345872"/>
          </a:xfrm>
        </p:grpSpPr>
        <p:sp>
          <p:nvSpPr>
            <p:cNvPr name="Freeform 17" id="17"/>
            <p:cNvSpPr/>
            <p:nvPr/>
          </p:nvSpPr>
          <p:spPr>
            <a:xfrm flipH="false" flipV="false" rot="0">
              <a:off x="0" y="0"/>
              <a:ext cx="1466851" cy="345872"/>
            </a:xfrm>
            <a:custGeom>
              <a:avLst/>
              <a:gdLst/>
              <a:ahLst/>
              <a:cxnLst/>
              <a:rect r="r" b="b" t="t" l="l"/>
              <a:pathLst>
                <a:path h="345872" w="1466851">
                  <a:moveTo>
                    <a:pt x="0" y="0"/>
                  </a:moveTo>
                  <a:lnTo>
                    <a:pt x="1466851" y="0"/>
                  </a:lnTo>
                  <a:lnTo>
                    <a:pt x="1466851" y="345872"/>
                  </a:lnTo>
                  <a:lnTo>
                    <a:pt x="0" y="345872"/>
                  </a:lnTo>
                  <a:close/>
                </a:path>
              </a:pathLst>
            </a:custGeom>
            <a:blipFill>
              <a:blip r:embed="rId4">
                <a:alphaModFix amt="0"/>
              </a:blip>
              <a:stretch>
                <a:fillRect l="0" t="-32636" r="0" b="-32636"/>
              </a:stretch>
            </a:blipFill>
          </p:spPr>
        </p:sp>
        <p:sp>
          <p:nvSpPr>
            <p:cNvPr name="TextBox 18" id="18"/>
            <p:cNvSpPr txBox="true"/>
            <p:nvPr/>
          </p:nvSpPr>
          <p:spPr>
            <a:xfrm>
              <a:off x="0" y="-38100"/>
              <a:ext cx="1466850" cy="383972"/>
            </a:xfrm>
            <a:prstGeom prst="rect">
              <a:avLst/>
            </a:prstGeom>
          </p:spPr>
          <p:txBody>
            <a:bodyPr anchor="ctr" rtlCol="false" tIns="0" lIns="0" bIns="0" rIns="0"/>
            <a:lstStyle/>
            <a:p>
              <a:pPr algn="r">
                <a:lnSpc>
                  <a:spcPts val="1800"/>
                </a:lnSpc>
              </a:pPr>
              <a:r>
                <a:rPr lang="en-US" sz="1500">
                  <a:solidFill>
                    <a:srgbClr val="000000"/>
                  </a:solidFill>
                  <a:latin typeface="Calibri (MS)"/>
                  <a:ea typeface="Calibri (MS)"/>
                  <a:cs typeface="Calibri (MS)"/>
                  <a:sym typeface="Calibri (MS)"/>
                </a:rPr>
                <a:t>‹#›</a:t>
              </a:r>
            </a:p>
          </p:txBody>
        </p:sp>
      </p:grpSp>
      <p:grpSp>
        <p:nvGrpSpPr>
          <p:cNvPr name="Group 19" id="19"/>
          <p:cNvGrpSpPr/>
          <p:nvPr/>
        </p:nvGrpSpPr>
        <p:grpSpPr>
          <a:xfrm rot="0">
            <a:off x="16497300" y="387296"/>
            <a:ext cx="1566958" cy="521018"/>
            <a:chOff x="0" y="0"/>
            <a:chExt cx="2089277" cy="694690"/>
          </a:xfrm>
        </p:grpSpPr>
        <p:sp>
          <p:nvSpPr>
            <p:cNvPr name="Freeform 20" id="20"/>
            <p:cNvSpPr/>
            <p:nvPr/>
          </p:nvSpPr>
          <p:spPr>
            <a:xfrm flipH="false" flipV="false" rot="0">
              <a:off x="0" y="0"/>
              <a:ext cx="2089277" cy="694690"/>
            </a:xfrm>
            <a:custGeom>
              <a:avLst/>
              <a:gdLst/>
              <a:ahLst/>
              <a:cxnLst/>
              <a:rect r="r" b="b" t="t" l="l"/>
              <a:pathLst>
                <a:path h="694690" w="2089277">
                  <a:moveTo>
                    <a:pt x="0" y="0"/>
                  </a:moveTo>
                  <a:lnTo>
                    <a:pt x="2089277" y="0"/>
                  </a:lnTo>
                  <a:lnTo>
                    <a:pt x="2089277" y="694690"/>
                  </a:lnTo>
                  <a:lnTo>
                    <a:pt x="0" y="694690"/>
                  </a:lnTo>
                  <a:lnTo>
                    <a:pt x="0" y="0"/>
                  </a:lnTo>
                  <a:close/>
                </a:path>
              </a:pathLst>
            </a:custGeom>
            <a:blipFill>
              <a:blip r:embed="rId5"/>
              <a:stretch>
                <a:fillRect l="-27" t="0" r="-27" b="0"/>
              </a:stretch>
            </a:blipFill>
          </p:spPr>
        </p:sp>
      </p:grpSp>
      <p:grpSp>
        <p:nvGrpSpPr>
          <p:cNvPr name="Group 21" id="21"/>
          <p:cNvGrpSpPr/>
          <p:nvPr/>
        </p:nvGrpSpPr>
        <p:grpSpPr>
          <a:xfrm rot="0">
            <a:off x="0" y="9535"/>
            <a:ext cx="18288000" cy="10267950"/>
            <a:chOff x="0" y="0"/>
            <a:chExt cx="24384000" cy="13690600"/>
          </a:xfrm>
        </p:grpSpPr>
        <p:sp>
          <p:nvSpPr>
            <p:cNvPr name="Freeform 22" id="22" descr="A close up of a device  Description automatically generated"/>
            <p:cNvSpPr/>
            <p:nvPr/>
          </p:nvSpPr>
          <p:spPr>
            <a:xfrm flipH="false" flipV="false" rot="0">
              <a:off x="0" y="0"/>
              <a:ext cx="24384000" cy="13690600"/>
            </a:xfrm>
            <a:custGeom>
              <a:avLst/>
              <a:gdLst/>
              <a:ahLst/>
              <a:cxnLst/>
              <a:rect r="r" b="b" t="t" l="l"/>
              <a:pathLst>
                <a:path h="13690600" w="24384000">
                  <a:moveTo>
                    <a:pt x="0" y="0"/>
                  </a:moveTo>
                  <a:lnTo>
                    <a:pt x="24384000" y="0"/>
                  </a:lnTo>
                  <a:lnTo>
                    <a:pt x="24384000" y="13690600"/>
                  </a:lnTo>
                  <a:lnTo>
                    <a:pt x="0" y="13690600"/>
                  </a:lnTo>
                  <a:lnTo>
                    <a:pt x="0" y="0"/>
                  </a:lnTo>
                  <a:close/>
                </a:path>
              </a:pathLst>
            </a:custGeom>
            <a:blipFill>
              <a:blip r:embed="rId6"/>
              <a:stretch>
                <a:fillRect l="0" t="-31" r="0" b="-31"/>
              </a:stretch>
            </a:blipFill>
          </p:spPr>
        </p:sp>
      </p:grpSp>
      <p:grpSp>
        <p:nvGrpSpPr>
          <p:cNvPr name="Group 23" id="23"/>
          <p:cNvGrpSpPr/>
          <p:nvPr/>
        </p:nvGrpSpPr>
        <p:grpSpPr>
          <a:xfrm rot="0">
            <a:off x="6677263" y="326155"/>
            <a:ext cx="3966496" cy="1601343"/>
            <a:chOff x="0" y="0"/>
            <a:chExt cx="5288661" cy="2135124"/>
          </a:xfrm>
        </p:grpSpPr>
        <p:sp>
          <p:nvSpPr>
            <p:cNvPr name="Freeform 24" id="24" descr="A close up of a sign  Description automatically generated"/>
            <p:cNvSpPr/>
            <p:nvPr/>
          </p:nvSpPr>
          <p:spPr>
            <a:xfrm flipH="false" flipV="false" rot="0">
              <a:off x="0" y="0"/>
              <a:ext cx="5288661" cy="2135124"/>
            </a:xfrm>
            <a:custGeom>
              <a:avLst/>
              <a:gdLst/>
              <a:ahLst/>
              <a:cxnLst/>
              <a:rect r="r" b="b" t="t" l="l"/>
              <a:pathLst>
                <a:path h="2135124" w="5288661">
                  <a:moveTo>
                    <a:pt x="0" y="0"/>
                  </a:moveTo>
                  <a:lnTo>
                    <a:pt x="5288661" y="0"/>
                  </a:lnTo>
                  <a:lnTo>
                    <a:pt x="5288661" y="2135124"/>
                  </a:lnTo>
                  <a:lnTo>
                    <a:pt x="0" y="2135124"/>
                  </a:lnTo>
                  <a:lnTo>
                    <a:pt x="0" y="0"/>
                  </a:lnTo>
                  <a:close/>
                </a:path>
              </a:pathLst>
            </a:custGeom>
            <a:blipFill>
              <a:blip r:embed="rId7"/>
              <a:stretch>
                <a:fillRect l="-60" t="0" r="-60" b="0"/>
              </a:stretch>
            </a:blipFill>
          </p:spPr>
        </p:sp>
      </p:grpSp>
      <p:sp>
        <p:nvSpPr>
          <p:cNvPr name="TextBox 25" id="25"/>
          <p:cNvSpPr txBox="true"/>
          <p:nvPr/>
        </p:nvSpPr>
        <p:spPr>
          <a:xfrm rot="0">
            <a:off x="6768703" y="2245938"/>
            <a:ext cx="5703903" cy="864841"/>
          </a:xfrm>
          <a:prstGeom prst="rect">
            <a:avLst/>
          </a:prstGeom>
        </p:spPr>
        <p:txBody>
          <a:bodyPr anchor="t" rtlCol="false" tIns="0" lIns="0" bIns="0" rIns="0">
            <a:spAutoFit/>
          </a:bodyPr>
          <a:lstStyle/>
          <a:p>
            <a:pPr algn="l">
              <a:lnSpc>
                <a:spcPts val="5040"/>
              </a:lnSpc>
            </a:pPr>
            <a:r>
              <a:rPr lang="en-US" sz="4200">
                <a:solidFill>
                  <a:srgbClr val="BC1A6F"/>
                </a:solidFill>
                <a:latin typeface="Calibri (MS)"/>
                <a:ea typeface="Calibri (MS)"/>
                <a:cs typeface="Calibri (MS)"/>
                <a:sym typeface="Calibri (MS)"/>
              </a:rPr>
              <a:t>THANK YOU</a:t>
            </a:r>
          </a:p>
        </p:txBody>
      </p:sp>
      <p:sp>
        <p:nvSpPr>
          <p:cNvPr name="TextBox 26" id="26"/>
          <p:cNvSpPr txBox="true"/>
          <p:nvPr/>
        </p:nvSpPr>
        <p:spPr>
          <a:xfrm rot="0">
            <a:off x="6768703" y="6169333"/>
            <a:ext cx="10821591" cy="1942805"/>
          </a:xfrm>
          <a:prstGeom prst="rect">
            <a:avLst/>
          </a:prstGeom>
        </p:spPr>
        <p:txBody>
          <a:bodyPr anchor="t" rtlCol="false" tIns="0" lIns="0" bIns="0" rIns="0">
            <a:spAutoFit/>
          </a:bodyPr>
          <a:lstStyle/>
          <a:p>
            <a:pPr algn="just">
              <a:lnSpc>
                <a:spcPts val="2520"/>
              </a:lnSpc>
            </a:pPr>
            <a:r>
              <a:rPr lang="en-US" sz="2100" b="true">
                <a:solidFill>
                  <a:srgbClr val="5A5A5A"/>
                </a:solidFill>
                <a:latin typeface="Calibri (MS) Bold"/>
                <a:ea typeface="Calibri (MS) Bold"/>
                <a:cs typeface="Calibri (MS) Bold"/>
                <a:sym typeface="Calibri (MS) Bold"/>
              </a:rPr>
              <a:t>Important Confidentiality Notice</a:t>
            </a:r>
          </a:p>
          <a:p>
            <a:pPr algn="just">
              <a:lnSpc>
                <a:spcPts val="1800"/>
              </a:lnSpc>
            </a:pPr>
            <a:r>
              <a:rPr lang="en-US" sz="1500">
                <a:solidFill>
                  <a:srgbClr val="5A5A5A"/>
                </a:solidFill>
                <a:latin typeface="Calibri (MS)"/>
                <a:ea typeface="Calibri (MS)"/>
                <a:cs typeface="Calibri (MS)"/>
                <a:sym typeface="Calibri (MS)"/>
              </a:rPr>
              <a:t>This document is the property of, and is proprietary to Mphasis, and identified as “Confidential”. Those parties to whom it is distributed shall exercise the same degree of custody and care afforded their own such information. It is not to be disclosed, in whole or in part to any third parties, without the express written authorization of Mphasis. It is not to be duplicated or used, in whole or in part, for any purpose other than the evaluation of, and response to, Mphasis’ proposal or bid, or the performance and execution of a contract awarded to Mphasis. This document will be returned to Mphasis upon request.</a:t>
            </a:r>
          </a:p>
          <a:p>
            <a:pPr algn="just">
              <a:lnSpc>
                <a:spcPts val="1800"/>
              </a:lnSpc>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DAHLJVwQj4I</dc:identifier>
  <dcterms:modified xsi:type="dcterms:W3CDTF">2011-08-01T06:04:30Z</dcterms:modified>
  <cp:revision>1</cp:revision>
  <dc:title>13ᵗʰ March, 2026</dc:title>
</cp:coreProperties>
</file>